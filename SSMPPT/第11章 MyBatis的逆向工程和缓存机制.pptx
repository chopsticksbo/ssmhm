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40"/>
  </p:handoutMasterIdLst>
  <p:sldIdLst>
    <p:sldId id="583" r:id="rId4"/>
    <p:sldId id="1124" r:id="rId6"/>
    <p:sldId id="586" r:id="rId7"/>
    <p:sldId id="587" r:id="rId8"/>
    <p:sldId id="309" r:id="rId9"/>
    <p:sldId id="1323" r:id="rId10"/>
    <p:sldId id="899" r:id="rId11"/>
    <p:sldId id="1987" r:id="rId12"/>
    <p:sldId id="2043" r:id="rId13"/>
    <p:sldId id="2044" r:id="rId14"/>
    <p:sldId id="2045" r:id="rId15"/>
    <p:sldId id="2046" r:id="rId16"/>
    <p:sldId id="2047" r:id="rId17"/>
    <p:sldId id="2048" r:id="rId18"/>
    <p:sldId id="1988" r:id="rId19"/>
    <p:sldId id="1989" r:id="rId20"/>
    <p:sldId id="1990" r:id="rId21"/>
    <p:sldId id="2049" r:id="rId22"/>
    <p:sldId id="2050" r:id="rId23"/>
    <p:sldId id="2051" r:id="rId24"/>
    <p:sldId id="2052" r:id="rId25"/>
    <p:sldId id="2053" r:id="rId26"/>
    <p:sldId id="2055" r:id="rId27"/>
    <p:sldId id="2056" r:id="rId28"/>
    <p:sldId id="2057" r:id="rId29"/>
    <p:sldId id="2058" r:id="rId30"/>
    <p:sldId id="2059" r:id="rId31"/>
    <p:sldId id="2061" r:id="rId32"/>
    <p:sldId id="2054" r:id="rId33"/>
    <p:sldId id="1991" r:id="rId34"/>
    <p:sldId id="2062" r:id="rId35"/>
    <p:sldId id="2063" r:id="rId36"/>
    <p:sldId id="2064" r:id="rId37"/>
    <p:sldId id="889" r:id="rId38"/>
    <p:sldId id="617" r:id="rId39"/>
  </p:sldIdLst>
  <p:sldSz cx="12190095" cy="6859270"/>
  <p:notesSz cx="6858000" cy="9144000"/>
  <p:custDataLst>
    <p:tags r:id="rId45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1890" userDrawn="1">
          <p15:clr>
            <a:srgbClr val="A4A3A4"/>
          </p15:clr>
        </p15:guide>
        <p15:guide id="3" pos="70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  <p:cmAuthor id="4" name="tk" initials="t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orient="horz" pos="1049"/>
        <p:guide pos="1890"/>
        <p:guide pos="70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952"/>
        <p:guide pos="22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tags" Target="tags/tag166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3.png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hyperlink" Target="http://stu.ityxb.com/ebookview/18180e2e3b262484bae26bede0837f31" TargetMode="External"/><Relationship Id="rId7" Type="http://schemas.openxmlformats.org/officeDocument/2006/relationships/tags" Target="../tags/tag23.xml"/><Relationship Id="rId6" Type="http://schemas.openxmlformats.org/officeDocument/2006/relationships/image" Target="../media/image4.png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hyperlink" Target="http://stu.ityxb.com/ebookview/ee4bc472e513042f4d91c141116b5927" TargetMode="External"/><Relationship Id="rId7" Type="http://schemas.openxmlformats.org/officeDocument/2006/relationships/tags" Target="../tags/tag32.xml"/><Relationship Id="rId6" Type="http://schemas.openxmlformats.org/officeDocument/2006/relationships/image" Target="../media/image4.png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image" Target="../media/image3.png"/><Relationship Id="rId1" Type="http://schemas.openxmlformats.org/officeDocument/2006/relationships/tags" Target="../tags/tag5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hyperlink" Target="http://stu.ityxb.com/ebookview/dfab90466c12213dac360b0b3ce72327" TargetMode="External"/><Relationship Id="rId7" Type="http://schemas.openxmlformats.org/officeDocument/2006/relationships/tags" Target="../tags/tag62.xml"/><Relationship Id="rId6" Type="http://schemas.openxmlformats.org/officeDocument/2006/relationships/image" Target="../media/image4.png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66.xml"/><Relationship Id="rId12" Type="http://schemas.openxmlformats.org/officeDocument/2006/relationships/image" Target="../media/image5.png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hyperlink" Target="http://stu.ityxb.com/ebookview/2a9968d737deecf626b798bf22302899" TargetMode="External"/><Relationship Id="rId7" Type="http://schemas.openxmlformats.org/officeDocument/2006/relationships/tags" Target="../tags/tag72.xml"/><Relationship Id="rId6" Type="http://schemas.openxmlformats.org/officeDocument/2006/relationships/image" Target="../media/image4.png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4" Type="http://schemas.openxmlformats.org/officeDocument/2006/relationships/notesSlide" Target="../notesSlides/notesSlide17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image" Target="../media/image3.png"/><Relationship Id="rId1" Type="http://schemas.openxmlformats.org/officeDocument/2006/relationships/tags" Target="../tags/tag9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5" Type="http://schemas.openxmlformats.org/officeDocument/2006/relationships/notesSlide" Target="../notesSlides/notesSlide24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tags" Target="../tags/tag101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2" Type="http://schemas.openxmlformats.org/officeDocument/2006/relationships/notesSlide" Target="../notesSlides/notesSlide29.xml"/><Relationship Id="rId11" Type="http://schemas.openxmlformats.org/officeDocument/2006/relationships/slideLayout" Target="../slideLayouts/slideLayout10.xml"/><Relationship Id="rId10" Type="http://schemas.openxmlformats.org/officeDocument/2006/relationships/tags" Target="../tags/tag137.xml"/><Relationship Id="rId1" Type="http://schemas.openxmlformats.org/officeDocument/2006/relationships/tags" Target="../tags/tag128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hyperlink" Target="http://stu.ityxb.com/ebookview/3de049243d7583b3e5d7fb4bd4eb465b" TargetMode="External"/><Relationship Id="rId7" Type="http://schemas.openxmlformats.org/officeDocument/2006/relationships/tags" Target="../tags/tag143.xml"/><Relationship Id="rId6" Type="http://schemas.openxmlformats.org/officeDocument/2006/relationships/image" Target="../media/image4.png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4" Type="http://schemas.openxmlformats.org/officeDocument/2006/relationships/notesSlide" Target="../notesSlides/notesSlide30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tags" Target="../tags/tag13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hyperlink" Target="http://stu.ityxb.com/ebookview/9a04fd3aae941a28fd6b1a1f99501518" TargetMode="External"/><Relationship Id="rId7" Type="http://schemas.openxmlformats.org/officeDocument/2006/relationships/tags" Target="../tags/tag157.xml"/><Relationship Id="rId6" Type="http://schemas.openxmlformats.org/officeDocument/2006/relationships/image" Target="../media/image4.png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4" Type="http://schemas.openxmlformats.org/officeDocument/2006/relationships/notesSlide" Target="../notesSlides/notesSlide32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251710" y="2247265"/>
            <a:ext cx="80289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第11章 MyBatis的逆向工程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和缓存机制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03300" y="3935095"/>
            <a:ext cx="105194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 EE企业级应用开发教程（Spring+Spring MVC+MyBatis）（第3版）》</a:t>
            </a:r>
            <a:endParaRPr sz="2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644513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7655" y="4502785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掌握MyBatis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二级缓存机制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，能够在程序中实现二级缓存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3395345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掌握MyBatis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一级缓存机制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，并通过程序演示一级缓存的效果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2289175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了解MyBatis的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逆向工程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，能够根据MyBatis官方提供的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generatorConfig.xml配置文件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在IDEA中实现逆向工程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735" y="2394585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作为一款优秀的持久层框架，不仅在数据映射和SQL管理方面表现出色，其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逆向工程和缓存机制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更是为开发者提供了极大的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便利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逆向工程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允许开发者根据数据库表结构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自动生成对应的实体类及映射文件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，极大地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了手动编写烦琐的映射代码的过程，提高了开发效率。MyBatis的缓存机制则通过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一级缓存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二级缓存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的完美结合，有效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减少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数据库访问次数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，提升了系统性能。本章将对MyBatis的逆向工程和缓存机制进行讲解。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427335" cy="272732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1135360" y="45154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729760"/>
            <a:ext cx="1120435" cy="612775"/>
            <a:chOff x="2215144" y="982844"/>
            <a:chExt cx="1169813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18158" y="1005670"/>
              <a:ext cx="1066799" cy="717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11.1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998849"/>
            <a:ext cx="1120435" cy="612775"/>
            <a:chOff x="2215144" y="2026500"/>
            <a:chExt cx="1169813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18158" y="2026500"/>
              <a:ext cx="1066799" cy="724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11.2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720881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MyBatis的逆向工程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982023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MyBatis的缓存机制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MyBatis的逆向工程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11.1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MyBatis的逆向工程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695315" y="2781935"/>
            <a:ext cx="6058535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了解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MyBatis的逆向工程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，能够根据MyBatis官方提供的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generatorConfig.xml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配置文件在IDEA中实现逆向工程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MyBatis的逆向工程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461770"/>
            <a:ext cx="10335895" cy="381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逆向工程工具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，基于这个工具可以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根据现有的数据库表结构自动生成与之对应的Java代码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，这种从数据库表结构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反向生成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对应的Java实体类、Mapper接口、XML映射文件的工程化实现通常称为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逆向工程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 Generator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是MyBatis逆向工程的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核心工具之一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，它可以根据指定的数据库连接信息和生成规则实现MyBatis逆向工程。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运行MyBatis Generator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多种方式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，包括但不限于基于命令行、Maven插件、Java代码等。其中，在Maven构建脚本中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集成MyBatis Generator插件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相对比较方便和灵活，可以在构建过程中自动运行MyBatis Generator，从而自动生成所需的MyBatis相关代码。下面基于这种方式演示MyBatis逆向工程的实现。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MyBatis的逆向工程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98005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1.创建项目和定义配置文件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一个名称为chapter11的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Maven项目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，在项目的pom.xml中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引入MyBatis Generator的Maven插件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，为了后续便于测试，同时引入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MyBatis、MySQL连接、单元测试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的相关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依赖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，具体如文件11-1所示。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文件11-1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pom.xml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MyBatis的逆向工程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106170"/>
            <a:ext cx="298005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1.创建项目和定义配置文件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在src/main/resources目录下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创建配置文件generatorConfig.xml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，在该配置文件中指定数据库连接信息、生成代码的目标目录、要处理的数据库表以及生成代码的具体配置等，具体如文件11-2所示。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69488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0376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文件11-2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generatorConfig.xml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MyBatis的逆向工程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106170"/>
            <a:ext cx="298005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559308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在IDEA右侧单击Maven的图标，会弹出Maven的操作界面，在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Maven操作界面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的Plugins下拉选项中找到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mybatis-generator插件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，具体如图所示。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63155" y="1034098"/>
            <a:ext cx="3990975" cy="54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MyBatis的逆向工程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106170"/>
            <a:ext cx="298005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559308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双击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mybatis-generator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mybatis-generator:generate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运行MyBatis Generator，运行完成后chapter11的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项目结构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如图所示。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751762" y="981075"/>
            <a:ext cx="3568960" cy="53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MyBatis的缓存机制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11.2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MyBatis的缓存机制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964055"/>
            <a:ext cx="10335895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MyBatis的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缓存机制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指的是该框架通过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内置的缓存系统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相同查询请求的结果缓存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在内存中，以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避免重复查询数据库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提高系统性能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的一种机制。当应用程序执行查询时，MyBatis首先检查是否存在缓存的结果，如果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，则直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接返回缓存结果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，否则再向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数据库发起查询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将结果缓存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起来。这样，在后续相同的查询请求中，就可以直接从缓存中获取结果，而不必再次访问数据库，从而减少了数据库的负载和提高了系统的响应速度。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为了在不同的场景下提供更灵活的缓存策略，MyBatis提供了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一级缓存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二级缓存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，下面将分别对MyBatis缓存机制中的这两类缓存进行讲解。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1031240" y="1736090"/>
            <a:ext cx="10427335" cy="369316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167640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501777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一级缓存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MyBatis一级缓存机制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，并通过程序演示一级缓存的效果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54735" y="1246505"/>
            <a:ext cx="10335895" cy="381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MyBatis的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一级缓存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SqlSession级别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上进行管理的。它为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每个SqlSession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私有的缓存区域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。当同一个SqlSession对象多次执行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完全相同的SQL语句时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，第一次执行完成后，MyBatis会将查询结果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写入一级缓存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中。在接下来的查询中，如果程序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没有执行插入、更新或删除操作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没有清除缓存的操作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，那么MyBatis将会直接从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一级缓存中获取数据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，而无需再次查询数据库，从而提高了查询效率。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由于MyBatis的一级缓存是与SqlSession相关联的，如果在一个SqlSession中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执行了插入、更新、删除操作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，或者在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SqlSession关闭时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，MyBatis会将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一级缓存中的数据清除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，以确保后续查询能够获取到最新的数据。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203898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1.创建核心配置文件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60096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在项目的src/main/resources目录下创建一个名称为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mybatis-config.xml的文件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作为MyBatis的核心配置文件，在mybatis-config.xml配置文件中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配置日志记录实现、数据库连接信息、映射器的相关信息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，如文件11-3所示。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文件11-3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mybatis-config.xml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977265" y="100584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MyBatis的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一级缓存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默认开启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的，无需进行任何显式配置。下面基于11.1节中逆向工程生成的代码演示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一级缓存的效果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。</a:t>
            </a:r>
            <a:endParaRPr lang="zh-CN" altLang="it-IT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2.创建测试类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在项目的src/test/java目录下创建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测试类CacheTest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测试方法L1CacheTest()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，在测试方法中通过SqlSession对象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获取BookMapper对象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，并使用BookMapper对象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连续两次调用其selectByPrimaryKey()方法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查询图书信息，其中查询图书信息的id一样，具体如文件11-4所示。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0786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1674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文件11-4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CacheTest.java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文件11-4中的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L1CacheTest()方法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9515" y="2709228"/>
            <a:ext cx="9261224" cy="3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查询图书信息后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，执行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删除图书信息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，接着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再查询图书信息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，测试这种情况的效果。在文件11-4的第37~38行中间添加删除图书信息的代码，具体如下。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967740" y="3267075"/>
            <a:ext cx="10191750" cy="1468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489710" y="3299460"/>
            <a:ext cx="9897745" cy="137668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//删除图书信息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mapper.deleteByPrimaryKey(6);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session.commit();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执行L1CacheTest()方法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3635" y="2637473"/>
            <a:ext cx="7266891" cy="39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MyBatis二级缓存机制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，能够在程序中实现二级缓存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54735" y="1246505"/>
            <a:ext cx="1033589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默认情况下，MyBatis中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每个SqlSession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都会拥有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独立的一级缓存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，即使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执行相同的查询语句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不同的SqlSession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不会共享缓存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。这就导致了在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不同的 SqlSession 中执行相同的查询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时，可能都会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向数据库发送查询请求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，降低了查询效率。对此，如果想要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多个SqlSession之间共享查询结果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，减少对数据库的重复查询可以使用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MyBatis的二级缓存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54735" y="1246505"/>
            <a:ext cx="10335895" cy="381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MyBatis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二级缓存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SqlSessionFactory级别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的缓存，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同一SqlSessionFactory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创建的 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SqlSession之间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缓存是共享的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MyBatis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基于映射器的命名空间来区分不同的二级缓存，每个命名空间下的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查询结果会被独立缓存，互不影响。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多个SqlSession对象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同一个Mapper的相同查询语句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去操作数据库，在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第一个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SqlSession对象执行完后，MyBatis会将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查询结果写入二级缓存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，此后，如果程序没有执行插入、更新、删除操作，当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第二个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SqlSession对象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执行相同的查询语句时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，MyBatis会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直接读取二级缓存中的数据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。这样的设计可以让不同的业务模块拥有各自的缓存区域，避免数据交叉污染。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3" name="直接连接符 41"/>
          <p:cNvCxnSpPr/>
          <p:nvPr>
            <p:custDataLst>
              <p:tags r:id="rId2"/>
            </p:custDataLst>
          </p:nvPr>
        </p:nvCxnSpPr>
        <p:spPr>
          <a:xfrm flipH="1">
            <a:off x="3689671" y="264106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直接连接符 43"/>
          <p:cNvCxnSpPr/>
          <p:nvPr>
            <p:custDataLst>
              <p:tags r:id="rId3"/>
            </p:custDataLst>
          </p:nvPr>
        </p:nvCxnSpPr>
        <p:spPr>
          <a:xfrm flipH="1">
            <a:off x="3689671" y="4659819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直接连接符 44"/>
          <p:cNvCxnSpPr/>
          <p:nvPr>
            <p:custDataLst>
              <p:tags r:id="rId4"/>
            </p:custDataLst>
          </p:nvPr>
        </p:nvCxnSpPr>
        <p:spPr>
          <a:xfrm>
            <a:off x="3689671" y="2641064"/>
            <a:ext cx="0" cy="202565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4883204" y="210938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4883204" y="408628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4975178" y="220135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>
            <p:custDataLst>
              <p:tags r:id="rId8"/>
            </p:custDataLst>
          </p:nvPr>
        </p:nvSpPr>
        <p:spPr>
          <a:xfrm>
            <a:off x="4965816" y="4197920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175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5190486" y="4324775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68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5160852" y="2333089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9"/>
          <p:cNvSpPr txBox="1"/>
          <p:nvPr>
            <p:custDataLst>
              <p:tags r:id="rId11"/>
            </p:custDataLst>
          </p:nvPr>
        </p:nvSpPr>
        <p:spPr>
          <a:xfrm>
            <a:off x="6302375" y="2560320"/>
            <a:ext cx="2933065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开启二级缓存的全局配置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9"/>
          <p:cNvSpPr txBox="1"/>
          <p:nvPr>
            <p:custDataLst>
              <p:tags r:id="rId12"/>
            </p:custDataLst>
          </p:nvPr>
        </p:nvSpPr>
        <p:spPr>
          <a:xfrm>
            <a:off x="6325235" y="4493260"/>
            <a:ext cx="524764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开启当前Mapper的命名空间下的二级缓存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9"/>
          <p:cNvSpPr txBox="1"/>
          <p:nvPr>
            <p:custDataLst>
              <p:tags r:id="rId13"/>
            </p:custDataLst>
          </p:nvPr>
        </p:nvSpPr>
        <p:spPr>
          <a:xfrm>
            <a:off x="1031875" y="3303905"/>
            <a:ext cx="2356485" cy="8718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开启二级缓存要完成的步骤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使用二级缓存前，需要在MyBatis的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核心配置mybatis-config.xml文件中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&lt;settings&gt;标签开启二级缓存的全局配置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9"/>
          <p:cNvSpPr txBox="1"/>
          <p:nvPr>
            <p:custDataLst>
              <p:tags r:id="rId3"/>
            </p:custDataLst>
          </p:nvPr>
        </p:nvSpPr>
        <p:spPr>
          <a:xfrm>
            <a:off x="1064260" y="1340485"/>
            <a:ext cx="319405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开启二级缓存的全局配置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967740" y="2980055"/>
            <a:ext cx="10579735" cy="1835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988695" y="3012440"/>
            <a:ext cx="11294110" cy="177355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&lt;!— 开启二级缓存--&gt;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&lt;settings&gt;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&lt;setting name="cacheEnabled" value="true" /&gt;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&lt;/settings&gt;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开启当前Mapper的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命名空间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下的二级缓存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，可以通过MyBatis映射文件中的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&lt;cache&gt;标签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来完成，在&lt;mapper&gt;标签下添加如下代码。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9"/>
          <p:cNvSpPr txBox="1"/>
          <p:nvPr>
            <p:custDataLst>
              <p:tags r:id="rId3"/>
            </p:custDataLst>
          </p:nvPr>
        </p:nvSpPr>
        <p:spPr>
          <a:xfrm>
            <a:off x="1064260" y="1340485"/>
            <a:ext cx="5545455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2.开启当前Mapper的</a:t>
            </a:r>
            <a:r>
              <a:rPr 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命名空间</a:t>
            </a:r>
            <a:r>
              <a:rPr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下的二级缓存</a:t>
            </a:r>
            <a:endParaRPr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967740" y="2980055"/>
            <a:ext cx="10579735" cy="1059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988695" y="3012440"/>
            <a:ext cx="11294110" cy="12166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&lt;!— 开启当前Mapper的</a:t>
            </a:r>
            <a:r>
              <a:rPr lang="zh-CN" sz="1800">
                <a:latin typeface="Courier New" panose="02070309020205020404" pitchFamily="49" charset="0"/>
                <a:sym typeface="+mn-ea"/>
              </a:rPr>
              <a:t>命名空间</a:t>
            </a:r>
            <a:r>
              <a:rPr sz="1800">
                <a:latin typeface="Courier New" panose="02070309020205020404" pitchFamily="49" charset="0"/>
                <a:sym typeface="+mn-ea"/>
              </a:rPr>
              <a:t>下的二级缓存--&gt;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&lt;cache&gt;&lt;/cache&gt;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654550" y="1099185"/>
            <a:ext cx="243141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&lt;cache&gt;标签的属性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062672" y="1743710"/>
          <a:ext cx="10052050" cy="3792220"/>
        </p:xfrm>
        <a:graphic>
          <a:graphicData uri="http://schemas.openxmlformats.org/drawingml/2006/table">
            <a:tbl>
              <a:tblPr/>
              <a:tblGrid>
                <a:gridCol w="1964055"/>
                <a:gridCol w="8087995"/>
              </a:tblGrid>
              <a:tr h="5003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属性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type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用于指定缓存实现类的全限定类名，可以自定义缓存实现类，不指定时使用MyBatis的默认缓存实现类org.apache.ibatis.cache.impl.PerpetualCache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258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eviction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指定缓存的淘汰策略，即当缓存容量达到一定阈值时，如何决定移除哪些缓存项。该属性有如下可选值。LRU：最近最少使用的策略，移除最长时间不被使用的对象。FIFO：先进先出策略，按对象进入缓存的顺序来移除它们。SOFT：软引用策略，移除基于垃圾回收器状态和软引用规则的对象WEAK：弱引用策略，更积极地移除基于垃圾收集器状态和弱引用规则的对象。NONE：无淘汰策略，缓存大小无限制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062672" y="1743710"/>
          <a:ext cx="10052050" cy="4918075"/>
        </p:xfrm>
        <a:graphic>
          <a:graphicData uri="http://schemas.openxmlformats.org/drawingml/2006/table">
            <a:tbl>
              <a:tblPr/>
              <a:tblGrid>
                <a:gridCol w="1964055"/>
                <a:gridCol w="8087995"/>
              </a:tblGrid>
              <a:tr h="5003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属性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flushInterval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用于指定缓存的刷新间隔（单位：毫秒）。当达到指定的时间间隔后，MyBatis会清空整个缓存，触发新的查询请求时会重新加载数据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258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size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用于指定缓存的最大容量（单位：条目数量）。当缓存项数量达到指定阈值时，根据 eviction 属性指定的策略淘汰旧的缓存项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258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readOnly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用于指定缓存是否为只读。该属性可以被设置为true或者false。当缓存设置为只读时，缓存对象不能被修改，但此时缓存性能较高。当缓存设置为可读写时，性能较低，但安全性高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203898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</a:t>
              </a:r>
              <a:r>
                <a:rPr lang="zh-CN"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开启</a:t>
              </a:r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二级缓存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60096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在文件11-3的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mybatis-config.xml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&lt;settings&gt;标签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添加开启二级缓存的全局配置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977265" y="114935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接下来通过案例演示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MyBatis二级缓存的应用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，该案例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根据id查询图书信息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967740" y="3267075"/>
            <a:ext cx="10579735" cy="633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988695" y="3299460"/>
            <a:ext cx="11294110" cy="56832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&lt;setting name="cacheEnabled" value="true" /&gt;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977265" y="416306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BookMapper.xml映射文件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&lt;mapper&gt;标签中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开启当前Mapper的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二级缓存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951230" y="4757420"/>
            <a:ext cx="10579735" cy="690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972185" y="4861560"/>
            <a:ext cx="11294110" cy="12166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&lt;cache&gt;&lt;/cache&gt;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2.定义测试方法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在文件11-4的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CacheTest类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测试方法L2CacheTest()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创建2个SqlSession对象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，使用这两个对象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获取不同的BookMapper对象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，并基于BookMapper对象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查询相同id的图书信息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0786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1674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8"/>
                  </a:rPr>
                  <a:t>L2CacheTest()</a:t>
                </a:r>
                <a:r>
                  <a:rPr lang="zh-CN" sz="1800">
                    <a:sym typeface="+mn-ea"/>
                    <a:hlinkClick r:id="rId8"/>
                  </a:rPr>
                  <a:t>方法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运行L2CacheTest()方法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8880" y="2565083"/>
            <a:ext cx="7534689" cy="40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查询过程中执行了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删除操作后的查询效果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修改L2CacheTest()方法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创建3个SqlSession对象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，基于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第一个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SqlSession对象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查找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图书id为1的图书，接着基于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第二个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SqlSession对象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删除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图书id为5的图书；最后基于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第3个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SqlSession对象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查找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图书id为1的图书，代码具体如下。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0786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1674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17477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8"/>
                  </a:rPr>
                  <a:t>修改</a:t>
                </a:r>
                <a:r>
                  <a:rPr lang="zh-CN" sz="1800">
                    <a:sym typeface="+mn-ea"/>
                    <a:hlinkClick r:id="rId8"/>
                  </a:rPr>
                  <a:t>后的</a:t>
                </a:r>
                <a:r>
                  <a:rPr sz="1800">
                    <a:sym typeface="+mn-ea"/>
                    <a:hlinkClick r:id="rId8"/>
                  </a:rPr>
                  <a:t>L2CacheTest()方法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二级缓存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运行L2CacheTest()方法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39510" y="981075"/>
            <a:ext cx="4978800" cy="56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2908355"/>
            <a:ext cx="9793605" cy="136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MyBatis的逆向工程和缓存机制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，首先对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MyBatis的逆向工程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进行了讲解，然后对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MyBatis的缓存机制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进行了讲解，包括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一级缓存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二级缓存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。通过本章的学习，读者可以掌握MyBatis的逆向工程和缓存机制，为MyBatis的开发奠定基础。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UNIT_TABLE_BEAUTIFY" val="smartTable{2a19f746-1896-45a6-a38f-3b8450c30510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UNIT_TABLE_BEAUTIFY" val="smartTable{2a19f746-1896-45a6-a38f-3b8450c30510}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5228</Words>
  <Application>WPS 演示</Application>
  <PresentationFormat>自定义</PresentationFormat>
  <Paragraphs>289</Paragraphs>
  <Slides>35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6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Segoe Print</vt:lpstr>
      <vt:lpstr>Roboto</vt:lpstr>
      <vt:lpstr>Open Sans Light</vt:lpstr>
      <vt:lpstr>Open Sans</vt:lpstr>
      <vt:lpstr>思源黑体 CN Normal</vt:lpstr>
      <vt:lpstr>Courier New</vt:lpstr>
      <vt:lpstr>Arial Unicode MS</vt:lpstr>
      <vt:lpstr>Times New Roman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tk</cp:lastModifiedBy>
  <cp:revision>1835</cp:revision>
  <dcterms:created xsi:type="dcterms:W3CDTF">2020-11-11T09:29:00Z</dcterms:created>
  <dcterms:modified xsi:type="dcterms:W3CDTF">2025-08-18T03:57:45Z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69DB4B6826B6494390E926BE37E6C64D</vt:lpwstr>
  </property>
</Properties>
</file>