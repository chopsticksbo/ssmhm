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43"/>
  </p:handoutMasterIdLst>
  <p:sldIdLst>
    <p:sldId id="583" r:id="rId4"/>
    <p:sldId id="1123" r:id="rId6"/>
    <p:sldId id="1124" r:id="rId7"/>
    <p:sldId id="1122" r:id="rId8"/>
    <p:sldId id="584" r:id="rId9"/>
    <p:sldId id="586" r:id="rId10"/>
    <p:sldId id="587" r:id="rId11"/>
    <p:sldId id="309" r:id="rId12"/>
    <p:sldId id="899" r:id="rId13"/>
    <p:sldId id="776" r:id="rId14"/>
    <p:sldId id="995" r:id="rId15"/>
    <p:sldId id="1096" r:id="rId16"/>
    <p:sldId id="1097" r:id="rId17"/>
    <p:sldId id="1098" r:id="rId18"/>
    <p:sldId id="1099" r:id="rId19"/>
    <p:sldId id="1100" r:id="rId20"/>
    <p:sldId id="1101" r:id="rId21"/>
    <p:sldId id="1102" r:id="rId22"/>
    <p:sldId id="996" r:id="rId23"/>
    <p:sldId id="997" r:id="rId24"/>
    <p:sldId id="998" r:id="rId25"/>
    <p:sldId id="1103" r:id="rId26"/>
    <p:sldId id="999" r:id="rId27"/>
    <p:sldId id="1104" r:id="rId28"/>
    <p:sldId id="1106" r:id="rId29"/>
    <p:sldId id="1107" r:id="rId30"/>
    <p:sldId id="1108" r:id="rId31"/>
    <p:sldId id="1001" r:id="rId32"/>
    <p:sldId id="1111" r:id="rId33"/>
    <p:sldId id="1112" r:id="rId34"/>
    <p:sldId id="1113" r:id="rId35"/>
    <p:sldId id="1114" r:id="rId36"/>
    <p:sldId id="1116" r:id="rId37"/>
    <p:sldId id="1117" r:id="rId38"/>
    <p:sldId id="1118" r:id="rId39"/>
    <p:sldId id="1120" r:id="rId40"/>
    <p:sldId id="1121" r:id="rId41"/>
    <p:sldId id="889" r:id="rId42"/>
  </p:sldIdLst>
  <p:sldSz cx="12190095" cy="6859270"/>
  <p:notesSz cx="6858000" cy="9144000"/>
  <p:custDataLst>
    <p:tags r:id="rId48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0" userDrawn="1">
          <p15:clr>
            <a:srgbClr val="A4A3A4"/>
          </p15:clr>
        </p15:guide>
        <p15:guide id="2" pos="626" userDrawn="1">
          <p15:clr>
            <a:srgbClr val="A4A3A4"/>
          </p15:clr>
        </p15:guide>
        <p15:guide id="3" pos="70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1070"/>
        <p:guide pos="626"/>
        <p:guide pos="70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705"/>
        <p:guide pos="21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8" Type="http://schemas.openxmlformats.org/officeDocument/2006/relationships/tags" Target="tags/tag234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1.png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image" Target="../media/image1.png"/><Relationship Id="rId1" Type="http://schemas.openxmlformats.org/officeDocument/2006/relationships/tags" Target="../tags/tag5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2" Type="http://schemas.openxmlformats.org/officeDocument/2006/relationships/notesSlide" Target="../notesSlides/notesSlide20.xml"/><Relationship Id="rId21" Type="http://schemas.openxmlformats.org/officeDocument/2006/relationships/slideLayout" Target="../slideLayouts/slideLayout10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image" Target="../media/image1.png"/><Relationship Id="rId1" Type="http://schemas.openxmlformats.org/officeDocument/2006/relationships/tags" Target="../tags/tag8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1" Type="http://schemas.openxmlformats.org/officeDocument/2006/relationships/tags" Target="../tags/tag9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0" Type="http://schemas.openxmlformats.org/officeDocument/2006/relationships/notesSlide" Target="../notesSlides/notesSlide24.xml"/><Relationship Id="rId2" Type="http://schemas.openxmlformats.org/officeDocument/2006/relationships/tags" Target="../tags/tag93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4" Type="http://schemas.openxmlformats.org/officeDocument/2006/relationships/notesSlide" Target="../notesSlides/notesSlide25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0" Type="http://schemas.openxmlformats.org/officeDocument/2006/relationships/notesSlide" Target="../notesSlides/notesSlide26.xml"/><Relationship Id="rId2" Type="http://schemas.openxmlformats.org/officeDocument/2006/relationships/tags" Target="../tags/tag133.xml"/><Relationship Id="rId19" Type="http://schemas.openxmlformats.org/officeDocument/2006/relationships/slideLayout" Target="../slideLayouts/slideLayout10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4" Type="http://schemas.openxmlformats.org/officeDocument/2006/relationships/notesSlide" Target="../notesSlides/notesSlide27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171.xml"/><Relationship Id="rId21" Type="http://schemas.openxmlformats.org/officeDocument/2006/relationships/tags" Target="../tags/tag170.xml"/><Relationship Id="rId20" Type="http://schemas.openxmlformats.org/officeDocument/2006/relationships/tags" Target="../tags/tag169.xml"/><Relationship Id="rId2" Type="http://schemas.openxmlformats.org/officeDocument/2006/relationships/tags" Target="../tags/tag151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image" Target="../media/image1.png"/><Relationship Id="rId1" Type="http://schemas.openxmlformats.org/officeDocument/2006/relationships/tags" Target="../tags/tag188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hyperlink" Target="http://stu.ityxb.com/ebookview/fee7864480b5b69e8e55024ff32cd276" TargetMode="External"/><Relationship Id="rId5" Type="http://schemas.openxmlformats.org/officeDocument/2006/relationships/tags" Target="../tags/tag196.xml"/><Relationship Id="rId4" Type="http://schemas.openxmlformats.org/officeDocument/2006/relationships/image" Target="../media/image3.png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5" Type="http://schemas.openxmlformats.org/officeDocument/2006/relationships/notesSlide" Target="../notesSlides/notesSlide33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tags" Target="../tags/tag193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hyperlink" Target="http://stu.ityxb.com/ebookview/e37c0bed873867183ad9932b88e6eea5" TargetMode="External"/><Relationship Id="rId6" Type="http://schemas.openxmlformats.org/officeDocument/2006/relationships/hyperlink" Target="http://stu.ityxb.com/ebookview/61e30673a7dbd1c0706a2a27c6fcab72" TargetMode="External"/><Relationship Id="rId5" Type="http://schemas.openxmlformats.org/officeDocument/2006/relationships/tags" Target="../tags/tag205.xml"/><Relationship Id="rId4" Type="http://schemas.openxmlformats.org/officeDocument/2006/relationships/image" Target="../media/image3.png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6" Type="http://schemas.openxmlformats.org/officeDocument/2006/relationships/notesSlide" Target="../notesSlides/notesSlide34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208.xml"/><Relationship Id="rId1" Type="http://schemas.openxmlformats.org/officeDocument/2006/relationships/tags" Target="../tags/tag202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hyperlink" Target="http://stu.ityxb.com/ebookview/b4b0e1da7bd44655a6b95275efd80a08" TargetMode="External"/><Relationship Id="rId5" Type="http://schemas.openxmlformats.org/officeDocument/2006/relationships/tags" Target="../tags/tag214.xml"/><Relationship Id="rId4" Type="http://schemas.openxmlformats.org/officeDocument/2006/relationships/image" Target="../media/image3.png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5" Type="http://schemas.openxmlformats.org/officeDocument/2006/relationships/notesSlide" Target="../notesSlides/notesSlide35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tags" Target="../tags/tag21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hyperlink" Target="http://stu.ityxb.com/ebookview/74afb925af3d3993c0c7f21b7cd9116e" TargetMode="External"/><Relationship Id="rId5" Type="http://schemas.openxmlformats.org/officeDocument/2006/relationships/tags" Target="../tags/tag223.xml"/><Relationship Id="rId4" Type="http://schemas.openxmlformats.org/officeDocument/2006/relationships/image" Target="../media/image3.png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5" Type="http://schemas.openxmlformats.org/officeDocument/2006/relationships/notesSlide" Target="../notesSlides/notesSlide36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tags" Target="../tags/tag22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247477"/>
            <a:ext cx="7406544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0</a:t>
            </a:r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</a:t>
            </a:r>
            <a:r>
              <a:rPr lang="zh-CN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课前知识准备与本书知识</a:t>
            </a:r>
            <a:r>
              <a:rPr lang="zh-CN"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概览</a:t>
            </a:r>
            <a:endParaRPr lang="zh-CN"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9375" y="3968750"/>
            <a:ext cx="4063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许翔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知识基础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8925" y="184785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1.Java SE（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标准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语法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,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包括面向对象编程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）</a:t>
              </a:r>
              <a:endPara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96481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2.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数据库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（MySQL，Oracle，SQLServer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等数据库基本语法及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JDBC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编程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）</a:t>
              </a:r>
              <a:endPara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408305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3.Java Web（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前端基础语法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；Servlet、Jsp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技术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；Tomcat、Maven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工具安装配置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）</a:t>
              </a:r>
              <a:endPara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本书知识</a:t>
            </a: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概览</a:t>
            </a:r>
            <a:endParaRPr lang="zh-CN" altLang="en-US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11935" y="2421255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1.Spring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框架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重点知识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：IOC/DI：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控制反转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依赖注入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、Bean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生命周期和作用域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AOP：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面向切面编程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动态代理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事务管理</a:t>
              </a:r>
              <a:r>
                <a:rPr lang="en-US" altLang="zh-CN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10665" y="3538220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2.Spring MVC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框架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（Web 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框架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）。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数据绑定与响应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注解开发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参数绑定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拦截器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全局异常处理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10665" y="4656455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3.MyBatis/MyBatis-Plus。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配置方法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、SQL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映射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动态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SQL、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MyBatis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注解开发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缓存机制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常用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CRUD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封装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510665" y="1809115"/>
            <a:ext cx="6355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EE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企业级应用开发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课程学什么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20190" y="5661660"/>
            <a:ext cx="9006205" cy="685800"/>
            <a:chOff x="978872" y="2570437"/>
            <a:chExt cx="5437064" cy="514351"/>
          </a:xfrm>
        </p:grpSpPr>
        <p:sp>
          <p:nvSpPr>
            <p:cNvPr id="4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4.Spring Boot。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整合前三个框架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迅速搭建项目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第1章 初识Spring框架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8925" y="184785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框架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的相关概念</a:t>
              </a:r>
              <a:endPara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96481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Spring框架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的概念，能够简述Spring框架的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优点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408305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Spring框架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体系结构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核心概念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框架的体系结构中各模块的作用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77975" y="5231130"/>
            <a:ext cx="9006205" cy="685800"/>
            <a:chOff x="978872" y="2570437"/>
            <a:chExt cx="5437064" cy="514351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Spring入门程序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，能够在项目中通过</a:t>
              </a:r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框架实现控制反转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在现代的软件开发领域中，构建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健壮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是每个开发者的追求。然而，随着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项目规模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技术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日新月异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，开发过程中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面临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代码耦合度高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配置繁琐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事务管理复杂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等诸多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挑战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。基于此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应运而生，Spring框架以其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IoC容器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声明式事务管理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等诸多功能为开发者提供了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强大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的开发支持，使得项目开发变得更加简洁、高效。本章将对Spring框架的基础知识进行详细地讲解。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31603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063605" y="487426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370985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64007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362106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框架概述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62324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Spring框架简介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915154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898328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Spring入门程序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框架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的的相关概念</a:t>
            </a:r>
            <a:endParaRPr lang="zh-CN" altLang="en-US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198880" y="2238375"/>
            <a:ext cx="9794240" cy="2718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39" name="TextBox 38"/>
          <p:cNvSpPr txBox="1"/>
          <p:nvPr>
            <p:custDataLst>
              <p:tags r:id="rId2"/>
            </p:custDataLst>
          </p:nvPr>
        </p:nvSpPr>
        <p:spPr>
          <a:xfrm>
            <a:off x="1595755" y="2347595"/>
            <a:ext cx="9001125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</a:pP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（Framework）一词最早出现在建筑领域，指的是在建造房屋前期构建的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建筑骨架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。在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编程领域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中，框架指的是一种预先设计好的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软件架构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，它提供了通用的解决方案和功能模块，以便开发人员能够在其基础上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构建应用程序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。框架通常包括一系列预定义的类、接口、函数和工具，旨在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简化开发过程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提高效率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并确保代码的可维护性和可扩展性。通过使用框架，开发人员可以专注于业务逻辑的实现，而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无需重复编写通用的代码</a:t>
            </a:r>
            <a:r>
              <a:rPr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，从而加速开发并提高代码质量。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1148715" y="2178685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0631170" y="4432300"/>
            <a:ext cx="38417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451100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842260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Hibernate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是一个优秀的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ORM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（Object Relational Mapping，对象关系映射）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框架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，它允许开发人员使用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面向对象的方式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操作数据库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，而不必编写传统的 SQL 查询语句。通过在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Java类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之间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建立映射关系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，Hibernate可以自动执行数据库操作，包括存储、更新、检索和删除数据。Hibernate还提供了缓存、事务管理、延迟加载等高级功能，使得数据持久化变得更加简单和高效。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221742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226695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Hibernate 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55052" y="1124585"/>
            <a:ext cx="5080000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当前Java EE开发中较为常见的主流框架。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092325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48348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MyBatis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是流行的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持久层框架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XML配置文件或注解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SQL映射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Java对象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数据库记录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之间进行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映射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。相对于Hibernate，MyBatis更加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灵活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，可以直接编写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原生的SQL查询语句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，同时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保留了对象关系映射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的优势。MyBatis提供了强大的SQL控制能力，而且其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轻量级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的特性使得它易于上手和学习，为用户提供了高效且灵活的数据库交互体验。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85864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0817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MyBatis 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0" y="4653915"/>
            <a:ext cx="40633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数据访问层</a:t>
            </a:r>
            <a:endParaRPr lang="zh-CN" altLang="en-US" sz="3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092325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48348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是一个开源框架，旨在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解决企业应用程序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开发中的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复杂性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，它可以将应用程序中的单层框架（只为应用程序中某一层提供解决方案的框架）以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最佳方式整合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一起。这种设计使得开发人员能够更专注于每个层的具体实现，而无需过多关注层与层之间的交互细节，从而构建出一个连贯且强大的体系。Spring不仅简化了开发流程，还提供了更为完善的开发环境，使得POJO（Plain Old Java Object，普通Java对象）能够轻松获得企业级服务支持。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85864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0817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092325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48348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 MVC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是Spring框架中的一个模块，用于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构建基于MVC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（Model View Controller，模型视图控制）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模式的Web应用程序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。通过将请求映射到相应的处理程序、支持多种视图技术和提供灵活的请求处理机制，Spring MVC可以帮助开发人员构建灵活、易于维护的Web应用程序。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85864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0817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MVC 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092325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48348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 Boot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是一个旨在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简化Spring应用程序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初始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搭建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开发过程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的框架。Spring Boot 提供了自动配置、嵌入式Web服务器、健康检查、外部化配置等功能，使得开发人员可以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快速搭建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生产就绪的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Spring应用程序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无须烦琐的配置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85864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0817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 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092325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48348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 Cloud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是一套用于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构建分布式系统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的微服务架构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工具集合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。它提供了多个子项目，如服务发现、负载均衡、断路器、分布式配置等，帮助开发人员构建可扩展、弹性和高可用的微服务架构。Spring Cloud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与Spring Boot结合使用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，能够更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好地支持微服务应用程序的开发和部署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85864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0817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Cloud 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Spring框架简介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Spring框架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的概念，能够简述Spring框架的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优点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形状 16504"/>
          <p:cNvSpPr/>
          <p:nvPr>
            <p:custDataLst>
              <p:tags r:id="rId1"/>
            </p:custDataLst>
          </p:nvPr>
        </p:nvSpPr>
        <p:spPr>
          <a:xfrm>
            <a:off x="6383020" y="2764155"/>
            <a:ext cx="4413250" cy="3223260"/>
          </a:xfrm>
          <a:custGeom>
            <a:avLst/>
            <a:gdLst>
              <a:gd name="TX0" fmla="*/ 0 w 1281168"/>
              <a:gd name="TY0" fmla="*/ 105669 h 1056696"/>
              <a:gd name="TX1" fmla="*/ 105669 w 1281168"/>
              <a:gd name="TY1" fmla="*/ 0 h 1056696"/>
              <a:gd name="TX2" fmla="*/ 1175497 w 1281168"/>
              <a:gd name="TY2" fmla="*/ 0 h 1056696"/>
              <a:gd name="TX3" fmla="*/ 1281166 w 1281168"/>
              <a:gd name="TY3" fmla="*/ 105669 h 1056696"/>
              <a:gd name="TX4" fmla="*/ 1281166 w 1281168"/>
              <a:gd name="TY4" fmla="*/ 951025 h 1056696"/>
              <a:gd name="TX5" fmla="*/ 1175497 w 1281168"/>
              <a:gd name="TY5" fmla="*/ 1056694 h 1056696"/>
              <a:gd name="TX6" fmla="*/ 105669 w 1281168"/>
              <a:gd name="TY6" fmla="*/ 1056694 h 1056696"/>
              <a:gd name="TX7" fmla="*/ 0 w 1281168"/>
              <a:gd name="TY7" fmla="*/ 951025 h 1056696"/>
              <a:gd name="TX8" fmla="*/ 0 w 1281168"/>
              <a:gd name="TY8" fmla="*/ 105669 h 1056696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281168" h="1056696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ln w="28575" cap="flat" cmpd="sng">
            <a:solidFill>
              <a:srgbClr val="014076"/>
            </a:solidFill>
            <a:prstDash val="solid"/>
            <a:round/>
          </a:ln>
        </p:spPr>
        <p:txBody>
          <a:bodyPr vert="horz" wrap="square" lIns="66040" tIns="292735" rIns="66040" bIns="66040" anchor="b">
            <a:noAutofit/>
          </a:bodyPr>
          <a:p>
            <a:pPr marL="228600" marR="0" lvl="0" indent="-228600" algn="l" defTabSz="97790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±¼¸²"/>
              <a:buChar char="•"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 panose="020B0604020202090204" pitchFamily="34" charset="0"/>
              <a:cs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形状 16504"/>
          <p:cNvSpPr/>
          <p:nvPr>
            <p:custDataLst>
              <p:tags r:id="rId2"/>
            </p:custDataLst>
          </p:nvPr>
        </p:nvSpPr>
        <p:spPr>
          <a:xfrm>
            <a:off x="1390650" y="2764155"/>
            <a:ext cx="4413250" cy="3224530"/>
          </a:xfrm>
          <a:custGeom>
            <a:avLst/>
            <a:gdLst>
              <a:gd name="TX0" fmla="*/ 0 w 1281168"/>
              <a:gd name="TY0" fmla="*/ 105669 h 1056696"/>
              <a:gd name="TX1" fmla="*/ 105669 w 1281168"/>
              <a:gd name="TY1" fmla="*/ 0 h 1056696"/>
              <a:gd name="TX2" fmla="*/ 1175497 w 1281168"/>
              <a:gd name="TY2" fmla="*/ 0 h 1056696"/>
              <a:gd name="TX3" fmla="*/ 1281166 w 1281168"/>
              <a:gd name="TY3" fmla="*/ 105669 h 1056696"/>
              <a:gd name="TX4" fmla="*/ 1281166 w 1281168"/>
              <a:gd name="TY4" fmla="*/ 951025 h 1056696"/>
              <a:gd name="TX5" fmla="*/ 1175497 w 1281168"/>
              <a:gd name="TY5" fmla="*/ 1056694 h 1056696"/>
              <a:gd name="TX6" fmla="*/ 105669 w 1281168"/>
              <a:gd name="TY6" fmla="*/ 1056694 h 1056696"/>
              <a:gd name="TX7" fmla="*/ 0 w 1281168"/>
              <a:gd name="TY7" fmla="*/ 951025 h 1056696"/>
              <a:gd name="TX8" fmla="*/ 0 w 1281168"/>
              <a:gd name="TY8" fmla="*/ 105669 h 1056696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281168" h="1056696">
                <a:moveTo>
                  <a:pt x="0" y="105669"/>
                </a:moveTo>
                <a:cubicBezTo>
                  <a:pt x="0" y="47310"/>
                  <a:pt x="47310" y="0"/>
                  <a:pt x="105669" y="0"/>
                </a:cubicBezTo>
                <a:lnTo>
                  <a:pt x="1175497" y="0"/>
                </a:lnTo>
                <a:cubicBezTo>
                  <a:pt x="1233856" y="0"/>
                  <a:pt x="1281166" y="47310"/>
                  <a:pt x="1281166" y="105669"/>
                </a:cubicBezTo>
                <a:lnTo>
                  <a:pt x="1281166" y="951025"/>
                </a:lnTo>
                <a:cubicBezTo>
                  <a:pt x="1281166" y="1009384"/>
                  <a:pt x="1233856" y="1056694"/>
                  <a:pt x="1175497" y="1056694"/>
                </a:cubicBezTo>
                <a:lnTo>
                  <a:pt x="105669" y="1056694"/>
                </a:lnTo>
                <a:cubicBezTo>
                  <a:pt x="47310" y="1056694"/>
                  <a:pt x="0" y="1009384"/>
                  <a:pt x="0" y="951025"/>
                </a:cubicBezTo>
                <a:lnTo>
                  <a:pt x="0" y="105669"/>
                </a:lnTo>
                <a:close/>
              </a:path>
            </a:pathLst>
          </a:custGeom>
          <a:ln w="28575" cap="flat" cmpd="sng">
            <a:solidFill>
              <a:srgbClr val="014076"/>
            </a:solidFill>
            <a:prstDash val="solid"/>
            <a:round/>
          </a:ln>
        </p:spPr>
        <p:txBody>
          <a:bodyPr vert="horz" wrap="square" lIns="66040" tIns="292735" rIns="66040" bIns="66040" anchor="b">
            <a:noAutofit/>
          </a:bodyPr>
          <a:p>
            <a:pPr marL="228600" marR="0" lvl="0" indent="-228600" algn="l" defTabSz="97790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±¼¸²"/>
              <a:buChar char="•"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 panose="020B0604020202090204" pitchFamily="34" charset="0"/>
              <a:cs typeface="+mn-lt"/>
            </a:endParaRPr>
          </a:p>
        </p:txBody>
      </p:sp>
      <p:sp>
        <p:nvSpPr>
          <p:cNvPr id="48" name="形状 16505"/>
          <p:cNvSpPr/>
          <p:nvPr>
            <p:custDataLst>
              <p:tags r:id="rId3"/>
            </p:custDataLst>
          </p:nvPr>
        </p:nvSpPr>
        <p:spPr>
          <a:xfrm>
            <a:off x="2783840" y="2349386"/>
            <a:ext cx="1723390" cy="685800"/>
          </a:xfrm>
          <a:custGeom>
            <a:avLst/>
            <a:gdLst>
              <a:gd name="TX0" fmla="*/ 0 w 1138816"/>
              <a:gd name="TY0" fmla="*/ 45287 h 452871"/>
              <a:gd name="TX1" fmla="*/ 45287 w 1138816"/>
              <a:gd name="TY1" fmla="*/ 0 h 452871"/>
              <a:gd name="TX2" fmla="*/ 1093527 w 1138816"/>
              <a:gd name="TY2" fmla="*/ 0 h 452871"/>
              <a:gd name="TX3" fmla="*/ 1138814 w 1138816"/>
              <a:gd name="TY3" fmla="*/ 45287 h 452871"/>
              <a:gd name="TX4" fmla="*/ 1138814 w 1138816"/>
              <a:gd name="TY4" fmla="*/ 407582 h 452871"/>
              <a:gd name="TX5" fmla="*/ 1093527 w 1138816"/>
              <a:gd name="TY5" fmla="*/ 452869 h 452871"/>
              <a:gd name="TX6" fmla="*/ 45287 w 1138816"/>
              <a:gd name="TY6" fmla="*/ 452869 h 452871"/>
              <a:gd name="TX7" fmla="*/ 0 w 1138816"/>
              <a:gd name="TY7" fmla="*/ 407582 h 452871"/>
              <a:gd name="TX8" fmla="*/ 0 w 1138816"/>
              <a:gd name="TY8" fmla="*/ 45287 h 452871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138816" h="452871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txBody>
          <a:bodyPr vert="horz" wrap="square" lIns="60960" tIns="45085" rIns="60960" bIns="45085" anchor="ctr">
            <a:noAutofit/>
          </a:bodyPr>
          <a:p>
            <a:pPr marL="0" marR="0" lvl="0" indent="0" algn="ctr" defTabSz="111125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" panose="020B0604020202090204" pitchFamily="34" charset="0"/>
              <a:cs typeface="+mn-lt"/>
            </a:endParaRPr>
          </a:p>
        </p:txBody>
      </p:sp>
      <p:sp>
        <p:nvSpPr>
          <p:cNvPr id="54" name="文本框 53"/>
          <p:cNvSpPr txBox="1"/>
          <p:nvPr>
            <p:custDataLst>
              <p:tags r:id="rId4"/>
            </p:custDataLst>
          </p:nvPr>
        </p:nvSpPr>
        <p:spPr>
          <a:xfrm>
            <a:off x="2810510" y="2389505"/>
            <a:ext cx="1760220" cy="64516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marR="0" lvl="0" indent="0" algn="ctr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Java EE的</a:t>
            </a:r>
            <a:endParaRPr lang="zh-CN" altLang="en-US" sz="1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lt"/>
              <a:sym typeface="+mn-ea"/>
            </a:endParaRPr>
          </a:p>
          <a:p>
            <a:pPr marL="0" marR="0" lvl="0" indent="0" algn="ctr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早期开发</a:t>
            </a:r>
            <a:endParaRPr lang="en-US" altLang="zh-CN" sz="1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lt"/>
              <a:sym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5"/>
            </p:custDataLst>
          </p:nvPr>
        </p:nvSpPr>
        <p:spPr>
          <a:xfrm>
            <a:off x="1633220" y="3073400"/>
            <a:ext cx="4194810" cy="291465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noAutofit/>
          </a:bodyPr>
          <a:p>
            <a:pPr marL="0" marR="0" lvl="0" algn="just" defTabSz="1219200" rtl="0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开发人员被鼓励使用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EJB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作为主要的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开发方式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algn="just" defTabSz="1219200" rtl="0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暴露出了许多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使用复杂性高、代码冗余、代码侵入性强、开发周期长以及移植性差等。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形状 16505"/>
          <p:cNvSpPr/>
          <p:nvPr>
            <p:custDataLst>
              <p:tags r:id="rId6"/>
            </p:custDataLst>
          </p:nvPr>
        </p:nvSpPr>
        <p:spPr>
          <a:xfrm>
            <a:off x="7638415" y="2366531"/>
            <a:ext cx="1723390" cy="685800"/>
          </a:xfrm>
          <a:custGeom>
            <a:avLst/>
            <a:gdLst>
              <a:gd name="TX0" fmla="*/ 0 w 1138816"/>
              <a:gd name="TY0" fmla="*/ 45287 h 452871"/>
              <a:gd name="TX1" fmla="*/ 45287 w 1138816"/>
              <a:gd name="TY1" fmla="*/ 0 h 452871"/>
              <a:gd name="TX2" fmla="*/ 1093527 w 1138816"/>
              <a:gd name="TY2" fmla="*/ 0 h 452871"/>
              <a:gd name="TX3" fmla="*/ 1138814 w 1138816"/>
              <a:gd name="TY3" fmla="*/ 45287 h 452871"/>
              <a:gd name="TX4" fmla="*/ 1138814 w 1138816"/>
              <a:gd name="TY4" fmla="*/ 407582 h 452871"/>
              <a:gd name="TX5" fmla="*/ 1093527 w 1138816"/>
              <a:gd name="TY5" fmla="*/ 452869 h 452871"/>
              <a:gd name="TX6" fmla="*/ 45287 w 1138816"/>
              <a:gd name="TY6" fmla="*/ 452869 h 452871"/>
              <a:gd name="TX7" fmla="*/ 0 w 1138816"/>
              <a:gd name="TY7" fmla="*/ 407582 h 452871"/>
              <a:gd name="TX8" fmla="*/ 0 w 1138816"/>
              <a:gd name="TY8" fmla="*/ 45287 h 452871"/>
            </a:gdLst>
            <a:ahLst/>
            <a:cxnLst>
              <a:cxn ang="0">
                <a:pos x="TX0" y="TY0"/>
              </a:cxn>
              <a:cxn ang="0">
                <a:pos x="TX1" y="TY1"/>
              </a:cxn>
              <a:cxn ang="0">
                <a:pos x="TX2" y="TY2"/>
              </a:cxn>
              <a:cxn ang="0">
                <a:pos x="TX3" y="TY3"/>
              </a:cxn>
              <a:cxn ang="0">
                <a:pos x="TX4" y="TY4"/>
              </a:cxn>
              <a:cxn ang="0">
                <a:pos x="TX5" y="TY5"/>
              </a:cxn>
              <a:cxn ang="0">
                <a:pos x="TX6" y="TY6"/>
              </a:cxn>
              <a:cxn ang="0">
                <a:pos x="TX7" y="TY7"/>
              </a:cxn>
              <a:cxn ang="0">
                <a:pos x="TX8" y="TY8"/>
              </a:cxn>
            </a:cxnLst>
            <a:rect l="l" t="t" r="r" b="b"/>
            <a:pathLst>
              <a:path w="1138816" h="452871">
                <a:moveTo>
                  <a:pt x="0" y="45287"/>
                </a:moveTo>
                <a:cubicBezTo>
                  <a:pt x="0" y="20276"/>
                  <a:pt x="20276" y="0"/>
                  <a:pt x="45287" y="0"/>
                </a:cubicBezTo>
                <a:lnTo>
                  <a:pt x="1093527" y="0"/>
                </a:lnTo>
                <a:cubicBezTo>
                  <a:pt x="1118538" y="0"/>
                  <a:pt x="1138814" y="20276"/>
                  <a:pt x="1138814" y="45287"/>
                </a:cubicBezTo>
                <a:lnTo>
                  <a:pt x="1138814" y="407582"/>
                </a:lnTo>
                <a:cubicBezTo>
                  <a:pt x="1138814" y="432593"/>
                  <a:pt x="1118538" y="452869"/>
                  <a:pt x="1093527" y="452869"/>
                </a:cubicBezTo>
                <a:lnTo>
                  <a:pt x="45287" y="452869"/>
                </a:lnTo>
                <a:cubicBezTo>
                  <a:pt x="20276" y="452869"/>
                  <a:pt x="0" y="432593"/>
                  <a:pt x="0" y="407582"/>
                </a:cubicBezTo>
                <a:lnTo>
                  <a:pt x="0" y="45287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txBody>
          <a:bodyPr vert="horz" wrap="square" lIns="60960" tIns="45085" rIns="60960" bIns="45085" anchor="ctr">
            <a:noAutofit/>
          </a:bodyPr>
          <a:p>
            <a:pPr marL="0" marR="0" lvl="0" indent="0" algn="ctr" defTabSz="1111250" rtl="0" eaLnBrk="0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Arial" panose="020B0604020202090204" pitchFamily="34" charset="0"/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638415" y="2407285"/>
            <a:ext cx="1760220" cy="64516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marR="0" lvl="0" indent="0" algn="ctr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使用Spring</a:t>
            </a:r>
            <a:endParaRPr lang="zh-CN" altLang="en-US" sz="1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lt"/>
              <a:sym typeface="+mn-ea"/>
            </a:endParaRPr>
          </a:p>
          <a:p>
            <a:pPr marL="0" marR="0" lvl="0" indent="0" algn="ctr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lt"/>
                <a:sym typeface="+mn-ea"/>
              </a:rPr>
              <a:t>框架开发</a:t>
            </a:r>
            <a:endParaRPr lang="en-US" altLang="zh-CN" sz="1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lt"/>
              <a:sym typeface="+mn-ea"/>
            </a:endParaRPr>
          </a:p>
        </p:txBody>
      </p:sp>
      <p:sp>
        <p:nvSpPr>
          <p:cNvPr id="9" name="形状 16503"/>
          <p:cNvSpPr/>
          <p:nvPr>
            <p:custDataLst>
              <p:tags r:id="rId8"/>
            </p:custDataLst>
          </p:nvPr>
        </p:nvSpPr>
        <p:spPr>
          <a:xfrm>
            <a:off x="2784475" y="1105535"/>
            <a:ext cx="6576695" cy="4807585"/>
          </a:xfrm>
          <a:prstGeom prst="circularArrow">
            <a:avLst>
              <a:gd name="adj1" fmla="val 2567"/>
              <a:gd name="adj2" fmla="val 311540"/>
              <a:gd name="adj3" fmla="val 19512949"/>
              <a:gd name="adj4" fmla="val 12575511"/>
              <a:gd name="adj5" fmla="val 2994"/>
            </a:avLst>
          </a:prstGeom>
          <a:solidFill>
            <a:srgbClr val="0070C0"/>
          </a:solidFill>
          <a:ln w="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anchor="t">
            <a:noAutofit/>
          </a:bodyPr>
          <a:p>
            <a:pPr marL="0" marR="0" lvl="0" indent="0" algn="l" defTabSz="9144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27165" y="3034665"/>
            <a:ext cx="4194810" cy="260604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89535" tIns="46355" rIns="89535" bIns="46355" anchor="t">
            <a:noAutofit/>
          </a:bodyPr>
          <a:p>
            <a:pPr marL="0" marR="0" lvl="0" algn="just" defTabSz="1219200" rtl="0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Spring框架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IoC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AOP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的概念，通过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依赖注入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面向切面编程等机制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，大大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简化了开发过程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algn="just" defTabSz="1219200" rtl="0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Spring框架代码简洁、灵活性高、可测试性强、可重用性好，并且更易于集成到不同的环境中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" name="直接连接符 41"/>
          <p:cNvCxnSpPr/>
          <p:nvPr>
            <p:custDataLst>
              <p:tags r:id="rId1"/>
            </p:custDataLst>
          </p:nvPr>
        </p:nvCxnSpPr>
        <p:spPr>
          <a:xfrm flipH="1">
            <a:off x="3689671" y="1851760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直接连接符 42"/>
          <p:cNvCxnSpPr/>
          <p:nvPr>
            <p:custDataLst>
              <p:tags r:id="rId2"/>
            </p:custDataLst>
          </p:nvPr>
        </p:nvCxnSpPr>
        <p:spPr>
          <a:xfrm flipH="1">
            <a:off x="3689671" y="3592538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3"/>
          <p:cNvCxnSpPr/>
          <p:nvPr>
            <p:custDataLst>
              <p:tags r:id="rId3"/>
            </p:custDataLst>
          </p:nvPr>
        </p:nvCxnSpPr>
        <p:spPr>
          <a:xfrm flipH="1">
            <a:off x="3689671" y="5305614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44"/>
          <p:cNvCxnSpPr/>
          <p:nvPr>
            <p:custDataLst>
              <p:tags r:id="rId4"/>
            </p:custDataLst>
          </p:nvPr>
        </p:nvCxnSpPr>
        <p:spPr>
          <a:xfrm>
            <a:off x="3689671" y="1851759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4883204" y="1320077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883204" y="303866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883204" y="473208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4965817" y="3130639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76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5160853" y="3345512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4975178" y="1412051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4965816" y="4843715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175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5190486" y="4970570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68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5160852" y="1543784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33"/>
          <p:cNvSpPr txBox="1"/>
          <p:nvPr>
            <p:custDataLst>
              <p:tags r:id="rId14"/>
            </p:custDataLst>
          </p:nvPr>
        </p:nvSpPr>
        <p:spPr>
          <a:xfrm>
            <a:off x="6290945" y="1834515"/>
            <a:ext cx="4483735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algn="l" defTabSz="1219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Spring框架提供了对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MVC、Struts2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等框架的整合，帮助开发人员构建灵活可扩展的Web应用程序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9"/>
          <p:cNvSpPr txBox="1"/>
          <p:nvPr>
            <p:custDataLst>
              <p:tags r:id="rId15"/>
            </p:custDataLst>
          </p:nvPr>
        </p:nvSpPr>
        <p:spPr>
          <a:xfrm>
            <a:off x="6302445" y="1412051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在表现层方面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33"/>
          <p:cNvSpPr txBox="1"/>
          <p:nvPr>
            <p:custDataLst>
              <p:tags r:id="rId16"/>
            </p:custDataLst>
          </p:nvPr>
        </p:nvSpPr>
        <p:spPr>
          <a:xfrm>
            <a:off x="6302375" y="3576320"/>
            <a:ext cx="4472305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l" defTabSz="1219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Spring框架提供了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管理事务和日志记录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等功能，帮助开发人员编写清晰、可维护的业务逻辑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9"/>
          <p:cNvSpPr txBox="1"/>
          <p:nvPr>
            <p:custDataLst>
              <p:tags r:id="rId17"/>
            </p:custDataLst>
          </p:nvPr>
        </p:nvSpPr>
        <p:spPr>
          <a:xfrm>
            <a:off x="6313805" y="3153410"/>
            <a:ext cx="2185670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在业务逻辑层方面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33"/>
          <p:cNvSpPr txBox="1"/>
          <p:nvPr>
            <p:custDataLst>
              <p:tags r:id="rId18"/>
            </p:custDataLst>
          </p:nvPr>
        </p:nvSpPr>
        <p:spPr>
          <a:xfrm>
            <a:off x="6313805" y="5274310"/>
            <a:ext cx="4460240" cy="1078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l" defTabSz="1219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Spring框架可以整合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MyBatis、Hibernate、JdbcTemplate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等技术，帮助开发人员与数据库进行高效交互，实现数据持久化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9"/>
          <p:cNvSpPr txBox="1"/>
          <p:nvPr>
            <p:custDataLst>
              <p:tags r:id="rId19"/>
            </p:custDataLst>
          </p:nvPr>
        </p:nvSpPr>
        <p:spPr>
          <a:xfrm>
            <a:off x="6325343" y="4851725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在持久层方面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9"/>
          <p:cNvSpPr txBox="1"/>
          <p:nvPr>
            <p:custDataLst>
              <p:tags r:id="rId20"/>
            </p:custDataLst>
          </p:nvPr>
        </p:nvSpPr>
        <p:spPr>
          <a:xfrm>
            <a:off x="1143635" y="2637155"/>
            <a:ext cx="2356485" cy="18084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Spring框架为三层体系架构的每个层次提供的技术支持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84250" y="1630680"/>
            <a:ext cx="10325735" cy="3784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Spring框架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优点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非侵入式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降低耦合度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，方便开发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AOP编程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声明式事务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程序的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方便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各种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优秀框架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</a:t>
            </a:r>
            <a:r>
              <a:rPr lang="en-US" altLang="zh-CN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0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 EE API的使用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难度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44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Spring框架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体系结构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核心概念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，能够简述Spring框架的体系中各模块的作用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82795" y="5660390"/>
            <a:ext cx="282765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Spring框架的体系结构</a:t>
            </a:r>
            <a:endParaRPr lang="en-US" altLang="zh-CN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-21474825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98" y="1341755"/>
            <a:ext cx="5907376" cy="424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37590" y="1254760"/>
            <a:ext cx="10487660" cy="4498975"/>
            <a:chOff x="915307" y="2435096"/>
            <a:chExt cx="10766465" cy="3417270"/>
          </a:xfrm>
        </p:grpSpPr>
        <p:sp>
          <p:nvSpPr>
            <p:cNvPr id="5" name="MH_Other_1"/>
            <p:cNvSpPr/>
            <p:nvPr>
              <p:custDataLst>
                <p:tags r:id="rId2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" name="MH_SubTitle_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Context模块</a:t>
              </a:r>
              <a:endParaRPr lang="zh-CN" altLang="en-US"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MH_Text_4"/>
            <p:cNvSpPr txBox="1"/>
            <p:nvPr>
              <p:custDataLst>
                <p:tags r:id="rId4"/>
              </p:custDataLst>
            </p:nvPr>
          </p:nvSpPr>
          <p:spPr>
            <a:xfrm>
              <a:off x="8428886" y="3016780"/>
              <a:ext cx="3252886" cy="1005165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Context模块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构建于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Beans模块和Core模块之上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，提供了更丰富的应用上下文信息管理功能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8" name="MH_Other_2"/>
            <p:cNvSpPr/>
            <p:nvPr>
              <p:custDataLst>
                <p:tags r:id="rId5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9" name="MH_SubTitle_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Beans模块</a:t>
              </a:r>
              <a:endParaRPr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" name="MH_Text_1"/>
            <p:cNvSpPr txBox="1"/>
            <p:nvPr>
              <p:custDataLst>
                <p:tags r:id="rId7"/>
              </p:custDataLst>
            </p:nvPr>
          </p:nvSpPr>
          <p:spPr>
            <a:xfrm flipH="1">
              <a:off x="915310" y="3125998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marL="0" marR="0" lvl="0" algn="l" defTabSz="12192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Beans模块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提供了对BeanFactory等工厂模式的实现，Beans模块的主要作用是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创建和管理Bean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1" name="MH_Other_3"/>
            <p:cNvSpPr/>
            <p:nvPr>
              <p:custDataLst>
                <p:tags r:id="rId8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2" name="MH_Other_4"/>
            <p:cNvSpPr/>
            <p:nvPr>
              <p:custDataLst>
                <p:tags r:id="rId9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3" name="MH_Other_5"/>
            <p:cNvSpPr/>
            <p:nvPr>
              <p:custDataLst>
                <p:tags r:id="rId10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" name="MH_Other_6"/>
            <p:cNvSpPr/>
            <p:nvPr>
              <p:custDataLst>
                <p:tags r:id="rId11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5" name="MH_Other_7"/>
            <p:cNvSpPr/>
            <p:nvPr>
              <p:custDataLst>
                <p:tags r:id="rId12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6" name="MH_Other_8"/>
            <p:cNvSpPr/>
            <p:nvPr>
              <p:custDataLst>
                <p:tags r:id="rId13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7" name="MH_SubTitle_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SpEL模块</a:t>
              </a:r>
              <a:endParaRPr lang="zh-CN" altLang="en-US"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MH_Text_3"/>
            <p:cNvSpPr txBox="1"/>
            <p:nvPr>
              <p:custDataLst>
                <p:tags r:id="rId15"/>
              </p:custDataLst>
            </p:nvPr>
          </p:nvSpPr>
          <p:spPr>
            <a:xfrm>
              <a:off x="8500593" y="4791252"/>
              <a:ext cx="3129028" cy="1006612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SpEL模块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是Spring 3.0后新增的模块，提供了对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SpEL表达式语言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9" name="MH_SubTitle_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Core模块</a:t>
              </a:r>
              <a:endParaRPr lang="zh-CN" altLang="en-US"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MH_Text_2"/>
            <p:cNvSpPr txBox="1"/>
            <p:nvPr>
              <p:custDataLst>
                <p:tags r:id="rId17"/>
              </p:custDataLst>
            </p:nvPr>
          </p:nvSpPr>
          <p:spPr>
            <a:xfrm flipH="1">
              <a:off x="915307" y="4845658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Core模块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提供了Spring框架的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基础功能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，包括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IoC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（控制反转）和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DI（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依赖注入）功能，是整个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Spring框架的核心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所在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</p:grpSp>
      <p:sp>
        <p:nvSpPr>
          <p:cNvPr id="26" name="Text Placeholder 5"/>
          <p:cNvSpPr txBox="1"/>
          <p:nvPr>
            <p:custDataLst>
              <p:tags r:id="rId18"/>
            </p:custDataLst>
          </p:nvPr>
        </p:nvSpPr>
        <p:spPr>
          <a:xfrm>
            <a:off x="5055870" y="2639060"/>
            <a:ext cx="2199005" cy="63373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核心容器</a:t>
            </a:r>
            <a:endParaRPr 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（Core Container）</a:t>
            </a:r>
            <a:endParaRPr 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Freeform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87434" y="1881917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Freeform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15833" y="3103232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Freeform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03234" y="4424033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Freeform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77467" y="4424033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Freeform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71733" y="3103232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矩形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615947" y="2440717"/>
            <a:ext cx="723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17783" y="3311225"/>
            <a:ext cx="8763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矩形 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462183" y="4867929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10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861984" y="4891816"/>
            <a:ext cx="65795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64051" y="3365699"/>
            <a:ext cx="62256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TextBox 12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91369" y="1431238"/>
            <a:ext cx="3429000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JDBC模块简化了JDBC编码的过程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，同时还可以处理那些数据库供应商特有的错误代码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TextBox 13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185152" y="3312783"/>
            <a:ext cx="2813049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ORM模块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提供了对主流的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对象关系映射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（ORM）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框架的集成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支持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TextBox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497233" y="5241066"/>
            <a:ext cx="3179233" cy="1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OXM模块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提供了对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XML映射的抽象支持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，可以与各种XML绑定框架（如JAXB、Castor、XML Beans等）进行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集成</a:t>
            </a:r>
            <a:endParaRPr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TextBox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515534" y="5054164"/>
            <a:ext cx="281093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JMS模块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主要用于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处理消息传递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，包括消息的生产和消费</a:t>
            </a:r>
            <a:endParaRPr 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TextBox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515534" y="2508450"/>
            <a:ext cx="281093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Transactions模块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负责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事务管理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，通过注解或配置文件可以实现声明式事务管理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291369" y="1053403"/>
            <a:ext cx="168275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JDBC模块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TextBox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185152" y="2926237"/>
            <a:ext cx="1682749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ORM模块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TextBox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497233" y="4858042"/>
            <a:ext cx="168275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OXM模块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TextBox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515533" y="4679997"/>
            <a:ext cx="1604136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JMS模块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067935" y="3507105"/>
            <a:ext cx="1895475" cy="123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数据访问及集成（Data Access/Integration）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1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515745" y="2133600"/>
            <a:ext cx="2687320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Transactions模块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37590" y="1254760"/>
            <a:ext cx="10487660" cy="4498975"/>
            <a:chOff x="915307" y="2435096"/>
            <a:chExt cx="10766465" cy="3417270"/>
          </a:xfrm>
        </p:grpSpPr>
        <p:sp>
          <p:nvSpPr>
            <p:cNvPr id="5" name="MH_Other_1"/>
            <p:cNvSpPr/>
            <p:nvPr>
              <p:custDataLst>
                <p:tags r:id="rId2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" name="MH_SubTitle_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WebSocket模块</a:t>
              </a:r>
              <a:endParaRPr lang="zh-CN" altLang="en-US"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MH_Text_4"/>
            <p:cNvSpPr txBox="1"/>
            <p:nvPr>
              <p:custDataLst>
                <p:tags r:id="rId4"/>
              </p:custDataLst>
            </p:nvPr>
          </p:nvSpPr>
          <p:spPr>
            <a:xfrm>
              <a:off x="8428886" y="3016780"/>
              <a:ext cx="3252886" cy="1005165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WebSocket模块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提供了对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WebSocket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和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SockJS的支持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，以及对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STOMP协议的实现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8" name="MH_Other_2"/>
            <p:cNvSpPr/>
            <p:nvPr>
              <p:custDataLst>
                <p:tags r:id="rId5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9" name="MH_SubTitle_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Spring </a:t>
              </a:r>
              <a:r>
                <a:rPr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Web模块</a:t>
              </a:r>
              <a:endParaRPr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" name="MH_Text_1"/>
            <p:cNvSpPr txBox="1"/>
            <p:nvPr>
              <p:custDataLst>
                <p:tags r:id="rId7"/>
              </p:custDataLst>
            </p:nvPr>
          </p:nvSpPr>
          <p:spPr>
            <a:xfrm flipH="1">
              <a:off x="915310" y="3125998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marL="0" marR="0" lvl="0" algn="l" defTabSz="12192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Spring 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Web模块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提供了Web</a:t>
              </a:r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开发的基本支持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，包括处理文件上传、HTTP客户端、Spring远程处理支持等功能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1" name="MH_Other_3"/>
            <p:cNvSpPr/>
            <p:nvPr>
              <p:custDataLst>
                <p:tags r:id="rId8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2" name="MH_Other_4"/>
            <p:cNvSpPr/>
            <p:nvPr>
              <p:custDataLst>
                <p:tags r:id="rId9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3" name="MH_Other_5"/>
            <p:cNvSpPr/>
            <p:nvPr>
              <p:custDataLst>
                <p:tags r:id="rId10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" name="MH_Other_6"/>
            <p:cNvSpPr/>
            <p:nvPr>
              <p:custDataLst>
                <p:tags r:id="rId11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5" name="MH_Other_7"/>
            <p:cNvSpPr/>
            <p:nvPr>
              <p:custDataLst>
                <p:tags r:id="rId12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6" name="MH_Other_8"/>
            <p:cNvSpPr/>
            <p:nvPr>
              <p:custDataLst>
                <p:tags r:id="rId13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7" name="MH_SubTitle_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Portlet模块</a:t>
              </a:r>
              <a:endParaRPr lang="zh-CN" altLang="en-US"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MH_Text_3"/>
            <p:cNvSpPr txBox="1"/>
            <p:nvPr>
              <p:custDataLst>
                <p:tags r:id="rId15"/>
              </p:custDataLst>
            </p:nvPr>
          </p:nvSpPr>
          <p:spPr>
            <a:xfrm>
              <a:off x="8500593" y="4791252"/>
              <a:ext cx="3129028" cy="1006612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Portlet模块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是专门为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Portlet环境设计的模块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，提供了针对Portlet环境下的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MVC实现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9" name="MH_SubTitle_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Servlet模块</a:t>
              </a:r>
              <a:endParaRPr lang="zh-CN" altLang="en-US" sz="2000" b="1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0" name="MH_Text_2"/>
            <p:cNvSpPr txBox="1"/>
            <p:nvPr>
              <p:custDataLst>
                <p:tags r:id="rId17"/>
              </p:custDataLst>
            </p:nvPr>
          </p:nvSpPr>
          <p:spPr>
            <a:xfrm flipH="1">
              <a:off x="915307" y="4845658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Servlet模块</a:t>
              </a:r>
              <a:r>
                <a:rPr lang="en-US" altLang="zh-CN" sz="1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用于构建</a:t>
              </a:r>
              <a:r>
                <a:rPr sz="18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Web应用程序的RESTful服务</a:t>
              </a:r>
              <a:endPara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</p:grpSp>
      <p:sp>
        <p:nvSpPr>
          <p:cNvPr id="26" name="Text Placeholder 5"/>
          <p:cNvSpPr txBox="1"/>
          <p:nvPr>
            <p:custDataLst>
              <p:tags r:id="rId18"/>
            </p:custDataLst>
          </p:nvPr>
        </p:nvSpPr>
        <p:spPr>
          <a:xfrm>
            <a:off x="4984115" y="2782570"/>
            <a:ext cx="2199005" cy="63373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endParaRPr 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Freeform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87434" y="1881917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Freeform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15833" y="3103232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Freeform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03234" y="4424033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Freeform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977467" y="4424033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Freeform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71733" y="3103232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矩形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615947" y="2440717"/>
            <a:ext cx="723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17783" y="3311225"/>
            <a:ext cx="8763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矩形 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462183" y="4867929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矩形 10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861984" y="4891816"/>
            <a:ext cx="65795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矩形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64051" y="3365699"/>
            <a:ext cx="62256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TextBox 12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91369" y="1431238"/>
            <a:ext cx="3429000" cy="1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AOP模块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提供了对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面向切面编程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的支持，允许开发者定义切面（Aspect）来截取应用程序的流程，并在切入点上执行额外的行为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TextBox 13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185152" y="3312783"/>
            <a:ext cx="2813049" cy="1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l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Aspects 模块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提供了与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AspectJ集成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的支持，AspectJ是一个功能强大且成熟的AOP框架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TextBox 1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497233" y="5241066"/>
            <a:ext cx="317923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Instrumentation模块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提供了对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类工具</a:t>
            </a:r>
            <a:r>
              <a:rPr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的支持，并且实现了类加载器</a:t>
            </a:r>
            <a:endParaRPr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TextBox 1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515534" y="5054164"/>
            <a:ext cx="2810933" cy="83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Messaging模块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提供了对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消息传递体系结构和协议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的支持</a:t>
            </a:r>
            <a:endParaRPr 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TextBox 1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515534" y="2508450"/>
            <a:ext cx="2810933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just"/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Test模块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提供了对</a:t>
            </a:r>
            <a:r>
              <a:rPr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程序单元测试和集成测试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的支持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1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291369" y="1053403"/>
            <a:ext cx="1682751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TextBox 18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185152" y="2926237"/>
            <a:ext cx="1682749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Aspects 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TextBox 19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497445" y="4857750"/>
            <a:ext cx="274256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Instrumentation 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0" name="TextBox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515745" y="4679950"/>
            <a:ext cx="2278380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Messaging模块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067935" y="3865880"/>
            <a:ext cx="1895475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其他模块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extBox 1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515745" y="2133600"/>
            <a:ext cx="2687320" cy="30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Test模块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164080"/>
            <a:ext cx="10163810" cy="436372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555240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IoC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（Inversion of Control，控制反转）是Spring框架的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核心理念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之一，旨在构建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低耦合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的应用程序，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降低代码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复杂度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控制反转的思想倡导将对象的创建和管理交给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容器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，容器负责实例化对象、管理对象的生命周期以及注入依赖关系。这样对象的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控制权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就从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应用程序转移到了容器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，因此称为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控制反转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Spring框架提供了实现IoC思想的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IoC容器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，通常谈及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Spring容器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时，指的就是Spring框架中的IoC容器。Spring框架的IoC容器主要包括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BeanFactory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ApplicationContext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，这些IoC容器负责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对象的实例化、装配、配置和管理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93040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7993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IoC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>
            <p:custDataLst>
              <p:tags r:id="rId5"/>
            </p:custDataLst>
          </p:nvPr>
        </p:nvSpPr>
        <p:spPr>
          <a:xfrm>
            <a:off x="1055052" y="1124585"/>
            <a:ext cx="5080000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Spring框架的核心概念</a:t>
            </a:r>
            <a:endParaRPr lang="en-US" altLang="zh-CN" sz="2000" b="1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>
            <p:custDataLst>
              <p:tags r:id="rId6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164080"/>
            <a:ext cx="10163810" cy="269176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555240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DI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（Dependency Injection，依赖注入）是IoC的一种实现方式，它通过外部配置（如IoC容器）在对象创建时自动将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其所依赖的其他对象注入到该对象中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，而不是让对象内部自行创建和管理这些依赖。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依赖注入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构造函数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setter方法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或接口等多种方式实现，从而提高了代码的可测试性、可维护性和可重用性。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93040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7993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原创设计师QQ598969553          _3"/>
          <p:cNvSpPr/>
          <p:nvPr>
            <p:custDataLst>
              <p:tags r:id="rId1"/>
            </p:custDataLst>
          </p:nvPr>
        </p:nvSpPr>
        <p:spPr>
          <a:xfrm>
            <a:off x="1002665" y="2164080"/>
            <a:ext cx="10163810" cy="269176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1336040" y="2555240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在Spring框架中，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Spring容器管理的对象实例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，由Spring的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IoC容器创建和管理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。开发者可以通过在配置文件或配置类中定义Bean的属性和依赖关系，IoC容器会根据配置信息实例化Bean，并将其加入到容器中进行管理。通过Bean的定义和配置，可以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实现对象的控制反转和依赖注入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，实现低耦合的组件化开发。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930400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979930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Bean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Title 1"/>
          <p:cNvSpPr txBox="1"/>
          <p:nvPr>
            <p:custDataLst>
              <p:tags r:id="rId5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Spring框架的体系结构和核心概念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Spring入门程序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，能够在项目中通过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Spring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框架实现控制反转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（1）创建项目并引入依赖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在IDEA中创建名称为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chapter01的Maven项目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，入门程序需要使用Spring框架的功能对此在项目的pom.xml文件中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引入Spring框架相关的依赖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，具体如文件1-1所示。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>
            <p:custDataLst>
              <p:tags r:id="rId13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（2）自定义接口和实现类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文件1-</a:t>
                </a:r>
                <a:r>
                  <a:rPr lang="en-US" sz="1800">
                    <a:sym typeface="+mn-ea"/>
                  </a:rPr>
                  <a:t>2  </a:t>
                </a:r>
                <a:r>
                  <a:rPr lang="en-US" sz="1800">
                    <a:sym typeface="+mn-ea"/>
                    <a:hlinkClick r:id="rId6"/>
                  </a:rPr>
                  <a:t>  </a:t>
                </a:r>
                <a:r>
                  <a:rPr sz="1800">
                    <a:sym typeface="+mn-ea"/>
                    <a:hlinkClick r:id="rId6"/>
                  </a:rPr>
                  <a:t>UserDao.java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文件1-</a:t>
                </a:r>
                <a:r>
                  <a:rPr lang="en-US" sz="1800">
                    <a:sym typeface="+mn-ea"/>
                  </a:rPr>
                  <a:t>3    </a:t>
                </a:r>
                <a:r>
                  <a:rPr sz="1800">
                    <a:sym typeface="+mn-ea"/>
                    <a:hlinkClick r:id="rId7"/>
                  </a:rPr>
                  <a:t>UserDaoImpl.java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在chapter01项目的src/main/java目录下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创建com.itheima.dao包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自定义接口UserDao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接口对应的实现类UserDaoImpl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具体代码如文件1-2和文件1-3所示。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>
            <p:custDataLst>
              <p:tags r:id="rId14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51510" y="1106170"/>
            <a:ext cx="3717290" cy="476885"/>
            <a:chOff x="664002" y="1797999"/>
            <a:chExt cx="325120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664002" y="1797999"/>
              <a:ext cx="3251200" cy="443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（3）创建配置文件并定义Bean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文件1-</a:t>
                </a:r>
                <a:r>
                  <a:rPr lang="en-US" sz="1800">
                    <a:sym typeface="+mn-ea"/>
                  </a:rPr>
                  <a:t>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在chapter01项目的src/main/resources目录下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创建applicationContext.xml文件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作为Spring入门程序的配置文件，并在applicationContext.xml配置文件中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，具体代码如文件1-4所示。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>
            <p:custDataLst>
              <p:tags r:id="rId13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51510" y="1106170"/>
            <a:ext cx="3717290" cy="476885"/>
            <a:chOff x="664002" y="1797999"/>
            <a:chExt cx="325120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664002" y="1797999"/>
              <a:ext cx="3251200" cy="443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（4）定义测试类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文件1-</a:t>
                </a:r>
                <a:r>
                  <a:rPr lang="en-US" sz="1800">
                    <a:sym typeface="+mn-ea"/>
                  </a:rPr>
                  <a:t>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TestHelloSpring.java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2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在chapter01项目的com.itheima文件夹下创建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测试类TestHelloSpring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，具体代码如文件1-5所示。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>
            <p:custDataLst>
              <p:tags r:id="rId13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51510" y="1106170"/>
            <a:ext cx="3717290" cy="476885"/>
            <a:chOff x="664002" y="1797999"/>
            <a:chExt cx="3251200" cy="476905"/>
          </a:xfrm>
        </p:grpSpPr>
        <p:sp>
          <p:nvSpPr>
            <p:cNvPr id="8" name="矩形: 圆角 6"/>
            <p:cNvSpPr/>
            <p:nvPr>
              <p:custDataLst>
                <p:tags r:id="rId1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664002" y="1797999"/>
              <a:ext cx="3251200" cy="443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启动测试类TestHelloSpring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，控制台的输出结果如下图所示。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itle 1"/>
          <p:cNvSpPr txBox="1"/>
          <p:nvPr>
            <p:custDataLst>
              <p:tags r:id="rId4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Spring入门程序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-21474826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39060" y="2767013"/>
            <a:ext cx="6808187" cy="27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Spring框架的基础知识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，首先介绍了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框架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的相关知识；然后讲解了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Spring框架的概念、体系结构和核心概念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；最后编写了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Spring入门程序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。通过本章的学习，读者可以对Spring框架的基础有个大致的了解，为框架开发打下坚实基础。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MH" val="20180611105247"/>
  <p:tag name="MH_LIBRARY" val="GRAPHIC"/>
  <p:tag name="MH_TYPE" val="Other"/>
  <p:tag name="MH_ORDER" val="1"/>
  <p:tag name="KSO_WM_BEAUTIFY_FLAG" val=""/>
</p:tagLst>
</file>

<file path=ppt/tags/tag94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4"/>
  <p:tag name="KSO_WM_BEAUTIFY_FLAG" val=""/>
</p:tagLst>
</file>

<file path=ppt/tags/tag95.xml><?xml version="1.0" encoding="utf-8"?>
<p:tagLst xmlns:p="http://schemas.openxmlformats.org/presentationml/2006/main">
  <p:tag name="MH" val="20180611105247"/>
  <p:tag name="MH_LIBRARY" val="GRAPHIC"/>
  <p:tag name="MH_TYPE" val="Text"/>
  <p:tag name="MH_ORDER" val="4"/>
  <p:tag name="KSO_WM_BEAUTIFY_FLAG" val=""/>
</p:tagLst>
</file>

<file path=ppt/tags/tag96.xml><?xml version="1.0" encoding="utf-8"?>
<p:tagLst xmlns:p="http://schemas.openxmlformats.org/presentationml/2006/main">
  <p:tag name="MH" val="20180611105247"/>
  <p:tag name="MH_LIBRARY" val="GRAPHIC"/>
  <p:tag name="MH_TYPE" val="Other"/>
  <p:tag name="MH_ORDER" val="2"/>
  <p:tag name="KSO_WM_BEAUTIFY_FLAG" val=""/>
</p:tagLst>
</file>

<file path=ppt/tags/tag97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1"/>
  <p:tag name="KSO_WM_BEAUTIFY_FLAG" val=""/>
</p:tagLst>
</file>

<file path=ppt/tags/tag98.xml><?xml version="1.0" encoding="utf-8"?>
<p:tagLst xmlns:p="http://schemas.openxmlformats.org/presentationml/2006/main">
  <p:tag name="MH" val="20180611105247"/>
  <p:tag name="MH_LIBRARY" val="GRAPHIC"/>
  <p:tag name="MH_TYPE" val="Text"/>
  <p:tag name="MH_ORDER" val="1"/>
  <p:tag name="KSO_WM_BEAUTIFY_FLAG" val=""/>
</p:tagLst>
</file>

<file path=ppt/tags/tag99.xml><?xml version="1.0" encoding="utf-8"?>
<p:tagLst xmlns:p="http://schemas.openxmlformats.org/presentationml/2006/main">
  <p:tag name="MH" val="20180611105247"/>
  <p:tag name="MH_LIBRARY" val="GRAPHIC"/>
  <p:tag name="MH_TYPE" val="Other"/>
  <p:tag name="MH_ORDER" val="3"/>
  <p:tag name="KSO_WM_BEAUTIFY_FLAG" val=""/>
</p:tagLst>
</file>

<file path=ppt/tags/tag100.xml><?xml version="1.0" encoding="utf-8"?>
<p:tagLst xmlns:p="http://schemas.openxmlformats.org/presentationml/2006/main">
  <p:tag name="MH" val="20180611105247"/>
  <p:tag name="MH_LIBRARY" val="GRAPHIC"/>
  <p:tag name="MH_TYPE" val="Other"/>
  <p:tag name="MH_ORDER" val="4"/>
  <p:tag name="KSO_WM_BEAUTIFY_FLAG" val=""/>
</p:tagLst>
</file>

<file path=ppt/tags/tag101.xml><?xml version="1.0" encoding="utf-8"?>
<p:tagLst xmlns:p="http://schemas.openxmlformats.org/presentationml/2006/main">
  <p:tag name="MH" val="20180611105247"/>
  <p:tag name="MH_LIBRARY" val="GRAPHIC"/>
  <p:tag name="MH_TYPE" val="Other"/>
  <p:tag name="MH_ORDER" val="5"/>
  <p:tag name="KSO_WM_BEAUTIFY_FLAG" val=""/>
</p:tagLst>
</file>

<file path=ppt/tags/tag102.xml><?xml version="1.0" encoding="utf-8"?>
<p:tagLst xmlns:p="http://schemas.openxmlformats.org/presentationml/2006/main">
  <p:tag name="MH" val="20180611105247"/>
  <p:tag name="MH_LIBRARY" val="GRAPHIC"/>
  <p:tag name="MH_TYPE" val="Other"/>
  <p:tag name="MH_ORDER" val="6"/>
  <p:tag name="KSO_WM_BEAUTIFY_FLAG" val=""/>
</p:tagLst>
</file>

<file path=ppt/tags/tag103.xml><?xml version="1.0" encoding="utf-8"?>
<p:tagLst xmlns:p="http://schemas.openxmlformats.org/presentationml/2006/main">
  <p:tag name="MH" val="20180611105247"/>
  <p:tag name="MH_LIBRARY" val="GRAPHIC"/>
  <p:tag name="MH_TYPE" val="Other"/>
  <p:tag name="MH_ORDER" val="7"/>
  <p:tag name="KSO_WM_BEAUTIFY_FLAG" val=""/>
</p:tagLst>
</file>

<file path=ppt/tags/tag104.xml><?xml version="1.0" encoding="utf-8"?>
<p:tagLst xmlns:p="http://schemas.openxmlformats.org/presentationml/2006/main">
  <p:tag name="MH" val="20180611105247"/>
  <p:tag name="MH_LIBRARY" val="GRAPHIC"/>
  <p:tag name="MH_TYPE" val="Other"/>
  <p:tag name="MH_ORDER" val="8"/>
  <p:tag name="KSO_WM_BEAUTIFY_FLAG" val=""/>
</p:tagLst>
</file>

<file path=ppt/tags/tag105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3"/>
  <p:tag name="KSO_WM_BEAUTIFY_FLAG" val=""/>
</p:tagLst>
</file>

<file path=ppt/tags/tag106.xml><?xml version="1.0" encoding="utf-8"?>
<p:tagLst xmlns:p="http://schemas.openxmlformats.org/presentationml/2006/main">
  <p:tag name="MH" val="20180611105247"/>
  <p:tag name="MH_LIBRARY" val="GRAPHIC"/>
  <p:tag name="MH_TYPE" val="Text"/>
  <p:tag name="MH_ORDER" val="3"/>
  <p:tag name="KSO_WM_BEAUTIFY_FLAG" val=""/>
</p:tagLst>
</file>

<file path=ppt/tags/tag107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2"/>
  <p:tag name="KSO_WM_BEAUTIFY_FLAG" val=""/>
</p:tagLst>
</file>

<file path=ppt/tags/tag108.xml><?xml version="1.0" encoding="utf-8"?>
<p:tagLst xmlns:p="http://schemas.openxmlformats.org/presentationml/2006/main">
  <p:tag name="MH" val="20180611105247"/>
  <p:tag name="MH_LIBRARY" val="GRAPHIC"/>
  <p:tag name="MH_TYPE" val="Text"/>
  <p:tag name="MH_ORDER" val="2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MH" val="20180611105247"/>
  <p:tag name="MH_LIBRARY" val="GRAPHIC"/>
  <p:tag name="MH_TYPE" val="Other"/>
  <p:tag name="MH_ORDER" val="1"/>
  <p:tag name="KSO_WM_BEAUTIFY_FLAG" val=""/>
</p:tagLst>
</file>

<file path=ppt/tags/tag134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4"/>
  <p:tag name="KSO_WM_BEAUTIFY_FLAG" val=""/>
</p:tagLst>
</file>

<file path=ppt/tags/tag135.xml><?xml version="1.0" encoding="utf-8"?>
<p:tagLst xmlns:p="http://schemas.openxmlformats.org/presentationml/2006/main">
  <p:tag name="MH" val="20180611105247"/>
  <p:tag name="MH_LIBRARY" val="GRAPHIC"/>
  <p:tag name="MH_TYPE" val="Text"/>
  <p:tag name="MH_ORDER" val="4"/>
  <p:tag name="KSO_WM_BEAUTIFY_FLAG" val=""/>
</p:tagLst>
</file>

<file path=ppt/tags/tag136.xml><?xml version="1.0" encoding="utf-8"?>
<p:tagLst xmlns:p="http://schemas.openxmlformats.org/presentationml/2006/main">
  <p:tag name="MH" val="20180611105247"/>
  <p:tag name="MH_LIBRARY" val="GRAPHIC"/>
  <p:tag name="MH_TYPE" val="Other"/>
  <p:tag name="MH_ORDER" val="2"/>
  <p:tag name="KSO_WM_BEAUTIFY_FLAG" val=""/>
</p:tagLst>
</file>

<file path=ppt/tags/tag137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1"/>
  <p:tag name="KSO_WM_BEAUTIFY_FLAG" val=""/>
</p:tagLst>
</file>

<file path=ppt/tags/tag138.xml><?xml version="1.0" encoding="utf-8"?>
<p:tagLst xmlns:p="http://schemas.openxmlformats.org/presentationml/2006/main">
  <p:tag name="MH" val="20180611105247"/>
  <p:tag name="MH_LIBRARY" val="GRAPHIC"/>
  <p:tag name="MH_TYPE" val="Text"/>
  <p:tag name="MH_ORDER" val="1"/>
  <p:tag name="KSO_WM_BEAUTIFY_FLAG" val=""/>
</p:tagLst>
</file>

<file path=ppt/tags/tag139.xml><?xml version="1.0" encoding="utf-8"?>
<p:tagLst xmlns:p="http://schemas.openxmlformats.org/presentationml/2006/main">
  <p:tag name="MH" val="20180611105247"/>
  <p:tag name="MH_LIBRARY" val="GRAPHIC"/>
  <p:tag name="MH_TYPE" val="Other"/>
  <p:tag name="MH_ORDER" val="3"/>
  <p:tag name="KSO_WM_BEAUTIFY_FLAG" val=""/>
</p:tagLst>
</file>

<file path=ppt/tags/tag140.xml><?xml version="1.0" encoding="utf-8"?>
<p:tagLst xmlns:p="http://schemas.openxmlformats.org/presentationml/2006/main">
  <p:tag name="MH" val="20180611105247"/>
  <p:tag name="MH_LIBRARY" val="GRAPHIC"/>
  <p:tag name="MH_TYPE" val="Other"/>
  <p:tag name="MH_ORDER" val="4"/>
  <p:tag name="KSO_WM_BEAUTIFY_FLAG" val=""/>
</p:tagLst>
</file>

<file path=ppt/tags/tag141.xml><?xml version="1.0" encoding="utf-8"?>
<p:tagLst xmlns:p="http://schemas.openxmlformats.org/presentationml/2006/main">
  <p:tag name="MH" val="20180611105247"/>
  <p:tag name="MH_LIBRARY" val="GRAPHIC"/>
  <p:tag name="MH_TYPE" val="Other"/>
  <p:tag name="MH_ORDER" val="5"/>
  <p:tag name="KSO_WM_BEAUTIFY_FLAG" val=""/>
</p:tagLst>
</file>

<file path=ppt/tags/tag142.xml><?xml version="1.0" encoding="utf-8"?>
<p:tagLst xmlns:p="http://schemas.openxmlformats.org/presentationml/2006/main">
  <p:tag name="MH" val="20180611105247"/>
  <p:tag name="MH_LIBRARY" val="GRAPHIC"/>
  <p:tag name="MH_TYPE" val="Other"/>
  <p:tag name="MH_ORDER" val="6"/>
  <p:tag name="KSO_WM_BEAUTIFY_FLAG" val=""/>
</p:tagLst>
</file>

<file path=ppt/tags/tag143.xml><?xml version="1.0" encoding="utf-8"?>
<p:tagLst xmlns:p="http://schemas.openxmlformats.org/presentationml/2006/main">
  <p:tag name="MH" val="20180611105247"/>
  <p:tag name="MH_LIBRARY" val="GRAPHIC"/>
  <p:tag name="MH_TYPE" val="Other"/>
  <p:tag name="MH_ORDER" val="7"/>
  <p:tag name="KSO_WM_BEAUTIFY_FLAG" val=""/>
</p:tagLst>
</file>

<file path=ppt/tags/tag144.xml><?xml version="1.0" encoding="utf-8"?>
<p:tagLst xmlns:p="http://schemas.openxmlformats.org/presentationml/2006/main">
  <p:tag name="MH" val="20180611105247"/>
  <p:tag name="MH_LIBRARY" val="GRAPHIC"/>
  <p:tag name="MH_TYPE" val="Other"/>
  <p:tag name="MH_ORDER" val="8"/>
  <p:tag name="KSO_WM_BEAUTIFY_FLAG" val=""/>
</p:tagLst>
</file>

<file path=ppt/tags/tag145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3"/>
  <p:tag name="KSO_WM_BEAUTIFY_FLAG" val=""/>
</p:tagLst>
</file>

<file path=ppt/tags/tag146.xml><?xml version="1.0" encoding="utf-8"?>
<p:tagLst xmlns:p="http://schemas.openxmlformats.org/presentationml/2006/main">
  <p:tag name="MH" val="20180611105247"/>
  <p:tag name="MH_LIBRARY" val="GRAPHIC"/>
  <p:tag name="MH_TYPE" val="Text"/>
  <p:tag name="MH_ORDER" val="3"/>
  <p:tag name="KSO_WM_BEAUTIFY_FLAG" val=""/>
</p:tagLst>
</file>

<file path=ppt/tags/tag147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2"/>
  <p:tag name="KSO_WM_BEAUTIFY_FLAG" val=""/>
</p:tagLst>
</file>

<file path=ppt/tags/tag148.xml><?xml version="1.0" encoding="utf-8"?>
<p:tagLst xmlns:p="http://schemas.openxmlformats.org/presentationml/2006/main">
  <p:tag name="MH" val="20180611105247"/>
  <p:tag name="MH_LIBRARY" val="GRAPHIC"/>
  <p:tag name="MH_TYPE" val="Text"/>
  <p:tag name="MH_ORDER" val="2"/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5691</Words>
  <Application>WPS 表格</Application>
  <PresentationFormat>自定义</PresentationFormat>
  <Paragraphs>393</Paragraphs>
  <Slides>38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76" baseType="lpstr">
      <vt:lpstr>Arial</vt:lpstr>
      <vt:lpstr>宋体</vt:lpstr>
      <vt:lpstr>Wingdings</vt:lpstr>
      <vt:lpstr>微软雅黑</vt:lpstr>
      <vt:lpstr>汉仪旗黑</vt:lpstr>
      <vt:lpstr>汉仪书宋二KW</vt:lpstr>
      <vt:lpstr>思源黑体 CN Medium</vt:lpstr>
      <vt:lpstr>字魂58号-创中黑</vt:lpstr>
      <vt:lpstr>Source Han Sans K Bold</vt:lpstr>
      <vt:lpstr>Calibri</vt:lpstr>
      <vt:lpstr>U.S. 101</vt:lpstr>
      <vt:lpstr>苹方-简</vt:lpstr>
      <vt:lpstr>Roboto</vt:lpstr>
      <vt:lpstr>Open Sans Light</vt:lpstr>
      <vt:lpstr>宋体</vt:lpstr>
      <vt:lpstr>Arial Unicode MS</vt:lpstr>
      <vt:lpstr>Helvetica Neue</vt:lpstr>
      <vt:lpstr>±¼¸²</vt:lpstr>
      <vt:lpstr>微软雅黑 Light</vt:lpstr>
      <vt:lpstr>等线</vt:lpstr>
      <vt:lpstr>Open Sans</vt:lpstr>
      <vt:lpstr>Open Sans</vt:lpstr>
      <vt:lpstr>思源黑体 CN Normal</vt:lpstr>
      <vt:lpstr>汉仪中黑KW</vt:lpstr>
      <vt:lpstr>Courier New</vt:lpstr>
      <vt:lpstr>冬青黑体简体中文</vt:lpstr>
      <vt:lpstr>Thonburi</vt:lpstr>
      <vt:lpstr>汉仪中等线KW</vt:lpstr>
      <vt:lpstr>Source Han Sans K Bold</vt:lpstr>
      <vt:lpstr>±¼¸²</vt:lpstr>
      <vt:lpstr>字魂58号-创中黑</vt:lpstr>
      <vt:lpstr>微软雅黑</vt:lpstr>
      <vt:lpstr>思源黑体 CN Medium</vt:lpstr>
      <vt:lpstr>思源黑体 CN Normal</vt:lpstr>
      <vt:lpstr>Wingdings</vt:lpstr>
      <vt:lpstr>江城圆体 400W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956</cp:revision>
  <dcterms:created xsi:type="dcterms:W3CDTF">2026-03-10T07:44:27Z</dcterms:created>
  <dcterms:modified xsi:type="dcterms:W3CDTF">2026-03-10T07:44:27Z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69DB4B6826B6494390E926BE37E6C64D</vt:lpwstr>
  </property>
</Properties>
</file>