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67"/>
  </p:handoutMasterIdLst>
  <p:sldIdLst>
    <p:sldId id="583" r:id="rId4"/>
    <p:sldId id="1124" r:id="rId6"/>
    <p:sldId id="586" r:id="rId7"/>
    <p:sldId id="587" r:id="rId8"/>
    <p:sldId id="309" r:id="rId9"/>
    <p:sldId id="899" r:id="rId10"/>
    <p:sldId id="1323" r:id="rId11"/>
    <p:sldId id="776" r:id="rId12"/>
    <p:sldId id="1324" r:id="rId13"/>
    <p:sldId id="1371" r:id="rId14"/>
    <p:sldId id="1372" r:id="rId15"/>
    <p:sldId id="1373" r:id="rId16"/>
    <p:sldId id="1374" r:id="rId17"/>
    <p:sldId id="1375" r:id="rId18"/>
    <p:sldId id="1376" r:id="rId19"/>
    <p:sldId id="1377" r:id="rId20"/>
    <p:sldId id="1378" r:id="rId21"/>
    <p:sldId id="1379" r:id="rId22"/>
    <p:sldId id="1380" r:id="rId23"/>
    <p:sldId id="1381" r:id="rId24"/>
    <p:sldId id="1382" r:id="rId25"/>
    <p:sldId id="1383" r:id="rId26"/>
    <p:sldId id="1384" r:id="rId27"/>
    <p:sldId id="1385" r:id="rId28"/>
    <p:sldId id="1386" r:id="rId29"/>
    <p:sldId id="1387" r:id="rId30"/>
    <p:sldId id="1388" r:id="rId31"/>
    <p:sldId id="1389" r:id="rId32"/>
    <p:sldId id="1390" r:id="rId33"/>
    <p:sldId id="1392" r:id="rId34"/>
    <p:sldId id="1391" r:id="rId35"/>
    <p:sldId id="1393" r:id="rId36"/>
    <p:sldId id="1394" r:id="rId37"/>
    <p:sldId id="1395" r:id="rId38"/>
    <p:sldId id="1396" r:id="rId39"/>
    <p:sldId id="1397" r:id="rId40"/>
    <p:sldId id="1398" r:id="rId41"/>
    <p:sldId id="1399" r:id="rId42"/>
    <p:sldId id="1400" r:id="rId43"/>
    <p:sldId id="1401" r:id="rId44"/>
    <p:sldId id="1402" r:id="rId45"/>
    <p:sldId id="1277" r:id="rId46"/>
    <p:sldId id="1278" r:id="rId47"/>
    <p:sldId id="1280" r:id="rId48"/>
    <p:sldId id="1279" r:id="rId49"/>
    <p:sldId id="1403" r:id="rId50"/>
    <p:sldId id="1404" r:id="rId51"/>
    <p:sldId id="1283" r:id="rId52"/>
    <p:sldId id="1405" r:id="rId53"/>
    <p:sldId id="1406" r:id="rId54"/>
    <p:sldId id="1408" r:id="rId55"/>
    <p:sldId id="1409" r:id="rId56"/>
    <p:sldId id="1410" r:id="rId57"/>
    <p:sldId id="1411" r:id="rId58"/>
    <p:sldId id="1412" r:id="rId59"/>
    <p:sldId id="1413" r:id="rId60"/>
    <p:sldId id="1414" r:id="rId61"/>
    <p:sldId id="1284" r:id="rId62"/>
    <p:sldId id="1415" r:id="rId63"/>
    <p:sldId id="1416" r:id="rId64"/>
    <p:sldId id="1417" r:id="rId65"/>
    <p:sldId id="889" r:id="rId66"/>
  </p:sldIdLst>
  <p:sldSz cx="12190095" cy="6859270"/>
  <p:notesSz cx="6858000" cy="9144000"/>
  <p:custDataLst>
    <p:tags r:id="rId72"/>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4" userDrawn="1">
          <p15:clr>
            <a:srgbClr val="A4A3A4"/>
          </p15:clr>
        </p15:guide>
        <p15:guide id="2" pos="626" userDrawn="1">
          <p15:clr>
            <a:srgbClr val="A4A3A4"/>
          </p15:clr>
        </p15:guide>
        <p15:guide id="3" pos="699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2" autoAdjust="0"/>
    <p:restoredTop sz="94660" autoAdjust="0"/>
  </p:normalViewPr>
  <p:slideViewPr>
    <p:cSldViewPr showGuides="1">
      <p:cViewPr varScale="1">
        <p:scale>
          <a:sx n="87" d="100"/>
          <a:sy n="87" d="100"/>
        </p:scale>
        <p:origin x="768" y="82"/>
      </p:cViewPr>
      <p:guideLst>
        <p:guide orient="horz" pos="1004"/>
        <p:guide pos="626"/>
        <p:guide pos="699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695"/>
        <p:guide pos="217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2" Type="http://schemas.openxmlformats.org/officeDocument/2006/relationships/tags" Target="tags/tag346.xml"/><Relationship Id="rId71" Type="http://schemas.openxmlformats.org/officeDocument/2006/relationships/commentAuthors" Target="commentAuthors.xml"/><Relationship Id="rId70" Type="http://schemas.openxmlformats.org/officeDocument/2006/relationships/tableStyles" Target="tableStyles.xml"/><Relationship Id="rId7" Type="http://schemas.openxmlformats.org/officeDocument/2006/relationships/slide" Target="slides/slide3.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9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9.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9.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4" Type="http://schemas.openxmlformats.org/officeDocument/2006/relationships/notesSlide" Target="../notesSlides/notesSlide4.xml"/><Relationship Id="rId13" Type="http://schemas.openxmlformats.org/officeDocument/2006/relationships/slideLayout" Target="../slideLayouts/slideLayout19.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0.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0.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image" Target="../media/image3.png"/><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0" Type="http://schemas.openxmlformats.org/officeDocument/2006/relationships/notesSlide" Target="../notesSlides/notesSlide8.xml"/><Relationship Id="rId2" Type="http://schemas.openxmlformats.org/officeDocument/2006/relationships/tags" Target="../tags/tag30.xml"/><Relationship Id="rId19" Type="http://schemas.openxmlformats.org/officeDocument/2006/relationships/slideLayout" Target="../slideLayouts/slideLayout10.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0.xml"/><Relationship Id="rId2" Type="http://schemas.openxmlformats.org/officeDocument/2006/relationships/tags" Target="../tags/tag51.xml"/><Relationship Id="rId1" Type="http://schemas.openxmlformats.org/officeDocument/2006/relationships/tags" Target="../tags/tag50.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tags" Target="../tags/tag53.xml"/><Relationship Id="rId1" Type="http://schemas.openxmlformats.org/officeDocument/2006/relationships/tags" Target="../tags/tag5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0.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image" Target="../media/image3.png"/><Relationship Id="rId1" Type="http://schemas.openxmlformats.org/officeDocument/2006/relationships/tags" Target="../tags/tag54.xml"/></Relationships>
</file>

<file path=ppt/slides/_rels/slide13.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2" Type="http://schemas.openxmlformats.org/officeDocument/2006/relationships/notesSlide" Target="../notesSlides/notesSlide13.xml"/><Relationship Id="rId21" Type="http://schemas.openxmlformats.org/officeDocument/2006/relationships/slideLayout" Target="../slideLayouts/slideLayout10.xml"/><Relationship Id="rId20" Type="http://schemas.openxmlformats.org/officeDocument/2006/relationships/tags" Target="../tags/tag78.xml"/><Relationship Id="rId2" Type="http://schemas.openxmlformats.org/officeDocument/2006/relationships/tags" Target="../tags/tag60.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14.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hyperlink" Target="http://stu.ityxb.com/ebookview/5bea92a6e1a8224a0405880f49bbae90" TargetMode="External"/><Relationship Id="rId7" Type="http://schemas.openxmlformats.org/officeDocument/2006/relationships/tags" Target="../tags/tag84.xml"/><Relationship Id="rId6" Type="http://schemas.openxmlformats.org/officeDocument/2006/relationships/image" Target="../media/image4.png"/><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6" Type="http://schemas.openxmlformats.org/officeDocument/2006/relationships/notesSlide" Target="../notesSlides/notesSlide14.xml"/><Relationship Id="rId15" Type="http://schemas.openxmlformats.org/officeDocument/2006/relationships/slideLayout" Target="../slideLayouts/slideLayout10.xml"/><Relationship Id="rId14" Type="http://schemas.openxmlformats.org/officeDocument/2006/relationships/tags" Target="../tags/tag88.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9.xml"/></Relationships>
</file>

<file path=ppt/slides/_rels/slide1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hyperlink" Target="http://stu.ityxb.com/ebookview/81663a2dc142f6f38ed09e9149d406ac" TargetMode="External"/><Relationship Id="rId6" Type="http://schemas.openxmlformats.org/officeDocument/2006/relationships/tags" Target="../tags/tag93.xml"/><Relationship Id="rId5" Type="http://schemas.openxmlformats.org/officeDocument/2006/relationships/image" Target="../media/image4.png"/><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5" Type="http://schemas.openxmlformats.org/officeDocument/2006/relationships/notesSlide" Target="../notesSlides/notesSlide15.xml"/><Relationship Id="rId14" Type="http://schemas.openxmlformats.org/officeDocument/2006/relationships/slideLayout" Target="../slideLayouts/slideLayout10.xml"/><Relationship Id="rId13" Type="http://schemas.openxmlformats.org/officeDocument/2006/relationships/tags" Target="../tags/tag97.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96.xml"/><Relationship Id="rId1" Type="http://schemas.openxmlformats.org/officeDocument/2006/relationships/tags" Target="../tags/tag89.xml"/></Relationships>
</file>

<file path=ppt/slides/_rels/slide16.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hyperlink" Target="http://stu.ityxb.com/ebookview/71725a0407d6b22fff8d9ee1ea6f7004" TargetMode="External"/><Relationship Id="rId6" Type="http://schemas.openxmlformats.org/officeDocument/2006/relationships/tags" Target="../tags/tag102.xml"/><Relationship Id="rId5" Type="http://schemas.openxmlformats.org/officeDocument/2006/relationships/image" Target="../media/image4.png"/><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5" Type="http://schemas.openxmlformats.org/officeDocument/2006/relationships/notesSlide" Target="../notesSlides/notesSlide16.xml"/><Relationship Id="rId14" Type="http://schemas.openxmlformats.org/officeDocument/2006/relationships/slideLayout" Target="../slideLayouts/slideLayout10.xml"/><Relationship Id="rId13" Type="http://schemas.openxmlformats.org/officeDocument/2006/relationships/tags" Target="../tags/tag106.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105.xml"/><Relationship Id="rId1" Type="http://schemas.openxmlformats.org/officeDocument/2006/relationships/tags" Target="../tags/tag98.xml"/></Relationships>
</file>

<file path=ppt/slides/_rels/slide17.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hyperlink" Target="http://stu.ityxb.com/ebookview/3ce6b3be96c5981c6aedcd687ca612a5" TargetMode="External"/><Relationship Id="rId6" Type="http://schemas.openxmlformats.org/officeDocument/2006/relationships/tags" Target="../tags/tag111.xml"/><Relationship Id="rId5" Type="http://schemas.openxmlformats.org/officeDocument/2006/relationships/image" Target="../media/image4.png"/><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5" Type="http://schemas.openxmlformats.org/officeDocument/2006/relationships/notesSlide" Target="../notesSlides/notesSlide17.xml"/><Relationship Id="rId14" Type="http://schemas.openxmlformats.org/officeDocument/2006/relationships/slideLayout" Target="../slideLayouts/slideLayout10.xml"/><Relationship Id="rId13" Type="http://schemas.openxmlformats.org/officeDocument/2006/relationships/tags" Target="../tags/tag115.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114.xml"/><Relationship Id="rId1" Type="http://schemas.openxmlformats.org/officeDocument/2006/relationships/tags" Target="../tags/tag107.xml"/></Relationships>
</file>

<file path=ppt/slides/_rels/slide18.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hyperlink" Target="https://stu.ityxb.com/ebookview/f6d05be6f2b9a8f7890a812af4c78476" TargetMode="External"/><Relationship Id="rId6" Type="http://schemas.openxmlformats.org/officeDocument/2006/relationships/tags" Target="../tags/tag120.xml"/><Relationship Id="rId5" Type="http://schemas.openxmlformats.org/officeDocument/2006/relationships/image" Target="../media/image4.png"/><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5" Type="http://schemas.openxmlformats.org/officeDocument/2006/relationships/notesSlide" Target="../notesSlides/notesSlide18.xml"/><Relationship Id="rId14" Type="http://schemas.openxmlformats.org/officeDocument/2006/relationships/slideLayout" Target="../slideLayouts/slideLayout10.xml"/><Relationship Id="rId13" Type="http://schemas.openxmlformats.org/officeDocument/2006/relationships/tags" Target="../tags/tag124.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123.xml"/><Relationship Id="rId1" Type="http://schemas.openxmlformats.org/officeDocument/2006/relationships/tags" Target="../tags/tag116.xml"/></Relationships>
</file>

<file path=ppt/slides/_rels/slide19.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hyperlink" Target="http://stu.ityxb.com/ebookview/e136a280fd74b86a58c6c4102450cb06" TargetMode="External"/><Relationship Id="rId7" Type="http://schemas.openxmlformats.org/officeDocument/2006/relationships/hyperlink" Target="http://stu.ityxb.com/ebookview/b6f04c2984c1e0228ff20948115ac16c" TargetMode="External"/><Relationship Id="rId6" Type="http://schemas.openxmlformats.org/officeDocument/2006/relationships/tags" Target="../tags/tag129.xml"/><Relationship Id="rId5" Type="http://schemas.openxmlformats.org/officeDocument/2006/relationships/image" Target="../media/image4.png"/><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6" Type="http://schemas.openxmlformats.org/officeDocument/2006/relationships/notesSlide" Target="../notesSlides/notesSlide19.xml"/><Relationship Id="rId15" Type="http://schemas.openxmlformats.org/officeDocument/2006/relationships/slideLayout" Target="../slideLayouts/slideLayout10.xml"/><Relationship Id="rId14" Type="http://schemas.openxmlformats.org/officeDocument/2006/relationships/tags" Target="../tags/tag133.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tags" Target="../tags/tag125.xml"/></Relationships>
</file>

<file path=ppt/slides/_rels/slide20.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hyperlink" Target="http://stu.ityxb.com/ebookview/be0499b04a7c04c1f5113ab9ebc6e34b" TargetMode="External"/><Relationship Id="rId6" Type="http://schemas.openxmlformats.org/officeDocument/2006/relationships/tags" Target="../tags/tag138.xml"/><Relationship Id="rId5" Type="http://schemas.openxmlformats.org/officeDocument/2006/relationships/image" Target="../media/image4.png"/><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5" Type="http://schemas.openxmlformats.org/officeDocument/2006/relationships/notesSlide" Target="../notesSlides/notesSlide20.xml"/><Relationship Id="rId14" Type="http://schemas.openxmlformats.org/officeDocument/2006/relationships/slideLayout" Target="../slideLayouts/slideLayout10.xml"/><Relationship Id="rId13" Type="http://schemas.openxmlformats.org/officeDocument/2006/relationships/tags" Target="../tags/tag142.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141.xml"/><Relationship Id="rId1" Type="http://schemas.openxmlformats.org/officeDocument/2006/relationships/tags" Target="../tags/tag134.xml"/></Relationships>
</file>

<file path=ppt/slides/_rels/slide21.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hyperlink" Target="http://stu.ityxb.com/ebookview/a4d0a1f015d09e16554bdd3682e699f0" TargetMode="External"/><Relationship Id="rId7" Type="http://schemas.openxmlformats.org/officeDocument/2006/relationships/tags" Target="../tags/tag148.xml"/><Relationship Id="rId6" Type="http://schemas.openxmlformats.org/officeDocument/2006/relationships/image" Target="../media/image4.png"/><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5" Type="http://schemas.openxmlformats.org/officeDocument/2006/relationships/notesSlide" Target="../notesSlides/notesSlide21.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3.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23.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hyperlink" Target="http://stu.ityxb.com/ebookview/0e64b40e25103f9eaee1e3e3b784ea4c" TargetMode="External"/><Relationship Id="rId7" Type="http://schemas.openxmlformats.org/officeDocument/2006/relationships/tags" Target="../tags/tag162.xml"/><Relationship Id="rId6" Type="http://schemas.openxmlformats.org/officeDocument/2006/relationships/image" Target="../media/image4.png"/><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5" Type="http://schemas.openxmlformats.org/officeDocument/2006/relationships/notesSlide" Target="../notesSlides/notesSlide23.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7.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26.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hyperlink" Target="http://stu.ityxb.com/ebookview/68953dc432b65fd621690977a40419f9" TargetMode="External"/><Relationship Id="rId7" Type="http://schemas.openxmlformats.org/officeDocument/2006/relationships/tags" Target="../tags/tag181.xml"/><Relationship Id="rId6" Type="http://schemas.openxmlformats.org/officeDocument/2006/relationships/image" Target="../media/image4.png"/><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5" Type="http://schemas.openxmlformats.org/officeDocument/2006/relationships/notesSlide" Target="../notesSlides/notesSlide26.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184.xml"/><Relationship Id="rId10" Type="http://schemas.openxmlformats.org/officeDocument/2006/relationships/tags" Target="../tags/tag183.xml"/><Relationship Id="rId1" Type="http://schemas.openxmlformats.org/officeDocument/2006/relationships/tags" Target="../tags/tag176.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image" Target="../media/image3.png"/><Relationship Id="rId1" Type="http://schemas.openxmlformats.org/officeDocument/2006/relationships/tags" Target="../tags/tag195.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0.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0.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0.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21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2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2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1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215.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tags" Target="../tags/tag217.xml"/><Relationship Id="rId1" Type="http://schemas.openxmlformats.org/officeDocument/2006/relationships/tags" Target="../tags/tag216.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0.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41.xml.rels><?xml version="1.0" encoding="UTF-8" standalone="yes"?>
<Relationships xmlns="http://schemas.openxmlformats.org/package/2006/relationships"><Relationship Id="rId9" Type="http://schemas.openxmlformats.org/officeDocument/2006/relationships/tags" Target="../tags/tag230.xml"/><Relationship Id="rId8" Type="http://schemas.openxmlformats.org/officeDocument/2006/relationships/tags" Target="../tags/tag229.xml"/><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6" Type="http://schemas.openxmlformats.org/officeDocument/2006/relationships/notesSlide" Target="../notesSlides/notesSlide41.xml"/><Relationship Id="rId15" Type="http://schemas.openxmlformats.org/officeDocument/2006/relationships/slideLayout" Target="../slideLayouts/slideLayout10.xml"/><Relationship Id="rId14" Type="http://schemas.openxmlformats.org/officeDocument/2006/relationships/tags" Target="../tags/tag235.xml"/><Relationship Id="rId13" Type="http://schemas.openxmlformats.org/officeDocument/2006/relationships/tags" Target="../tags/tag234.xml"/><Relationship Id="rId12" Type="http://schemas.openxmlformats.org/officeDocument/2006/relationships/tags" Target="../tags/tag233.xml"/><Relationship Id="rId11" Type="http://schemas.openxmlformats.org/officeDocument/2006/relationships/tags" Target="../tags/tag232.xml"/><Relationship Id="rId10" Type="http://schemas.openxmlformats.org/officeDocument/2006/relationships/tags" Target="../tags/tag231.xml"/><Relationship Id="rId1" Type="http://schemas.openxmlformats.org/officeDocument/2006/relationships/tags" Target="../tags/tag2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1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slideLayout" Target="../slideLayouts/slideLayout10.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image" Target="../media/image3.png"/><Relationship Id="rId1" Type="http://schemas.openxmlformats.org/officeDocument/2006/relationships/tags" Target="../tags/tag240.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0.xml"/><Relationship Id="rId2" Type="http://schemas.openxmlformats.org/officeDocument/2006/relationships/tags" Target="../tags/tag246.xml"/><Relationship Id="rId1" Type="http://schemas.openxmlformats.org/officeDocument/2006/relationships/tags" Target="../tags/tag245.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0.xml"/><Relationship Id="rId2" Type="http://schemas.openxmlformats.org/officeDocument/2006/relationships/tags" Target="../tags/tag248.xml"/><Relationship Id="rId1" Type="http://schemas.openxmlformats.org/officeDocument/2006/relationships/tags" Target="../tags/tag247.xml"/></Relationships>
</file>

<file path=ppt/slides/_rels/slide47.xml.rels><?xml version="1.0" encoding="UTF-8" standalone="yes"?>
<Relationships xmlns="http://schemas.openxmlformats.org/package/2006/relationships"><Relationship Id="rId9" Type="http://schemas.openxmlformats.org/officeDocument/2006/relationships/tags" Target="../tags/tag255.xml"/><Relationship Id="rId8" Type="http://schemas.openxmlformats.org/officeDocument/2006/relationships/hyperlink" Target="http://stu.ityxb.com/ebookview/f827409be057ccc4360ebb1eaa15fe0c&#13;&#10;" TargetMode="External"/><Relationship Id="rId7" Type="http://schemas.openxmlformats.org/officeDocument/2006/relationships/tags" Target="../tags/tag254.xml"/><Relationship Id="rId6" Type="http://schemas.openxmlformats.org/officeDocument/2006/relationships/image" Target="../media/image4.png"/><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6" Type="http://schemas.openxmlformats.org/officeDocument/2006/relationships/notesSlide" Target="../notesSlides/notesSlide47.xml"/><Relationship Id="rId15" Type="http://schemas.openxmlformats.org/officeDocument/2006/relationships/slideLayout" Target="../slideLayouts/slideLayout10.xml"/><Relationship Id="rId14" Type="http://schemas.openxmlformats.org/officeDocument/2006/relationships/tags" Target="../tags/tag258.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257.xml"/><Relationship Id="rId10" Type="http://schemas.openxmlformats.org/officeDocument/2006/relationships/tags" Target="../tags/tag256.xml"/><Relationship Id="rId1" Type="http://schemas.openxmlformats.org/officeDocument/2006/relationships/tags" Target="../tags/tag249.xml"/></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slideLayout" Target="../slideLayouts/slideLayout10.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49.xml.rels><?xml version="1.0" encoding="UTF-8" standalone="yes"?>
<Relationships xmlns="http://schemas.openxmlformats.org/package/2006/relationships"><Relationship Id="rId9" Type="http://schemas.openxmlformats.org/officeDocument/2006/relationships/tags" Target="../tags/tag271.xml"/><Relationship Id="rId8" Type="http://schemas.openxmlformats.org/officeDocument/2006/relationships/hyperlink" Target="http://stu.ityxb.com/ebookview/791575cfb4052df89fbe43c94828a018" TargetMode="External"/><Relationship Id="rId7" Type="http://schemas.openxmlformats.org/officeDocument/2006/relationships/tags" Target="../tags/tag270.xml"/><Relationship Id="rId6" Type="http://schemas.openxmlformats.org/officeDocument/2006/relationships/image" Target="../media/image4.png"/><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5" Type="http://schemas.openxmlformats.org/officeDocument/2006/relationships/notesSlide" Target="../notesSlides/notesSlide49.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273.xml"/><Relationship Id="rId10" Type="http://schemas.openxmlformats.org/officeDocument/2006/relationships/tags" Target="../tags/tag272.xml"/><Relationship Id="rId1" Type="http://schemas.openxmlformats.org/officeDocument/2006/relationships/tags" Target="../tags/tag265.xml"/></Relationships>
</file>

<file path=ppt/slides/_rels/slide50.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hyperlink" Target="http://stu.ityxb.com/ebookview/0701f8a780e93ff7157be2944d6d038a" TargetMode="External"/><Relationship Id="rId7" Type="http://schemas.openxmlformats.org/officeDocument/2006/relationships/tags" Target="../tags/tag279.xml"/><Relationship Id="rId6" Type="http://schemas.openxmlformats.org/officeDocument/2006/relationships/image" Target="../media/image4.png"/><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5" Type="http://schemas.openxmlformats.org/officeDocument/2006/relationships/notesSlide" Target="../notesSlides/notesSlide50.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tags" Target="../tags/tag274.xml"/></Relationships>
</file>

<file path=ppt/slides/_rels/slide51.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hyperlink" Target="http://stu.ityxb.com/ebookview/eb0c377c51cc80515a27479791bc13f6" TargetMode="External"/><Relationship Id="rId7" Type="http://schemas.openxmlformats.org/officeDocument/2006/relationships/tags" Target="../tags/tag288.xml"/><Relationship Id="rId6" Type="http://schemas.openxmlformats.org/officeDocument/2006/relationships/image" Target="../media/image4.png"/><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 Type="http://schemas.openxmlformats.org/officeDocument/2006/relationships/tags" Target="../tags/tag284.xml"/><Relationship Id="rId15" Type="http://schemas.openxmlformats.org/officeDocument/2006/relationships/notesSlide" Target="../notesSlides/notesSlide51.xml"/><Relationship Id="rId14" Type="http://schemas.openxmlformats.org/officeDocument/2006/relationships/slideLayout" Target="../slideLayouts/slideLayout10.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3.xml"/></Relationships>
</file>

<file path=ppt/slides/_rels/slide52.xml.rels><?xml version="1.0" encoding="UTF-8" standalone="yes"?>
<Relationships xmlns="http://schemas.openxmlformats.org/package/2006/relationships"><Relationship Id="rId8" Type="http://schemas.openxmlformats.org/officeDocument/2006/relationships/notesSlide" Target="../notesSlides/notesSlide52.xml"/><Relationship Id="rId7"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53.xml"/><Relationship Id="rId7"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10.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image" Target="../media/image3.png"/><Relationship Id="rId1" Type="http://schemas.openxmlformats.org/officeDocument/2006/relationships/tags" Target="../tags/tag302.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0.xml"/><Relationship Id="rId2" Type="http://schemas.openxmlformats.org/officeDocument/2006/relationships/tags" Target="../tags/tag308.xml"/><Relationship Id="rId1" Type="http://schemas.openxmlformats.org/officeDocument/2006/relationships/tags" Target="../tags/tag307.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xml"/><Relationship Id="rId2" Type="http://schemas.openxmlformats.org/officeDocument/2006/relationships/tags" Target="../tags/tag310.xml"/><Relationship Id="rId1" Type="http://schemas.openxmlformats.org/officeDocument/2006/relationships/tags" Target="../tags/tag309.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0.xml"/><Relationship Id="rId2" Type="http://schemas.openxmlformats.org/officeDocument/2006/relationships/tags" Target="../tags/tag312.xml"/><Relationship Id="rId1" Type="http://schemas.openxmlformats.org/officeDocument/2006/relationships/tags" Target="../tags/tag311.xml"/></Relationships>
</file>

<file path=ppt/slides/_rels/slide58.xml.rels><?xml version="1.0" encoding="UTF-8" standalone="yes"?>
<Relationships xmlns="http://schemas.openxmlformats.org/package/2006/relationships"><Relationship Id="rId9" Type="http://schemas.openxmlformats.org/officeDocument/2006/relationships/tags" Target="../tags/tag319.xml"/><Relationship Id="rId8" Type="http://schemas.openxmlformats.org/officeDocument/2006/relationships/tags" Target="../tags/tag318.xml"/><Relationship Id="rId7" Type="http://schemas.openxmlformats.org/officeDocument/2006/relationships/hyperlink" Target="http://stu.ityxb.com/ebookview/c6ecc7e7bbb812ab1b2a79e6530f608a" TargetMode="External"/><Relationship Id="rId6" Type="http://schemas.openxmlformats.org/officeDocument/2006/relationships/tags" Target="../tags/tag317.xml"/><Relationship Id="rId5" Type="http://schemas.openxmlformats.org/officeDocument/2006/relationships/image" Target="../media/image4.png"/><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6" Type="http://schemas.openxmlformats.org/officeDocument/2006/relationships/notesSlide" Target="../notesSlides/notesSlide58.xml"/><Relationship Id="rId15" Type="http://schemas.openxmlformats.org/officeDocument/2006/relationships/slideLayout" Target="../slideLayouts/slideLayout10.xml"/><Relationship Id="rId14" Type="http://schemas.openxmlformats.org/officeDocument/2006/relationships/tags" Target="../tags/tag322.xml"/><Relationship Id="rId13" Type="http://schemas.openxmlformats.org/officeDocument/2006/relationships/tags" Target="../tags/tag321.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320.xml"/><Relationship Id="rId1" Type="http://schemas.openxmlformats.org/officeDocument/2006/relationships/tags" Target="../tags/tag313.xml"/></Relationships>
</file>

<file path=ppt/slides/_rels/slide59.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tags" Target="../tags/tag328.xml"/><Relationship Id="rId7" Type="http://schemas.openxmlformats.org/officeDocument/2006/relationships/hyperlink" Target="http://stu.ityxb.com/ebookview/af28ee55f9e39325f1d8673243b8720d" TargetMode="External"/><Relationship Id="rId6" Type="http://schemas.openxmlformats.org/officeDocument/2006/relationships/tags" Target="../tags/tag327.xml"/><Relationship Id="rId5" Type="http://schemas.openxmlformats.org/officeDocument/2006/relationships/image" Target="../media/image4.png"/><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5" Type="http://schemas.openxmlformats.org/officeDocument/2006/relationships/notesSlide" Target="../notesSlides/notesSlide59.xml"/><Relationship Id="rId14" Type="http://schemas.openxmlformats.org/officeDocument/2006/relationships/slideLayout" Target="../slideLayouts/slideLayout10.xml"/><Relationship Id="rId13" Type="http://schemas.openxmlformats.org/officeDocument/2006/relationships/tags" Target="../tags/tag331.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330.xml"/><Relationship Id="rId1" Type="http://schemas.openxmlformats.org/officeDocument/2006/relationships/tags" Target="../tags/tag323.xml"/></Relationships>
</file>

<file path=ppt/slides/_rels/slide60.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hyperlink" Target="http://stu.ityxb.com/ebookview/6548703b784175d53cac44ccb55fc7ef" TargetMode="External"/><Relationship Id="rId6" Type="http://schemas.openxmlformats.org/officeDocument/2006/relationships/tags" Target="../tags/tag336.xml"/><Relationship Id="rId5" Type="http://schemas.openxmlformats.org/officeDocument/2006/relationships/image" Target="../media/image4.png"/><Relationship Id="rId4" Type="http://schemas.openxmlformats.org/officeDocument/2006/relationships/tags" Target="../tags/tag335.xml"/><Relationship Id="rId3" Type="http://schemas.openxmlformats.org/officeDocument/2006/relationships/tags" Target="../tags/tag334.xml"/><Relationship Id="rId2" Type="http://schemas.openxmlformats.org/officeDocument/2006/relationships/tags" Target="../tags/tag333.xml"/><Relationship Id="rId15" Type="http://schemas.openxmlformats.org/officeDocument/2006/relationships/notesSlide" Target="../notesSlides/notesSlide60.xml"/><Relationship Id="rId14" Type="http://schemas.openxmlformats.org/officeDocument/2006/relationships/slideLayout" Target="../slideLayouts/slideLayout10.xml"/><Relationship Id="rId13" Type="http://schemas.openxmlformats.org/officeDocument/2006/relationships/tags" Target="../tags/tag340.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339.xml"/><Relationship Id="rId1" Type="http://schemas.openxmlformats.org/officeDocument/2006/relationships/tags" Target="../tags/tag332.xml"/></Relationships>
</file>

<file path=ppt/slides/_rels/slide61.xml.rels><?xml version="1.0" encoding="UTF-8" standalone="yes"?>
<Relationships xmlns="http://schemas.openxmlformats.org/package/2006/relationships"><Relationship Id="rId8" Type="http://schemas.openxmlformats.org/officeDocument/2006/relationships/notesSlide" Target="../notesSlides/notesSlide61.xml"/><Relationship Id="rId7"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第4章 Spring的数据库编程</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EE企业级应用开发教程（Spring+Spring MVC+MyBatis）（第3版）》</a:t>
            </a:r>
            <a:endParaRPr sz="23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7655" y="1704340"/>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的相关概念，能够简述JdbcTemplate的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作用</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267779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Spring事务管理</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的概念，能够简述Spring事务管理的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作用</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3652520"/>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的增删改查操作</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4598670"/>
            <a:ext cx="9006205" cy="689610"/>
            <a:chOff x="978872" y="2570437"/>
            <a:chExt cx="5437064" cy="517208"/>
          </a:xfrm>
        </p:grpSpPr>
        <p:sp>
          <p:nvSpPr>
            <p:cNvPr id="3" name="Pentagon 5"/>
            <p:cNvSpPr/>
            <p:nvPr>
              <p:custDataLst>
                <p:tags r:id="rId1"/>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基于XML方式的事务管理</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557655" y="5573395"/>
            <a:ext cx="9006205" cy="685800"/>
            <a:chOff x="978872" y="2570437"/>
            <a:chExt cx="5437064" cy="514351"/>
          </a:xfrm>
        </p:grpSpPr>
        <p:sp>
          <p:nvSpPr>
            <p:cNvPr id="6" name="Pentagon 5"/>
            <p:cNvSpPr/>
            <p:nvPr>
              <p:custDataLst>
                <p:tags r:id="rId3"/>
              </p:custDataLst>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注解方式的事务管理</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7" name="MH_Others_1"/>
            <p:cNvSpPr/>
            <p:nvPr>
              <p:custDataLst>
                <p:tags r:id="rId4"/>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735" y="2466340"/>
            <a:ext cx="1033589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在Java企业级开发中，应用程序对</a:t>
            </a:r>
            <a:r>
              <a:rPr lang="zh-CN" altLang="en-US" sz="2000" dirty="0">
                <a:solidFill>
                  <a:srgbClr val="1369B2"/>
                </a:solidFill>
                <a:latin typeface="微软雅黑" panose="020B0503020204020204" pitchFamily="34" charset="-122"/>
                <a:ea typeface="微软雅黑" panose="020B0503020204020204" pitchFamily="34" charset="-122"/>
                <a:cs typeface="+mn-ea"/>
              </a:rPr>
              <a:t>数据库的操作</a:t>
            </a:r>
            <a:r>
              <a:rPr lang="zh-CN" altLang="zh-CN" sz="2000" dirty="0">
                <a:solidFill>
                  <a:srgbClr val="595959"/>
                </a:solidFill>
                <a:latin typeface="微软雅黑" panose="020B0503020204020204" pitchFamily="34" charset="-122"/>
                <a:ea typeface="微软雅黑" panose="020B0503020204020204" pitchFamily="34" charset="-122"/>
              </a:rPr>
              <a:t>是不可或缺的一环，然而，</a:t>
            </a:r>
            <a:r>
              <a:rPr lang="zh-CN" altLang="en-US" sz="2000" dirty="0">
                <a:solidFill>
                  <a:srgbClr val="1369B2"/>
                </a:solidFill>
                <a:latin typeface="微软雅黑" panose="020B0503020204020204" pitchFamily="34" charset="-122"/>
                <a:ea typeface="微软雅黑" panose="020B0503020204020204" pitchFamily="34" charset="-122"/>
                <a:cs typeface="+mn-ea"/>
              </a:rPr>
              <a:t>传统的JDBC</a:t>
            </a:r>
            <a:r>
              <a:rPr lang="zh-CN" altLang="zh-CN" sz="2000" dirty="0">
                <a:solidFill>
                  <a:srgbClr val="595959"/>
                </a:solidFill>
                <a:latin typeface="微软雅黑" panose="020B0503020204020204" pitchFamily="34" charset="-122"/>
                <a:ea typeface="微软雅黑" panose="020B0503020204020204" pitchFamily="34" charset="-122"/>
              </a:rPr>
              <a:t>操作方式相对</a:t>
            </a:r>
            <a:r>
              <a:rPr lang="zh-CN" altLang="en-US" sz="2000" dirty="0">
                <a:solidFill>
                  <a:srgbClr val="1369B2"/>
                </a:solidFill>
                <a:latin typeface="微软雅黑" panose="020B0503020204020204" pitchFamily="34" charset="-122"/>
                <a:ea typeface="微软雅黑" panose="020B0503020204020204" pitchFamily="34" charset="-122"/>
                <a:cs typeface="+mn-ea"/>
              </a:rPr>
              <a:t>烦琐</a:t>
            </a:r>
            <a:r>
              <a:rPr lang="zh-CN" altLang="zh-CN" sz="2000" dirty="0">
                <a:solidFill>
                  <a:srgbClr val="595959"/>
                </a:solidFill>
                <a:latin typeface="微软雅黑" panose="020B0503020204020204" pitchFamily="34" charset="-122"/>
                <a:ea typeface="微软雅黑" panose="020B0503020204020204" pitchFamily="34" charset="-122"/>
              </a:rPr>
              <a:t>且</a:t>
            </a:r>
            <a:r>
              <a:rPr lang="zh-CN" altLang="en-US" sz="2000" dirty="0">
                <a:solidFill>
                  <a:srgbClr val="1369B2"/>
                </a:solidFill>
                <a:latin typeface="微软雅黑" panose="020B0503020204020204" pitchFamily="34" charset="-122"/>
                <a:ea typeface="微软雅黑" panose="020B0503020204020204" pitchFamily="34" charset="-122"/>
                <a:cs typeface="+mn-ea"/>
              </a:rPr>
              <a:t>容易出错</a:t>
            </a:r>
            <a:r>
              <a:rPr lang="zh-CN" altLang="zh-CN" sz="2000" dirty="0">
                <a:solidFill>
                  <a:srgbClr val="595959"/>
                </a:solidFill>
                <a:latin typeface="微软雅黑" panose="020B0503020204020204" pitchFamily="34" charset="-122"/>
                <a:ea typeface="微软雅黑" panose="020B0503020204020204" pitchFamily="34" charset="-122"/>
              </a:rPr>
              <a:t>，尤其是在处理资源管理和事务控制时。作为一站式服务框架，Spring框架的</a:t>
            </a:r>
            <a:r>
              <a:rPr lang="zh-CN" altLang="en-US" sz="2000" dirty="0">
                <a:solidFill>
                  <a:srgbClr val="1369B2"/>
                </a:solidFill>
                <a:latin typeface="微软雅黑" panose="020B0503020204020204" pitchFamily="34" charset="-122"/>
                <a:ea typeface="微软雅黑" panose="020B0503020204020204" pitchFamily="34" charset="-122"/>
                <a:cs typeface="+mn-ea"/>
              </a:rPr>
              <a:t>Spring JDBC模块</a:t>
            </a:r>
            <a:r>
              <a:rPr lang="zh-CN" altLang="zh-CN" sz="2000" dirty="0">
                <a:solidFill>
                  <a:srgbClr val="595959"/>
                </a:solidFill>
                <a:latin typeface="微软雅黑" panose="020B0503020204020204" pitchFamily="34" charset="-122"/>
                <a:ea typeface="微软雅黑" panose="020B0503020204020204" pitchFamily="34" charset="-122"/>
              </a:rPr>
              <a:t>提供了强大的数据库编程支持。同时，为</a:t>
            </a:r>
            <a:r>
              <a:rPr lang="zh-CN" altLang="en-US" sz="2000" dirty="0">
                <a:solidFill>
                  <a:srgbClr val="1369B2"/>
                </a:solidFill>
                <a:latin typeface="微软雅黑" panose="020B0503020204020204" pitchFamily="34" charset="-122"/>
                <a:ea typeface="微软雅黑" panose="020B0503020204020204" pitchFamily="34" charset="-122"/>
                <a:cs typeface="+mn-ea"/>
              </a:rPr>
              <a:t>解决</a:t>
            </a:r>
            <a:r>
              <a:rPr lang="zh-CN" altLang="zh-CN" sz="2000" dirty="0">
                <a:solidFill>
                  <a:srgbClr val="595959"/>
                </a:solidFill>
                <a:latin typeface="微软雅黑" panose="020B0503020204020204" pitchFamily="34" charset="-122"/>
                <a:ea typeface="微软雅黑" panose="020B0503020204020204" pitchFamily="34" charset="-122"/>
              </a:rPr>
              <a:t>操作数据库时的</a:t>
            </a:r>
            <a:r>
              <a:rPr lang="zh-CN" altLang="en-US" sz="2000" dirty="0">
                <a:solidFill>
                  <a:srgbClr val="1369B2"/>
                </a:solidFill>
                <a:latin typeface="微软雅黑" panose="020B0503020204020204" pitchFamily="34" charset="-122"/>
                <a:ea typeface="微软雅黑" panose="020B0503020204020204" pitchFamily="34" charset="-122"/>
                <a:cs typeface="+mn-ea"/>
              </a:rPr>
              <a:t>事务问题</a:t>
            </a:r>
            <a:r>
              <a:rPr lang="zh-CN" altLang="zh-CN" sz="2000" dirty="0">
                <a:solidFill>
                  <a:srgbClr val="595959"/>
                </a:solidFill>
                <a:latin typeface="微软雅黑" panose="020B0503020204020204" pitchFamily="34" charset="-122"/>
                <a:ea typeface="微软雅黑" panose="020B0503020204020204" pitchFamily="34" charset="-122"/>
              </a:rPr>
              <a:t>，Spring框架还提供了</a:t>
            </a:r>
            <a:r>
              <a:rPr lang="zh-CN" altLang="en-US" sz="2000" dirty="0">
                <a:solidFill>
                  <a:srgbClr val="1369B2"/>
                </a:solidFill>
                <a:latin typeface="微软雅黑" panose="020B0503020204020204" pitchFamily="34" charset="-122"/>
                <a:ea typeface="微软雅黑" panose="020B0503020204020204" pitchFamily="34" charset="-122"/>
                <a:cs typeface="+mn-ea"/>
              </a:rPr>
              <a:t>事务管理功能</a:t>
            </a:r>
            <a:r>
              <a:rPr lang="zh-CN" altLang="zh-CN" sz="2000" dirty="0">
                <a:solidFill>
                  <a:srgbClr val="595959"/>
                </a:solidFill>
                <a:latin typeface="微软雅黑" panose="020B0503020204020204" pitchFamily="34" charset="-122"/>
                <a:ea typeface="微软雅黑" panose="020B0503020204020204" pitchFamily="34" charset="-122"/>
              </a:rPr>
              <a:t>。在Spring的数据库编程中，Spring JDBC模块中的</a:t>
            </a:r>
            <a:r>
              <a:rPr lang="zh-CN" altLang="en-US" sz="2000" dirty="0">
                <a:solidFill>
                  <a:srgbClr val="1369B2"/>
                </a:solidFill>
                <a:latin typeface="微软雅黑" panose="020B0503020204020204" pitchFamily="34" charset="-122"/>
                <a:ea typeface="微软雅黑" panose="020B0503020204020204" pitchFamily="34" charset="-122"/>
                <a:cs typeface="+mn-ea"/>
              </a:rPr>
              <a:t>JdbcTemplate</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Spring的事务管理</a:t>
            </a:r>
            <a:r>
              <a:rPr lang="zh-CN" altLang="zh-CN" sz="2000" dirty="0">
                <a:solidFill>
                  <a:srgbClr val="595959"/>
                </a:solidFill>
                <a:latin typeface="微软雅黑" panose="020B0503020204020204" pitchFamily="34" charset="-122"/>
                <a:ea typeface="微软雅黑" panose="020B0503020204020204" pitchFamily="34" charset="-122"/>
              </a:rPr>
              <a:t>最为常见，本章将对Spring的数据库编程中这两部分进行讲解。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1"/>
            </p:custDataLst>
          </p:nvPr>
        </p:nvSpPr>
        <p:spPr>
          <a:xfrm>
            <a:off x="1031240" y="2238375"/>
            <a:ext cx="10427335" cy="34074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2"/>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3"/>
            </p:custDataLst>
          </p:nvPr>
        </p:nvSpPr>
        <p:spPr>
          <a:xfrm rot="10800000">
            <a:off x="11135360" y="516128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370985"/>
            <a:ext cx="1192190" cy="612775"/>
            <a:chOff x="2215144" y="982844"/>
            <a:chExt cx="1244730" cy="842780"/>
          </a:xfrm>
        </p:grpSpPr>
        <p:sp>
          <p:nvSpPr>
            <p:cNvPr id="106" name="平行四边形 105"/>
            <p:cNvSpPr/>
            <p:nvPr>
              <p:custDataLst>
                <p:tags r:id="rId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2"/>
              </p:custDataLst>
            </p:nvPr>
          </p:nvSpPr>
          <p:spPr>
            <a:xfrm>
              <a:off x="2393075" y="1005670"/>
              <a:ext cx="1066799" cy="802606"/>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640074"/>
            <a:ext cx="1192190" cy="612775"/>
            <a:chOff x="2215144" y="2026500"/>
            <a:chExt cx="1244730" cy="850129"/>
          </a:xfrm>
        </p:grpSpPr>
        <p:sp>
          <p:nvSpPr>
            <p:cNvPr id="109" name="平行四边形 108"/>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362106"/>
            <a:ext cx="5496560" cy="612775"/>
            <a:chOff x="4315150" y="953426"/>
            <a:chExt cx="4122956" cy="539804"/>
          </a:xfrm>
        </p:grpSpPr>
        <p:sp>
          <p:nvSpPr>
            <p:cNvPr id="112" name="矩形 111"/>
            <p:cNvSpPr/>
            <p:nvPr>
              <p:custDataLst>
                <p:tags r:id="rId5"/>
              </p:custDataLst>
            </p:nvPr>
          </p:nvSpPr>
          <p:spPr>
            <a:xfrm>
              <a:off x="4841196" y="1036090"/>
              <a:ext cx="2827147"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JdbcTemplate</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3" name="平行四边形 112"/>
            <p:cNvSpPr/>
            <p:nvPr>
              <p:custDataLst>
                <p:tags r:id="rId6"/>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623248"/>
            <a:ext cx="5496560" cy="612775"/>
            <a:chOff x="4315150" y="1647579"/>
            <a:chExt cx="4122956" cy="539804"/>
          </a:xfrm>
        </p:grpSpPr>
        <p:sp>
          <p:nvSpPr>
            <p:cNvPr id="115" name="矩形 114"/>
            <p:cNvSpPr/>
            <p:nvPr>
              <p:custDataLst>
                <p:tags r:id="rId7"/>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Spring事务管理概述</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6" name="平行四边形 115"/>
            <p:cNvSpPr/>
            <p:nvPr>
              <p:custDataLst>
                <p:tags r:id="rId8"/>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915154"/>
            <a:ext cx="1192190" cy="612775"/>
            <a:chOff x="2215144" y="2026500"/>
            <a:chExt cx="1244730" cy="850129"/>
          </a:xfrm>
        </p:grpSpPr>
        <p:sp>
          <p:nvSpPr>
            <p:cNvPr id="118" name="平行四边形 117"/>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10"/>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898328"/>
            <a:ext cx="5496560" cy="612775"/>
            <a:chOff x="4315150" y="1647579"/>
            <a:chExt cx="4122956" cy="539804"/>
          </a:xfrm>
        </p:grpSpPr>
        <p:sp>
          <p:nvSpPr>
            <p:cNvPr id="121" name="矩形 120"/>
            <p:cNvSpPr/>
            <p:nvPr>
              <p:custDataLst>
                <p:tags r:id="rId11"/>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声明式事务管理</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2" name="平行四边形 121"/>
            <p:cNvSpPr/>
            <p:nvPr>
              <p:custDataLst>
                <p:tags r:id="rId1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JdbcTemplate</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964055"/>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Spring框架中的</a:t>
            </a:r>
            <a:r>
              <a:rPr lang="zh-CN" altLang="en-US" sz="2000" dirty="0">
                <a:solidFill>
                  <a:srgbClr val="1369B2"/>
                </a:solidFill>
                <a:latin typeface="微软雅黑" panose="020B0503020204020204" pitchFamily="34" charset="-122"/>
                <a:ea typeface="微软雅黑" panose="020B0503020204020204" pitchFamily="34" charset="-122"/>
                <a:cs typeface="+mn-ea"/>
              </a:rPr>
              <a:t>Spring JDBC模块</a:t>
            </a:r>
            <a:r>
              <a:rPr lang="zh-CN" altLang="zh-CN" sz="2000" dirty="0">
                <a:solidFill>
                  <a:srgbClr val="595959"/>
                </a:solidFill>
                <a:latin typeface="微软雅黑" panose="020B0503020204020204" pitchFamily="34" charset="-122"/>
                <a:ea typeface="微软雅黑" panose="020B0503020204020204" pitchFamily="34" charset="-122"/>
              </a:rPr>
              <a:t>对</a:t>
            </a:r>
            <a:r>
              <a:rPr lang="zh-CN" altLang="en-US" sz="2000" dirty="0">
                <a:solidFill>
                  <a:srgbClr val="1369B2"/>
                </a:solidFill>
                <a:latin typeface="微软雅黑" panose="020B0503020204020204" pitchFamily="34" charset="-122"/>
                <a:ea typeface="微软雅黑" panose="020B0503020204020204" pitchFamily="34" charset="-122"/>
                <a:cs typeface="+mn-ea"/>
              </a:rPr>
              <a:t>JDBC API</a:t>
            </a:r>
            <a:r>
              <a:rPr lang="zh-CN" altLang="zh-CN" sz="2000" dirty="0">
                <a:solidFill>
                  <a:srgbClr val="595959"/>
                </a:solidFill>
                <a:latin typeface="微软雅黑" panose="020B0503020204020204" pitchFamily="34" charset="-122"/>
                <a:ea typeface="微软雅黑" panose="020B0503020204020204" pitchFamily="34" charset="-122"/>
              </a:rPr>
              <a:t>进行了</a:t>
            </a:r>
            <a:r>
              <a:rPr lang="zh-CN" altLang="en-US" sz="2000" dirty="0">
                <a:solidFill>
                  <a:srgbClr val="1369B2"/>
                </a:solidFill>
                <a:latin typeface="微软雅黑" panose="020B0503020204020204" pitchFamily="34" charset="-122"/>
                <a:ea typeface="微软雅黑" panose="020B0503020204020204" pitchFamily="34" charset="-122"/>
                <a:cs typeface="+mn-ea"/>
              </a:rPr>
              <a:t>封装</a:t>
            </a:r>
            <a:r>
              <a:rPr lang="zh-CN" altLang="zh-CN" sz="2000" dirty="0">
                <a:solidFill>
                  <a:srgbClr val="595959"/>
                </a:solidFill>
                <a:latin typeface="微软雅黑" panose="020B0503020204020204" pitchFamily="34" charset="-122"/>
                <a:ea typeface="微软雅黑" panose="020B0503020204020204" pitchFamily="34" charset="-122"/>
              </a:rPr>
              <a:t>，主要目的是</a:t>
            </a:r>
            <a:r>
              <a:rPr lang="zh-CN" altLang="en-US" sz="2000" dirty="0">
                <a:solidFill>
                  <a:srgbClr val="1369B2"/>
                </a:solidFill>
                <a:latin typeface="微软雅黑" panose="020B0503020204020204" pitchFamily="34" charset="-122"/>
                <a:ea typeface="微软雅黑" panose="020B0503020204020204" pitchFamily="34" charset="-122"/>
                <a:cs typeface="+mn-ea"/>
              </a:rPr>
              <a:t>降低</a:t>
            </a:r>
            <a:r>
              <a:rPr lang="zh-CN" altLang="zh-CN" sz="2000" dirty="0">
                <a:solidFill>
                  <a:srgbClr val="595959"/>
                </a:solidFill>
                <a:latin typeface="微软雅黑" panose="020B0503020204020204" pitchFamily="34" charset="-122"/>
                <a:ea typeface="微软雅黑" panose="020B0503020204020204" pitchFamily="34" charset="-122"/>
              </a:rPr>
              <a:t>JDBC API的使用</a:t>
            </a:r>
            <a:r>
              <a:rPr lang="zh-CN" altLang="en-US" sz="2000" dirty="0">
                <a:solidFill>
                  <a:srgbClr val="1369B2"/>
                </a:solidFill>
                <a:latin typeface="微软雅黑" panose="020B0503020204020204" pitchFamily="34" charset="-122"/>
                <a:ea typeface="微软雅黑" panose="020B0503020204020204" pitchFamily="34" charset="-122"/>
                <a:cs typeface="+mn-ea"/>
              </a:rPr>
              <a:t>难度</a:t>
            </a:r>
            <a:r>
              <a:rPr lang="zh-CN" altLang="zh-CN" sz="2000" dirty="0">
                <a:solidFill>
                  <a:srgbClr val="595959"/>
                </a:solidFill>
                <a:latin typeface="微软雅黑" panose="020B0503020204020204" pitchFamily="34" charset="-122"/>
                <a:ea typeface="微软雅黑" panose="020B0503020204020204" pitchFamily="34" charset="-122"/>
              </a:rPr>
              <a:t>，以一种更直接、更简洁的方式使用JDBC API。使用Spring JDBC，开发人员只需</a:t>
            </a:r>
            <a:r>
              <a:rPr lang="zh-CN" altLang="en-US" sz="2000" dirty="0">
                <a:solidFill>
                  <a:srgbClr val="1369B2"/>
                </a:solidFill>
                <a:latin typeface="微软雅黑" panose="020B0503020204020204" pitchFamily="34" charset="-122"/>
                <a:ea typeface="微软雅黑" panose="020B0503020204020204" pitchFamily="34" charset="-122"/>
                <a:cs typeface="+mn-ea"/>
              </a:rPr>
              <a:t>定义</a:t>
            </a:r>
            <a:r>
              <a:rPr lang="zh-CN" altLang="zh-CN" sz="2000" dirty="0">
                <a:solidFill>
                  <a:srgbClr val="595959"/>
                </a:solidFill>
                <a:latin typeface="微软雅黑" panose="020B0503020204020204" pitchFamily="34" charset="-122"/>
                <a:ea typeface="微软雅黑" panose="020B0503020204020204" pitchFamily="34" charset="-122"/>
              </a:rPr>
              <a:t>必要的</a:t>
            </a:r>
            <a:r>
              <a:rPr lang="zh-CN" altLang="en-US" sz="2000" dirty="0">
                <a:solidFill>
                  <a:srgbClr val="1369B2"/>
                </a:solidFill>
                <a:latin typeface="微软雅黑" panose="020B0503020204020204" pitchFamily="34" charset="-122"/>
                <a:ea typeface="微软雅黑" panose="020B0503020204020204" pitchFamily="34" charset="-122"/>
                <a:cs typeface="+mn-ea"/>
              </a:rPr>
              <a:t>参数</a:t>
            </a:r>
            <a:r>
              <a:rPr lang="zh-CN" altLang="zh-CN" sz="2000" dirty="0">
                <a:solidFill>
                  <a:srgbClr val="595959"/>
                </a:solidFill>
                <a:latin typeface="微软雅黑" panose="020B0503020204020204" pitchFamily="34" charset="-122"/>
                <a:ea typeface="微软雅黑" panose="020B0503020204020204" pitchFamily="34" charset="-122"/>
              </a:rPr>
              <a:t>，指定需要执行的SQL语句，就可以</a:t>
            </a:r>
            <a:r>
              <a:rPr lang="zh-CN" altLang="en-US" sz="2000" dirty="0">
                <a:solidFill>
                  <a:srgbClr val="1369B2"/>
                </a:solidFill>
                <a:latin typeface="微软雅黑" panose="020B0503020204020204" pitchFamily="34" charset="-122"/>
                <a:ea typeface="微软雅黑" panose="020B0503020204020204" pitchFamily="34" charset="-122"/>
                <a:cs typeface="+mn-ea"/>
              </a:rPr>
              <a:t>轻松</a:t>
            </a:r>
            <a:r>
              <a:rPr lang="zh-CN" altLang="zh-CN" sz="2000" dirty="0">
                <a:solidFill>
                  <a:srgbClr val="595959"/>
                </a:solidFill>
                <a:latin typeface="微软雅黑" panose="020B0503020204020204" pitchFamily="34" charset="-122"/>
                <a:ea typeface="微软雅黑" panose="020B0503020204020204" pitchFamily="34" charset="-122"/>
              </a:rPr>
              <a:t>地进行JDBC编程。</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同时，</a:t>
            </a:r>
            <a:r>
              <a:rPr lang="zh-CN" altLang="en-US" sz="2000" dirty="0">
                <a:solidFill>
                  <a:srgbClr val="1369B2"/>
                </a:solidFill>
                <a:latin typeface="微软雅黑" panose="020B0503020204020204" pitchFamily="34" charset="-122"/>
                <a:ea typeface="微软雅黑" panose="020B0503020204020204" pitchFamily="34" charset="-122"/>
                <a:cs typeface="+mn-ea"/>
              </a:rPr>
              <a:t>Spring JDBC</a:t>
            </a:r>
            <a:r>
              <a:rPr lang="zh-CN" altLang="zh-CN" sz="2000" dirty="0">
                <a:solidFill>
                  <a:srgbClr val="595959"/>
                </a:solidFill>
                <a:latin typeface="微软雅黑" panose="020B0503020204020204" pitchFamily="34" charset="-122"/>
                <a:ea typeface="微软雅黑" panose="020B0503020204020204" pitchFamily="34" charset="-122"/>
              </a:rPr>
              <a:t>能够负责驱动的加载、数据库连接的开启与关闭、SQL语句的创建与执行、异常处理以及事务</a:t>
            </a:r>
            <a:r>
              <a:rPr lang="zh-CN" altLang="en-US" sz="2000" dirty="0">
                <a:solidFill>
                  <a:srgbClr val="1369B2"/>
                </a:solidFill>
                <a:latin typeface="微软雅黑" panose="020B0503020204020204" pitchFamily="34" charset="-122"/>
                <a:ea typeface="微软雅黑" panose="020B0503020204020204" pitchFamily="34" charset="-122"/>
                <a:cs typeface="+mn-ea"/>
              </a:rPr>
              <a:t>处理</a:t>
            </a:r>
            <a:r>
              <a:rPr lang="zh-CN" altLang="zh-CN" sz="2000" dirty="0">
                <a:solidFill>
                  <a:srgbClr val="595959"/>
                </a:solidFill>
                <a:latin typeface="微软雅黑" panose="020B0503020204020204" pitchFamily="34" charset="-122"/>
                <a:ea typeface="微软雅黑" panose="020B0503020204020204" pitchFamily="34" charset="-122"/>
              </a:rPr>
              <a:t>等</a:t>
            </a:r>
            <a:r>
              <a:rPr lang="zh-CN" altLang="en-US" sz="2000" dirty="0">
                <a:solidFill>
                  <a:srgbClr val="1369B2"/>
                </a:solidFill>
                <a:latin typeface="微软雅黑" panose="020B0503020204020204" pitchFamily="34" charset="-122"/>
                <a:ea typeface="微软雅黑" panose="020B0503020204020204" pitchFamily="34" charset="-122"/>
                <a:cs typeface="+mn-ea"/>
              </a:rPr>
              <a:t>烦琐的工作</a:t>
            </a:r>
            <a:r>
              <a:rPr lang="zh-CN" altLang="zh-CN" sz="2000" dirty="0">
                <a:solidFill>
                  <a:srgbClr val="595959"/>
                </a:solidFill>
                <a:latin typeface="微软雅黑" panose="020B0503020204020204" pitchFamily="34" charset="-122"/>
                <a:ea typeface="微软雅黑" panose="020B0503020204020204" pitchFamily="34" charset="-122"/>
              </a:rPr>
              <a:t>，这样</a:t>
            </a:r>
            <a:r>
              <a:rPr lang="zh-CN" altLang="en-US" sz="2000" dirty="0">
                <a:solidFill>
                  <a:srgbClr val="1369B2"/>
                </a:solidFill>
                <a:latin typeface="微软雅黑" panose="020B0503020204020204" pitchFamily="34" charset="-122"/>
                <a:ea typeface="微软雅黑" panose="020B0503020204020204" pitchFamily="34" charset="-122"/>
                <a:cs typeface="+mn-ea"/>
              </a:rPr>
              <a:t>开发人员</a:t>
            </a:r>
            <a:r>
              <a:rPr lang="zh-CN" altLang="zh-CN" sz="2000" dirty="0">
                <a:solidFill>
                  <a:srgbClr val="595959"/>
                </a:solidFill>
                <a:latin typeface="微软雅黑" panose="020B0503020204020204" pitchFamily="34" charset="-122"/>
                <a:ea typeface="微软雅黑" panose="020B0503020204020204" pitchFamily="34" charset="-122"/>
              </a:rPr>
              <a:t>就能够从</a:t>
            </a:r>
            <a:r>
              <a:rPr lang="zh-CN" altLang="zh-CN" sz="2000" dirty="0">
                <a:solidFill>
                  <a:srgbClr val="595959"/>
                </a:solidFill>
                <a:latin typeface="微软雅黑" panose="020B0503020204020204" pitchFamily="34" charset="-122"/>
                <a:ea typeface="微软雅黑" panose="020B0503020204020204" pitchFamily="34" charset="-122"/>
                <a:sym typeface="+mn-ea"/>
              </a:rPr>
              <a:t>烦琐</a:t>
            </a:r>
            <a:r>
              <a:rPr lang="zh-CN" altLang="zh-CN" sz="2000" dirty="0">
                <a:solidFill>
                  <a:srgbClr val="595959"/>
                </a:solidFill>
                <a:latin typeface="微软雅黑" panose="020B0503020204020204" pitchFamily="34" charset="-122"/>
                <a:ea typeface="微软雅黑" panose="020B0503020204020204" pitchFamily="34" charset="-122"/>
              </a:rPr>
              <a:t>的JDBC API中</a:t>
            </a:r>
            <a:r>
              <a:rPr lang="zh-CN" altLang="en-US" sz="2000" dirty="0">
                <a:solidFill>
                  <a:srgbClr val="1369B2"/>
                </a:solidFill>
                <a:latin typeface="微软雅黑" panose="020B0503020204020204" pitchFamily="34" charset="-122"/>
                <a:ea typeface="微软雅黑" panose="020B0503020204020204" pitchFamily="34" charset="-122"/>
                <a:cs typeface="+mn-ea"/>
              </a:rPr>
              <a:t>解脱</a:t>
            </a:r>
            <a:r>
              <a:rPr lang="zh-CN" altLang="zh-CN" sz="2000" dirty="0">
                <a:solidFill>
                  <a:srgbClr val="595959"/>
                </a:solidFill>
                <a:latin typeface="微软雅黑" panose="020B0503020204020204" pitchFamily="34" charset="-122"/>
                <a:ea typeface="微软雅黑" panose="020B0503020204020204" pitchFamily="34" charset="-122"/>
              </a:rPr>
              <a:t>出来，有更多的精力</a:t>
            </a:r>
            <a:r>
              <a:rPr lang="zh-CN" altLang="en-US" sz="2000" dirty="0">
                <a:solidFill>
                  <a:srgbClr val="1369B2"/>
                </a:solidFill>
                <a:latin typeface="微软雅黑" panose="020B0503020204020204" pitchFamily="34" charset="-122"/>
                <a:ea typeface="微软雅黑" panose="020B0503020204020204" pitchFamily="34" charset="-122"/>
                <a:cs typeface="+mn-ea"/>
              </a:rPr>
              <a:t>专注于业务的开发</a:t>
            </a:r>
            <a:r>
              <a:rPr lang="zh-CN" altLang="zh-CN" sz="2000" dirty="0">
                <a:solidFill>
                  <a:srgbClr val="595959"/>
                </a:solidFill>
                <a:latin typeface="微软雅黑" panose="020B0503020204020204" pitchFamily="34" charset="-122"/>
                <a:ea typeface="微软雅黑" panose="020B0503020204020204" pitchFamily="34" charset="-122"/>
              </a:rPr>
              <a:t>。为了简化JDBC的开发，Spring JDBC提供了多个实用的数据库访问工具，其中最常用的就是</a:t>
            </a:r>
            <a:r>
              <a:rPr lang="zh-CN" altLang="en-US" sz="2000" dirty="0">
                <a:solidFill>
                  <a:srgbClr val="1369B2"/>
                </a:solidFill>
                <a:latin typeface="微软雅黑" panose="020B0503020204020204" pitchFamily="34" charset="-122"/>
                <a:ea typeface="微软雅黑" panose="020B0503020204020204" pitchFamily="34" charset="-122"/>
                <a:cs typeface="+mn-ea"/>
              </a:rPr>
              <a:t>JdbcTemplate</a:t>
            </a:r>
            <a:r>
              <a:rPr lang="zh-CN" altLang="zh-CN" sz="2000" dirty="0">
                <a:solidFill>
                  <a:srgbClr val="595959"/>
                </a:solidFill>
                <a:latin typeface="微软雅黑" panose="020B0503020204020204" pitchFamily="34" charset="-122"/>
                <a:ea typeface="微软雅黑" panose="020B0503020204020204" pitchFamily="34" charset="-122"/>
              </a:rPr>
              <a:t>。下面对JdbcTemplate的进行讲解。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圆角矩形 1"/>
          <p:cNvSpPr/>
          <p:nvPr>
            <p:custDataLst>
              <p:tags r:id="rId2"/>
            </p:custDataLst>
          </p:nvPr>
        </p:nvSpPr>
        <p:spPr>
          <a:xfrm>
            <a:off x="1031240" y="1736090"/>
            <a:ext cx="10427335" cy="40455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16764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530479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JdbcTemplate概述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的相关概念，能够简述</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作用</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JdbcTemplate概述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50739" y="1470186"/>
            <a:ext cx="10713355" cy="4570819"/>
            <a:chOff x="627123" y="2435096"/>
            <a:chExt cx="10756739" cy="3471772"/>
          </a:xfrm>
        </p:grpSpPr>
        <p:sp>
          <p:nvSpPr>
            <p:cNvPr id="4" name="MH_Other_1"/>
            <p:cNvSpPr/>
            <p:nvPr>
              <p:custDataLst>
                <p:tags r:id="rId2"/>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5" name="MH_SubTitle_4"/>
            <p:cNvSpPr txBox="1">
              <a:spLocks noChangeArrowheads="1"/>
            </p:cNvSpPr>
            <p:nvPr>
              <p:custDataLst>
                <p:tags r:id="rId3"/>
              </p:custDataLst>
            </p:nvPr>
          </p:nvSpPr>
          <p:spPr bwMode="auto">
            <a:xfrm>
              <a:off x="8500631" y="243509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object（对象包）</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6" name="MH_Text_4"/>
            <p:cNvSpPr txBox="1"/>
            <p:nvPr>
              <p:custDataLst>
                <p:tags r:id="rId4"/>
              </p:custDataLst>
            </p:nvPr>
          </p:nvSpPr>
          <p:spPr>
            <a:xfrm>
              <a:off x="8500631" y="3180500"/>
              <a:ext cx="2883231" cy="1005120"/>
            </a:xfrm>
            <a:prstGeom prst="rect">
              <a:avLst/>
            </a:prstGeom>
            <a:noFill/>
          </p:spPr>
          <p:txBody>
            <a:bodyPr lIns="0" tIns="0" rIns="0" bIns="0">
              <a:noAutofit/>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包含了与对象映射相关的类和接口</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7" name="MH_Other_2"/>
            <p:cNvSpPr/>
            <p:nvPr>
              <p:custDataLst>
                <p:tags r:id="rId5"/>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8" name="MH_SubTitle_1"/>
            <p:cNvSpPr txBox="1">
              <a:spLocks noChangeArrowheads="1"/>
            </p:cNvSpPr>
            <p:nvPr>
              <p:custDataLst>
                <p:tags r:id="rId6"/>
              </p:custDataLst>
            </p:nvPr>
          </p:nvSpPr>
          <p:spPr bwMode="auto">
            <a:xfrm flipH="1">
              <a:off x="1054375" y="2435097"/>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core（核心包）</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9" name="MH_Text_1"/>
            <p:cNvSpPr txBox="1"/>
            <p:nvPr>
              <p:custDataLst>
                <p:tags r:id="rId7"/>
              </p:custDataLst>
            </p:nvPr>
          </p:nvSpPr>
          <p:spPr>
            <a:xfrm flipH="1">
              <a:off x="627126" y="3180500"/>
              <a:ext cx="3093356" cy="1005120"/>
            </a:xfrm>
            <a:prstGeom prst="rect">
              <a:avLst/>
            </a:prstGeom>
            <a:noFill/>
          </p:spPr>
          <p:txBody>
            <a:bodyPr lIns="0" tIns="0" rIns="0" bIns="0"/>
            <a:lstStyle/>
            <a:p>
              <a:pPr marL="0" marR="0" lvl="0" algn="l" defTabSz="1219200" rtl="0" fontAlgn="auto">
                <a:lnSpc>
                  <a:spcPct val="130000"/>
                </a:lnSpc>
                <a:spcBef>
                  <a:spcPts val="0"/>
                </a:spcBef>
                <a:spcAft>
                  <a:spcPts val="0"/>
                </a:spcAft>
                <a:buClrTx/>
                <a:buSzTx/>
                <a:buFontTx/>
                <a:buNone/>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包含Spring JDBC的核心类和接口，其中最重要的是JdbcTemplate类</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10" name="MH_Other_3"/>
            <p:cNvSpPr/>
            <p:nvPr>
              <p:custDataLst>
                <p:tags r:id="rId8"/>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1" name="MH_Other_4"/>
            <p:cNvSpPr/>
            <p:nvPr>
              <p:custDataLst>
                <p:tags r:id="rId9"/>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Other_5"/>
            <p:cNvSpPr/>
            <p:nvPr>
              <p:custDataLst>
                <p:tags r:id="rId10"/>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3" name="MH_Other_6"/>
            <p:cNvSpPr/>
            <p:nvPr>
              <p:custDataLst>
                <p:tags r:id="rId11"/>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4" name="MH_Other_7"/>
            <p:cNvSpPr/>
            <p:nvPr>
              <p:custDataLst>
                <p:tags r:id="rId12"/>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8"/>
            <p:cNvSpPr/>
            <p:nvPr>
              <p:custDataLst>
                <p:tags r:id="rId13"/>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6" name="MH_SubTitle_3"/>
            <p:cNvSpPr txBox="1">
              <a:spLocks noChangeArrowheads="1"/>
            </p:cNvSpPr>
            <p:nvPr>
              <p:custDataLst>
                <p:tags r:id="rId14"/>
              </p:custDataLst>
            </p:nvPr>
          </p:nvSpPr>
          <p:spPr bwMode="auto">
            <a:xfrm>
              <a:off x="8500631"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support（支持包）</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7" name="MH_Text_3"/>
            <p:cNvSpPr txBox="1"/>
            <p:nvPr>
              <p:custDataLst>
                <p:tags r:id="rId15"/>
              </p:custDataLst>
            </p:nvPr>
          </p:nvSpPr>
          <p:spPr>
            <a:xfrm>
              <a:off x="8500631" y="4900160"/>
              <a:ext cx="2883231" cy="1006708"/>
            </a:xfrm>
            <a:prstGeom prst="rect">
              <a:avLst/>
            </a:prstGeom>
            <a:noFill/>
          </p:spPr>
          <p:txBody>
            <a:bodyPr lIns="0" tIns="0" rIns="0" bIns="0">
              <a:noAutofit/>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包含了一些额外的支持类和工具类，可以提供更便利的数据库操作</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18" name="MH_SubTitle_2"/>
            <p:cNvSpPr txBox="1">
              <a:spLocks noChangeArrowheads="1"/>
            </p:cNvSpPr>
            <p:nvPr>
              <p:custDataLst>
                <p:tags r:id="rId16"/>
              </p:custDataLst>
            </p:nvPr>
          </p:nvSpPr>
          <p:spPr bwMode="auto">
            <a:xfrm flipH="1">
              <a:off x="853461" y="4156479"/>
              <a:ext cx="2872897" cy="642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dataSource（数据源包）</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9" name="MH_Text_2"/>
            <p:cNvSpPr txBox="1"/>
            <p:nvPr>
              <p:custDataLst>
                <p:tags r:id="rId17"/>
              </p:custDataLst>
            </p:nvPr>
          </p:nvSpPr>
          <p:spPr>
            <a:xfrm flipH="1">
              <a:off x="627123" y="4900160"/>
              <a:ext cx="3093357" cy="1006708"/>
            </a:xfrm>
            <a:prstGeom prst="rect">
              <a:avLst/>
            </a:prstGeom>
            <a:noFill/>
          </p:spPr>
          <p:txBody>
            <a:bodyPr lIns="0" tIns="0" rIns="0" bIns="0">
              <a:noAutofit/>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包含与数据源相关的类和接口，用于配置和管理数据库连接</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grpSp>
      <p:sp>
        <p:nvSpPr>
          <p:cNvPr id="2" name="MH_SubTitle_1"/>
          <p:cNvSpPr txBox="1">
            <a:spLocks noChangeArrowheads="1"/>
          </p:cNvSpPr>
          <p:nvPr>
            <p:custDataLst>
              <p:tags r:id="rId18"/>
            </p:custDataLst>
          </p:nvPr>
        </p:nvSpPr>
        <p:spPr bwMode="auto">
          <a:xfrm flipH="1">
            <a:off x="5303520" y="2818130"/>
            <a:ext cx="1689735" cy="84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Spring JDBC模块主要的包</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JdbcTemplate概述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9" name="TextBox 38"/>
          <p:cNvSpPr txBox="1"/>
          <p:nvPr>
            <p:custDataLst>
              <p:tags r:id="rId2"/>
            </p:custDataLst>
          </p:nvPr>
        </p:nvSpPr>
        <p:spPr>
          <a:xfrm>
            <a:off x="1015365" y="1056005"/>
            <a:ext cx="10306050" cy="1102360"/>
          </a:xfrm>
          <a:prstGeom prst="rect">
            <a:avLst/>
          </a:prstGeom>
          <a:noFill/>
        </p:spPr>
        <p:txBody>
          <a:bodyPr wrap="square" lIns="0" tIns="0" rIns="0" bIns="0" rtlCol="0">
            <a:noAutofit/>
          </a:bodyPr>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JdbcTemplate</a:t>
            </a:r>
            <a:r>
              <a:rPr lang="en-US" altLang="zh-CN" sz="2000" dirty="0" err="1">
                <a:solidFill>
                  <a:srgbClr val="595959"/>
                </a:solidFill>
                <a:latin typeface="微软雅黑" panose="020B0503020204020204" pitchFamily="34" charset="-122"/>
                <a:ea typeface="微软雅黑" panose="020B0503020204020204" pitchFamily="34" charset="-122"/>
                <a:sym typeface="+mn-lt"/>
              </a:rPr>
              <a:t>提供了丰富的方法来支持</a:t>
            </a:r>
            <a:r>
              <a:rPr sz="2000" dirty="0">
                <a:solidFill>
                  <a:schemeClr val="accent1"/>
                </a:solidFill>
                <a:latin typeface="微软雅黑" panose="020B0503020204020204" pitchFamily="34" charset="-122"/>
                <a:ea typeface="微软雅黑" panose="020B0503020204020204" pitchFamily="34" charset="-122"/>
                <a:cs typeface="+mn-ea"/>
                <a:sym typeface="+mn-lt"/>
              </a:rPr>
              <a:t>数据库操作</a:t>
            </a:r>
            <a:r>
              <a:rPr lang="en-US" altLang="zh-CN" sz="2000" dirty="0" err="1">
                <a:solidFill>
                  <a:srgbClr val="595959"/>
                </a:solidFill>
                <a:latin typeface="微软雅黑" panose="020B0503020204020204" pitchFamily="34" charset="-122"/>
                <a:ea typeface="微软雅黑" panose="020B0503020204020204" pitchFamily="34" charset="-122"/>
                <a:sym typeface="+mn-lt"/>
              </a:rPr>
              <a:t>，包括</a:t>
            </a:r>
            <a:r>
              <a:rPr sz="2000" dirty="0">
                <a:solidFill>
                  <a:schemeClr val="accent1"/>
                </a:solidFill>
                <a:latin typeface="微软雅黑" panose="020B0503020204020204" pitchFamily="34" charset="-122"/>
                <a:ea typeface="微软雅黑" panose="020B0503020204020204" pitchFamily="34" charset="-122"/>
                <a:cs typeface="+mn-ea"/>
                <a:sym typeface="+mn-lt"/>
              </a:rPr>
              <a:t>插入、查询、更新和删除</a:t>
            </a:r>
            <a:r>
              <a:rPr lang="en-US" altLang="zh-CN" sz="2000" dirty="0" err="1">
                <a:solidFill>
                  <a:srgbClr val="595959"/>
                </a:solidFill>
                <a:latin typeface="微软雅黑" panose="020B0503020204020204" pitchFamily="34" charset="-122"/>
                <a:ea typeface="微软雅黑" panose="020B0503020204020204" pitchFamily="34" charset="-122"/>
                <a:sym typeface="+mn-lt"/>
              </a:rPr>
              <a:t>，并可以通过参数传递来设置SQL语句中的占位符。JdbcTemplate常见的数据库操作方法如</a:t>
            </a:r>
            <a:r>
              <a:rPr lang="zh-CN" altLang="en-US" sz="2000" dirty="0" err="1">
                <a:solidFill>
                  <a:srgbClr val="595959"/>
                </a:solidFill>
                <a:latin typeface="微软雅黑" panose="020B0503020204020204" pitchFamily="34" charset="-122"/>
                <a:ea typeface="微软雅黑" panose="020B0503020204020204" pitchFamily="34" charset="-122"/>
                <a:sym typeface="+mn-lt"/>
              </a:rPr>
              <a:t>下。</a:t>
            </a:r>
            <a:endParaRPr lang="zh-CN" altLang="en-US" sz="2000" dirty="0" err="1">
              <a:solidFill>
                <a:srgbClr val="595959"/>
              </a:solidFill>
              <a:latin typeface="微软雅黑" panose="020B0503020204020204" pitchFamily="34" charset="-122"/>
              <a:ea typeface="微软雅黑" panose="020B0503020204020204" pitchFamily="34" charset="-122"/>
              <a:sym typeface="+mn-lt"/>
            </a:endParaRPr>
          </a:p>
        </p:txBody>
      </p:sp>
      <p:graphicFrame>
        <p:nvGraphicFramePr>
          <p:cNvPr id="2" name="表格 1"/>
          <p:cNvGraphicFramePr/>
          <p:nvPr>
            <p:custDataLst>
              <p:tags r:id="rId3"/>
            </p:custDataLst>
          </p:nvPr>
        </p:nvGraphicFramePr>
        <p:xfrm>
          <a:off x="920432" y="1991995"/>
          <a:ext cx="10590530" cy="4817110"/>
        </p:xfrm>
        <a:graphic>
          <a:graphicData uri="http://schemas.openxmlformats.org/drawingml/2006/table">
            <a:tbl>
              <a:tblPr/>
              <a:tblGrid>
                <a:gridCol w="4954270"/>
                <a:gridCol w="5636260"/>
              </a:tblGrid>
              <a:tr h="47371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68680">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update(String sql)</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用于执行给定的SQL语句，并返回受影响的行数。通常用于执行INSERT、UPDATE和DELETE等操作</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update(String sql, Object... args)</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用于执行给定的SQL语句，并返回受影响的行数。args参数是一个可变长度的数组，用于传递SQL语句中的参数值</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batchUpdate(String sql, </a:t>
                      </a:r>
                      <a:endParaRPr lang="en-US" altLang="zh-CN" sz="19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     List&lt;Object[]&gt; batchArgs)</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用于执行给定的SQL，并返回每个SQL语句执行影响的行数。batchArgs是一个参数数组的列表，列表中的每个数组对应一条SQL语句的参数值</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JdbcTemplate概述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2"/>
            </p:custDataLst>
          </p:nvPr>
        </p:nvGraphicFramePr>
        <p:xfrm>
          <a:off x="976312" y="1472565"/>
          <a:ext cx="10534015" cy="3935095"/>
        </p:xfrm>
        <a:graphic>
          <a:graphicData uri="http://schemas.openxmlformats.org/drawingml/2006/table">
            <a:tbl>
              <a:tblPr/>
              <a:tblGrid>
                <a:gridCol w="5151755"/>
                <a:gridCol w="5382260"/>
              </a:tblGrid>
              <a:tr h="460375">
                <a:tc>
                  <a:txBody>
                    <a:bodyPr/>
                    <a:p>
                      <a:pPr indent="0" algn="ctr">
                        <a:buNone/>
                      </a:pPr>
                      <a:r>
                        <a:rPr lang="en-US" sz="2000" b="1">
                          <a:latin typeface="微软雅黑" panose="020B0503020204020204" pitchFamily="34" charset="-122"/>
                          <a:ea typeface="微软雅黑" panose="020B0503020204020204" pitchFamily="34" charset="-122"/>
                          <a:cs typeface="宋体" pitchFamily="2" charset="-122"/>
                        </a:rPr>
                        <a:t>方法</a:t>
                      </a:r>
                      <a:endParaRPr lang="en-US" altLang="en-US" sz="20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2000" b="1">
                          <a:latin typeface="微软雅黑" panose="020B0503020204020204" pitchFamily="34" charset="-122"/>
                          <a:ea typeface="微软雅黑" panose="020B0503020204020204" pitchFamily="34" charset="-122"/>
                          <a:cs typeface="宋体" pitchFamily="2" charset="-122"/>
                        </a:rPr>
                        <a:t>说明</a:t>
                      </a:r>
                      <a:endParaRPr lang="en-US" altLang="en-US" sz="20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List&lt;T&gt; query(String sql, RowMapper&lt;T&gt; rowMapper)</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用于执行给定的SQL语句，并使用提供的RowMapper将每行的结果映射为对象</a:t>
                      </a:r>
                      <a:endParaRPr lang="en-US" altLang="zh-CN" sz="19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List&lt;T&gt; query(String sql, Object[] args, RowMapper&lt;T&gt; rowMapper)</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用于执行带有参数的查询SQL语句，并使用提供的RowMapper将每行的结果映射为对象。args参数是一个可变长度的数组，用于传递SQL语句中的参数值</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6868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T queryForObject(String sql,       RowMapper&lt;T&gt; rowMapper,Object... args)</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用于执行带有参数的查询SQL语句，并通过RowMapper返回一个Object类型的单行记录 </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JdbcTemplate概述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nvPr>
        </p:nvGraphicFramePr>
        <p:xfrm>
          <a:off x="1074737" y="1504315"/>
          <a:ext cx="10450195" cy="4353560"/>
        </p:xfrm>
        <a:graphic>
          <a:graphicData uri="http://schemas.openxmlformats.org/drawingml/2006/table">
            <a:tbl>
              <a:tblPr/>
              <a:tblGrid>
                <a:gridCol w="4870450"/>
                <a:gridCol w="5579745"/>
              </a:tblGrid>
              <a:tr h="444500">
                <a:tc>
                  <a:txBody>
                    <a:bodyPr/>
                    <a:p>
                      <a:pPr indent="0" algn="ctr">
                        <a:buNone/>
                      </a:pPr>
                      <a:r>
                        <a:rPr lang="en-US" sz="1900" b="1">
                          <a:latin typeface="微软雅黑" panose="020B0503020204020204" pitchFamily="34" charset="-122"/>
                          <a:ea typeface="微软雅黑" panose="020B0503020204020204" pitchFamily="34" charset="-122"/>
                          <a:cs typeface="宋体" pitchFamily="2" charset="-122"/>
                        </a:rPr>
                        <a:t>方法</a:t>
                      </a:r>
                      <a:endParaRPr lang="en-US" altLang="en-US" sz="19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900" b="1">
                          <a:latin typeface="微软雅黑" panose="020B0503020204020204" pitchFamily="34" charset="-122"/>
                          <a:ea typeface="微软雅黑" panose="020B0503020204020204" pitchFamily="34" charset="-122"/>
                          <a:cs typeface="宋体" pitchFamily="2" charset="-122"/>
                        </a:rPr>
                        <a:t>说明</a:t>
                      </a:r>
                      <a:endParaRPr lang="en-US" altLang="en-US" sz="19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Map&lt;String, Object&gt; queryForMap(String sql, Object... args)</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用于执行带有参数的查询SQL语句，并将单行结果映射为一个Map对象。args参数是一个可变长度的数组，用于传递SQL语句中的参数值</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List&lt;T&gt; queryForList(String sql, Class&lt;T&gt; elementType, Object... args)</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用于执行带有参数的查询SQL语句，并将多行结果映射为一个List对象。elementType参数用于指定查询结果被映射的类型，args参数是一个可变长度的数组，用于传递SQL语句中的参数值</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 void execute(String sql)</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用于执行任意的SQL语句，不返回任何结果。通常用于执行DDL语句或者不需要返回结果的SQL操作</a:t>
                      </a:r>
                      <a:endParaRPr lang="en-US" altLang="zh-CN" sz="19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JdbcTemplate的增删改查操作</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3" name="直接连接符 41"/>
          <p:cNvCxnSpPr/>
          <p:nvPr>
            <p:custDataLst>
              <p:tags r:id="rId1"/>
            </p:custDataLst>
          </p:nvPr>
        </p:nvCxnSpPr>
        <p:spPr>
          <a:xfrm flipH="1">
            <a:off x="3689671" y="206702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42"/>
          <p:cNvCxnSpPr/>
          <p:nvPr>
            <p:custDataLst>
              <p:tags r:id="rId2"/>
            </p:custDataLst>
          </p:nvPr>
        </p:nvCxnSpPr>
        <p:spPr>
          <a:xfrm flipH="1">
            <a:off x="3689671" y="380780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3"/>
          <p:cNvCxnSpPr/>
          <p:nvPr>
            <p:custDataLst>
              <p:tags r:id="rId3"/>
            </p:custDataLst>
          </p:nvPr>
        </p:nvCxnSpPr>
        <p:spPr>
          <a:xfrm flipH="1">
            <a:off x="3689671" y="5520879"/>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 name="直接连接符 44"/>
          <p:cNvCxnSpPr/>
          <p:nvPr>
            <p:custDataLst>
              <p:tags r:id="rId4"/>
            </p:custDataLst>
          </p:nvPr>
        </p:nvCxnSpPr>
        <p:spPr>
          <a:xfrm>
            <a:off x="3689671" y="2067024"/>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1" name="椭圆 10"/>
          <p:cNvSpPr/>
          <p:nvPr>
            <p:custDataLst>
              <p:tags r:id="rId5"/>
            </p:custDataLst>
          </p:nvPr>
        </p:nvSpPr>
        <p:spPr>
          <a:xfrm>
            <a:off x="4883204" y="153534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6"/>
            </p:custDataLst>
          </p:nvPr>
        </p:nvSpPr>
        <p:spPr>
          <a:xfrm>
            <a:off x="4883204" y="325393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3" name="椭圆 12"/>
          <p:cNvSpPr/>
          <p:nvPr>
            <p:custDataLst>
              <p:tags r:id="rId7"/>
            </p:custDataLst>
          </p:nvPr>
        </p:nvSpPr>
        <p:spPr>
          <a:xfrm>
            <a:off x="4883204" y="494734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custDataLst>
              <p:tags r:id="rId8"/>
            </p:custDataLst>
          </p:nvPr>
        </p:nvSpPr>
        <p:spPr>
          <a:xfrm>
            <a:off x="4965817" y="3345904"/>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6"/>
          <p:cNvSpPr>
            <a:spLocks noEditPoints="1"/>
          </p:cNvSpPr>
          <p:nvPr>
            <p:custDataLst>
              <p:tags r:id="rId9"/>
            </p:custDataLst>
          </p:nvPr>
        </p:nvSpPr>
        <p:spPr bwMode="auto">
          <a:xfrm>
            <a:off x="5160853" y="356077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custDataLst>
              <p:tags r:id="rId10"/>
            </p:custDataLst>
          </p:nvPr>
        </p:nvSpPr>
        <p:spPr>
          <a:xfrm>
            <a:off x="4975178" y="162731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7" name="椭圆 16"/>
          <p:cNvSpPr/>
          <p:nvPr>
            <p:custDataLst>
              <p:tags r:id="rId11"/>
            </p:custDataLst>
          </p:nvPr>
        </p:nvSpPr>
        <p:spPr>
          <a:xfrm>
            <a:off x="4965816" y="5058980"/>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8" name="Freeform 175"/>
          <p:cNvSpPr>
            <a:spLocks noEditPoints="1"/>
          </p:cNvSpPr>
          <p:nvPr>
            <p:custDataLst>
              <p:tags r:id="rId12"/>
            </p:custDataLst>
          </p:nvPr>
        </p:nvSpPr>
        <p:spPr bwMode="auto">
          <a:xfrm>
            <a:off x="5190486" y="5185835"/>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9" name="Freeform 168"/>
          <p:cNvSpPr>
            <a:spLocks noEditPoints="1"/>
          </p:cNvSpPr>
          <p:nvPr>
            <p:custDataLst>
              <p:tags r:id="rId13"/>
            </p:custDataLst>
          </p:nvPr>
        </p:nvSpPr>
        <p:spPr bwMode="auto">
          <a:xfrm>
            <a:off x="5160852" y="175904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39" name="TextBox 33"/>
          <p:cNvSpPr txBox="1"/>
          <p:nvPr>
            <p:custDataLst>
              <p:tags r:id="rId14"/>
            </p:custDataLst>
          </p:nvPr>
        </p:nvSpPr>
        <p:spPr>
          <a:xfrm>
            <a:off x="6290996" y="2050068"/>
            <a:ext cx="4076056" cy="88455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数据源是JdbcTemplate连接数据库的桥梁，开发者需要配置一个数据源对象，并将其注入JdbcTemplate中</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文本框 9"/>
          <p:cNvSpPr txBox="1"/>
          <p:nvPr>
            <p:custDataLst>
              <p:tags r:id="rId15"/>
            </p:custDataLst>
          </p:nvPr>
        </p:nvSpPr>
        <p:spPr>
          <a:xfrm>
            <a:off x="6302445" y="1627316"/>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1.配置数据源</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Box 33"/>
          <p:cNvSpPr txBox="1"/>
          <p:nvPr>
            <p:custDataLst>
              <p:tags r:id="rId16"/>
            </p:custDataLst>
          </p:nvPr>
        </p:nvSpPr>
        <p:spPr>
          <a:xfrm>
            <a:off x="6302445" y="3791431"/>
            <a:ext cx="4076056" cy="88455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通过Spring的配置文件或注解方式，将数据源对象注入JdbcTemplate中，从而创建一个JdbcTemplate对象</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42" name="文本框 9"/>
          <p:cNvSpPr txBox="1"/>
          <p:nvPr>
            <p:custDataLst>
              <p:tags r:id="rId17"/>
            </p:custDataLst>
          </p:nvPr>
        </p:nvSpPr>
        <p:spPr>
          <a:xfrm>
            <a:off x="6313805" y="3368675"/>
            <a:ext cx="304927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2.创建JdbcTemplate对象</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TextBox 33"/>
          <p:cNvSpPr txBox="1"/>
          <p:nvPr>
            <p:custDataLst>
              <p:tags r:id="rId18"/>
            </p:custDataLst>
          </p:nvPr>
        </p:nvSpPr>
        <p:spPr>
          <a:xfrm>
            <a:off x="6313894" y="5489742"/>
            <a:ext cx="4076056" cy="88455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使用JdbcTemplate提供的各种方法，如update、query等，执行增删改查等数据库操作</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44" name="文本框 9"/>
          <p:cNvSpPr txBox="1"/>
          <p:nvPr>
            <p:custDataLst>
              <p:tags r:id="rId19"/>
            </p:custDataLst>
          </p:nvPr>
        </p:nvSpPr>
        <p:spPr>
          <a:xfrm>
            <a:off x="6325235" y="5067300"/>
            <a:ext cx="240220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3.执行数据库操作</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5" name="文本框 9"/>
          <p:cNvSpPr txBox="1"/>
          <p:nvPr>
            <p:custDataLst>
              <p:tags r:id="rId20"/>
            </p:custDataLst>
          </p:nvPr>
        </p:nvSpPr>
        <p:spPr>
          <a:xfrm>
            <a:off x="1054735" y="3391535"/>
            <a:ext cx="2356485" cy="89408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JdbcTemplate的使用的步骤</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982980" y="112522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下面通过案例对</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JdbcTemplate</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增删改查方法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的操作进行演示。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866914" y="1751689"/>
            <a:ext cx="2780020" cy="476905"/>
            <a:chOff x="852276" y="1797999"/>
            <a:chExt cx="2780020" cy="476905"/>
          </a:xfrm>
        </p:grpSpPr>
        <p:sp>
          <p:nvSpPr>
            <p:cNvPr id="3"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4"/>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1.创建项目并引入依赖</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文件4-1</a:t>
                </a:r>
                <a:endParaRPr sz="1800">
                  <a:sym typeface="+mn-ea"/>
                </a:endParaRPr>
              </a:p>
              <a:p>
                <a:pPr algn="ctr"/>
                <a:r>
                  <a:rPr sz="1800">
                    <a:sym typeface="+mn-ea"/>
                    <a:hlinkClick r:id="rId8"/>
                  </a:rPr>
                  <a:t>pom.xml</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11" name="文本框 10"/>
          <p:cNvSpPr txBox="1"/>
          <p:nvPr>
            <p:custDataLst>
              <p:tags r:id="rId14"/>
            </p:custDataLst>
          </p:nvPr>
        </p:nvSpPr>
        <p:spPr>
          <a:xfrm>
            <a:off x="993775" y="231394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在IDEA中创建名称为chapter04的Maven项目，并在项目的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pom.xml文件</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引入Spring的核心依赖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数据库和单元测试相关的依赖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，具体如文件4-1所示。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4021499" cy="546735"/>
            <a:chOff x="901662" y="1797999"/>
            <a:chExt cx="2767813" cy="54673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2767813"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2.创建数据表和配置连接数据库的信息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文件4-2</a:t>
                </a:r>
                <a:endParaRPr sz="1800">
                  <a:sym typeface="+mn-ea"/>
                </a:endParaRPr>
              </a:p>
              <a:p>
                <a:pPr algn="ctr"/>
                <a:r>
                  <a:rPr sz="1800">
                    <a:sym typeface="+mn-ea"/>
                    <a:hlinkClick r:id="rId7"/>
                  </a:rPr>
                  <a:t>account.sql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JdbcTemplate</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执行增删改查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操作</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时，需要在对应的SQL语句中指定所操作的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，在此先</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本案例所需的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数据库</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，创建数据库和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的语句如文件4-2所示。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4021499" cy="546735"/>
            <a:chOff x="901662" y="1797999"/>
            <a:chExt cx="2767813" cy="54673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2767813"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2.创建数据表和配置连接数据库的信息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文件4-3</a:t>
                </a:r>
                <a:endParaRPr sz="1800">
                  <a:sym typeface="+mn-ea"/>
                </a:endParaRPr>
              </a:p>
              <a:p>
                <a:pPr algn="ctr"/>
                <a:r>
                  <a:rPr sz="1800">
                    <a:sym typeface="+mn-ea"/>
                    <a:hlinkClick r:id="rId7"/>
                  </a:rPr>
                  <a:t>application.properties</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在chapter04的resources目录下创建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配置文件application.properties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，在该配置文件中配置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连接数据库的信息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，具体如文件4-3所示。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5793105" cy="546735"/>
            <a:chOff x="901662" y="1797999"/>
            <a:chExt cx="2997847" cy="54673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2997847"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3.创建Spring配置类并配置数据源和JdbcTemplate</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文件4-4</a:t>
                </a:r>
                <a:endParaRPr sz="1800">
                  <a:sym typeface="+mn-ea"/>
                </a:endParaRPr>
              </a:p>
              <a:p>
                <a:pPr algn="ctr"/>
                <a:r>
                  <a:rPr sz="1800">
                    <a:sym typeface="+mn-ea"/>
                    <a:hlinkClick r:id="rId7"/>
                  </a:rPr>
                  <a:t>DataSourceConfig.java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在项目中创建com.itheima.config包，在该包中创建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Spring的配置类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，在该配置类中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加载application.properties文件</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中的信息配置数据源，并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基于数据源创建JdbcTemplate对象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交由Spring管理，具体如文件4-4所示。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070224" cy="546735"/>
            <a:chOff x="901662" y="1797999"/>
            <a:chExt cx="1588796"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58879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4.创建实体类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文件4-5</a:t>
                </a:r>
                <a:endParaRPr sz="1800">
                  <a:sym typeface="+mn-ea"/>
                </a:endParaRPr>
              </a:p>
              <a:p>
                <a:pPr algn="ctr"/>
                <a:r>
                  <a:rPr sz="1800">
                    <a:sym typeface="+mn-ea"/>
                    <a:hlinkClick r:id="rId7" action="ppaction://hlinkfile"/>
                  </a:rPr>
                  <a:t>Account.java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在项目中创建com.itheima.pojo包，在该包中创建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实体类Account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，在Account类中定义id、username和balance属性，以及其对应的getter/setter方法，具体如文件4-5所示。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858895" cy="546735"/>
            <a:chOff x="901662" y="1797999"/>
            <a:chExt cx="1588796"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58879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5.创建Dao接口和对应的实现类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677343" y="4173967"/>
                <a:ext cx="370713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文件4-6</a:t>
                </a:r>
                <a:r>
                  <a:rPr lang="en-US" sz="1800">
                    <a:sym typeface="+mn-ea"/>
                  </a:rPr>
                  <a:t>   </a:t>
                </a:r>
                <a:r>
                  <a:rPr lang="en-US" sz="1800">
                    <a:sym typeface="+mn-ea"/>
                    <a:hlinkClick r:id="rId7"/>
                  </a:rPr>
                  <a:t> </a:t>
                </a:r>
                <a:r>
                  <a:rPr sz="1800">
                    <a:sym typeface="+mn-ea"/>
                    <a:hlinkClick r:id="rId7"/>
                  </a:rPr>
                  <a:t>AccountDao.java</a:t>
                </a:r>
                <a:endParaRPr sz="1800">
                  <a:sym typeface="+mn-ea"/>
                </a:endParaRPr>
              </a:p>
              <a:p>
                <a:pPr algn="ctr"/>
                <a:r>
                  <a:rPr sz="1800">
                    <a:sym typeface="+mn-ea"/>
                  </a:rPr>
                  <a:t>文件4-7</a:t>
                </a:r>
                <a:r>
                  <a:rPr lang="en-US" sz="1800">
                    <a:sym typeface="+mn-ea"/>
                  </a:rPr>
                  <a:t>   </a:t>
                </a:r>
                <a:r>
                  <a:rPr sz="1800">
                    <a:sym typeface="+mn-ea"/>
                    <a:hlinkClick r:id="rId8"/>
                  </a:rPr>
                  <a:t>AccountDaoImpl.java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11" name="文本框 10"/>
          <p:cNvSpPr txBox="1"/>
          <p:nvPr>
            <p:custDataLst>
              <p:tags r:id="rId1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在项目中创建com.itheima.dao包，在该包中创建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操作账户信息的Dao接口和接口对应的实现类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，接口中定义了对账户的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增删改查方法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，具体如文件4-6和文件4-7所示。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415539"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6.创建测试类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677343" y="4173967"/>
                <a:ext cx="370713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文件4-8</a:t>
                </a:r>
                <a:endParaRPr sz="1800">
                  <a:sym typeface="+mn-ea"/>
                </a:endParaRPr>
              </a:p>
              <a:p>
                <a:pPr algn="ctr"/>
                <a:r>
                  <a:rPr sz="1800">
                    <a:sym typeface="+mn-ea"/>
                    <a:hlinkClick r:id="rId7"/>
                  </a:rPr>
                  <a:t>JDBCTest.java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在项目的test\java目录下创建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测试类JDBCTest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注入AccountDao对象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，具体如文件4-8所示。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922020"/>
          </a:xfrm>
          <a:prstGeom prst="rect">
            <a:avLst/>
          </a:prstGeom>
          <a:noFill/>
          <a:ln w="9525">
            <a:noFill/>
          </a:ln>
        </p:spPr>
        <p:txBody>
          <a:bodyPr wrap="square">
            <a:spAutoFit/>
          </a:bodyPr>
          <a:p>
            <a:pPr algn="l">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（1）添加单个信息并查询的方法</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在JdbcTemplate类中定义测试方法</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添加单个账户信息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并根据账户id</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查询账户信息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7" name="组合 6"/>
          <p:cNvGrpSpPr/>
          <p:nvPr/>
        </p:nvGrpSpPr>
        <p:grpSpPr>
          <a:xfrm>
            <a:off x="5388978" y="337323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7"/>
                </p:custDataLst>
              </p:nvPr>
            </p:nvSpPr>
            <p:spPr>
              <a:xfrm>
                <a:off x="5677343" y="4389232"/>
                <a:ext cx="370713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8"/>
                  </a:rPr>
                  <a:t>testAddAccount()</a:t>
                </a:r>
                <a:endParaRPr sz="1800">
                  <a:sym typeface="+mn-ea"/>
                </a:endParaRPr>
              </a:p>
            </p:txBody>
          </p:sp>
          <p:sp>
            <p:nvSpPr>
              <p:cNvPr id="19" name="圆角矩形 18"/>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1"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运行testAddAccount()方法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18"/>
          <p:cNvPicPr>
            <a:picLocks noChangeAspect="1"/>
          </p:cNvPicPr>
          <p:nvPr>
            <p:custDataLst>
              <p:tags r:id="rId5"/>
            </p:custDataLst>
          </p:nvPr>
        </p:nvPicPr>
        <p:blipFill>
          <a:blip r:embed="rId6"/>
          <a:stretch>
            <a:fillRect/>
          </a:stretch>
        </p:blipFill>
        <p:spPr>
          <a:xfrm>
            <a:off x="1126173" y="2895918"/>
            <a:ext cx="10437876" cy="2149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（2）批量添加和查询方法</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在JdbcTemplate类中定义将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查询结果封装到Map和List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的测试方法，以及</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批量添加账户信息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的测试方法，具体如下所示。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7" name="组合 6"/>
          <p:cNvGrpSpPr/>
          <p:nvPr/>
        </p:nvGrpSpPr>
        <p:grpSpPr>
          <a:xfrm>
            <a:off x="5388978" y="337323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7"/>
                </p:custDataLst>
              </p:nvPr>
            </p:nvSpPr>
            <p:spPr>
              <a:xfrm>
                <a:off x="5677343" y="4389232"/>
                <a:ext cx="370713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8"/>
                  </a:rPr>
                  <a:t>批量添加和查询方法</a:t>
                </a:r>
                <a:endParaRPr sz="1800">
                  <a:sym typeface="+mn-ea"/>
                </a:endParaRPr>
              </a:p>
            </p:txBody>
          </p:sp>
          <p:sp>
            <p:nvSpPr>
              <p:cNvPr id="19" name="圆角矩形 18"/>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1"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运行testQueryAccountForMap()方法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604"/>
          <p:cNvPicPr>
            <a:picLocks noChangeAspect="1"/>
          </p:cNvPicPr>
          <p:nvPr>
            <p:custDataLst>
              <p:tags r:id="rId5"/>
            </p:custDataLst>
          </p:nvPr>
        </p:nvPicPr>
        <p:blipFill>
          <a:blip r:embed="rId6"/>
          <a:stretch>
            <a:fillRect/>
          </a:stretch>
        </p:blipFill>
        <p:spPr>
          <a:xfrm>
            <a:off x="1103313" y="2997518"/>
            <a:ext cx="10528360" cy="2131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运行testAddAccountList()方法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600"/>
          <p:cNvPicPr>
            <a:picLocks noChangeAspect="1"/>
          </p:cNvPicPr>
          <p:nvPr>
            <p:custDataLst>
              <p:tags r:id="rId5"/>
            </p:custDataLst>
          </p:nvPr>
        </p:nvPicPr>
        <p:blipFill>
          <a:blip r:embed="rId6"/>
          <a:stretch>
            <a:fillRect/>
          </a:stretch>
        </p:blipFill>
        <p:spPr>
          <a:xfrm>
            <a:off x="1103630" y="2853373"/>
            <a:ext cx="9299642" cy="24408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92202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（3）修改和删除方法</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在JdbcTemplate类中定义测试</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修改和删除账户信息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的测试方法，具体如下所示。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7" name="组合 6"/>
          <p:cNvGrpSpPr/>
          <p:nvPr/>
        </p:nvGrpSpPr>
        <p:grpSpPr>
          <a:xfrm>
            <a:off x="5388978" y="337323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7"/>
                </p:custDataLst>
              </p:nvPr>
            </p:nvSpPr>
            <p:spPr>
              <a:xfrm>
                <a:off x="5677343" y="4389232"/>
                <a:ext cx="370713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8"/>
                  </a:rPr>
                  <a:t>修改和删除方法</a:t>
                </a:r>
                <a:endParaRPr sz="1800">
                  <a:sym typeface="+mn-ea"/>
                </a:endParaRPr>
              </a:p>
            </p:txBody>
          </p:sp>
          <p:sp>
            <p:nvSpPr>
              <p:cNvPr id="19" name="圆角矩形 18"/>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1"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运行testEditAccount()方法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8"/>
          <p:cNvPicPr>
            <a:picLocks noChangeAspect="1"/>
          </p:cNvPicPr>
          <p:nvPr>
            <p:custDataLst>
              <p:tags r:id="rId5"/>
            </p:custDataLst>
          </p:nvPr>
        </p:nvPicPr>
        <p:blipFill>
          <a:blip r:embed="rId6"/>
          <a:stretch>
            <a:fillRect/>
          </a:stretch>
        </p:blipFill>
        <p:spPr>
          <a:xfrm>
            <a:off x="1126173" y="2781300"/>
            <a:ext cx="9318044" cy="243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JdbcTemplate的使用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10865" cy="546735"/>
            <a:chOff x="901662" y="1797999"/>
            <a:chExt cx="1458724" cy="546735"/>
          </a:xfrm>
        </p:grpSpPr>
        <p:sp>
          <p:nvSpPr>
            <p:cNvPr id="3" name="矩形: 圆角 6"/>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7.定义测试方法并测试效果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955165"/>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运行testDelAccount()方法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6"/>
          <p:cNvPicPr>
            <a:picLocks noChangeAspect="1"/>
          </p:cNvPicPr>
          <p:nvPr>
            <p:custDataLst>
              <p:tags r:id="rId5"/>
            </p:custDataLst>
          </p:nvPr>
        </p:nvPicPr>
        <p:blipFill>
          <a:blip r:embed="rId6"/>
          <a:stretch>
            <a:fillRect/>
          </a:stretch>
        </p:blipFill>
        <p:spPr>
          <a:xfrm>
            <a:off x="1103313" y="2819400"/>
            <a:ext cx="9766527" cy="23004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Spring事务管理概述</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Spring事务管理</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的概念，能够简述Spring事务管理的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作用</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964055"/>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在实际开发中，为了确保</a:t>
            </a:r>
            <a:r>
              <a:rPr lang="zh-CN" altLang="en-US" sz="2000" dirty="0">
                <a:solidFill>
                  <a:srgbClr val="1369B2"/>
                </a:solidFill>
                <a:latin typeface="微软雅黑" panose="020B0503020204020204" pitchFamily="34" charset="-122"/>
                <a:ea typeface="微软雅黑" panose="020B0503020204020204" pitchFamily="34" charset="-122"/>
                <a:cs typeface="+mn-ea"/>
              </a:rPr>
              <a:t>数据的完整性和一致性</a:t>
            </a:r>
            <a:r>
              <a:rPr lang="zh-CN" altLang="zh-CN" sz="2000" dirty="0">
                <a:solidFill>
                  <a:srgbClr val="595959"/>
                </a:solidFill>
                <a:latin typeface="微软雅黑" panose="020B0503020204020204" pitchFamily="34" charset="-122"/>
                <a:ea typeface="微软雅黑" panose="020B0503020204020204" pitchFamily="34" charset="-122"/>
              </a:rPr>
              <a:t>，通常需要在操作数据时进行</a:t>
            </a:r>
            <a:r>
              <a:rPr lang="zh-CN" altLang="en-US" sz="2000" dirty="0">
                <a:solidFill>
                  <a:srgbClr val="1369B2"/>
                </a:solidFill>
                <a:latin typeface="微软雅黑" panose="020B0503020204020204" pitchFamily="34" charset="-122"/>
                <a:ea typeface="微软雅黑" panose="020B0503020204020204" pitchFamily="34" charset="-122"/>
                <a:cs typeface="+mn-ea"/>
              </a:rPr>
              <a:t>事务管理</a:t>
            </a:r>
            <a:r>
              <a:rPr lang="zh-CN" altLang="zh-CN" sz="2000" dirty="0">
                <a:solidFill>
                  <a:srgbClr val="595959"/>
                </a:solidFill>
                <a:latin typeface="微软雅黑" panose="020B0503020204020204" pitchFamily="34" charset="-122"/>
                <a:ea typeface="微软雅黑" panose="020B0503020204020204" pitchFamily="34" charset="-122"/>
              </a:rPr>
              <a:t>，使一系列增加、修改、删除数据的操作要么</a:t>
            </a:r>
            <a:r>
              <a:rPr lang="zh-CN" altLang="en-US" sz="2000" dirty="0">
                <a:solidFill>
                  <a:srgbClr val="1369B2"/>
                </a:solidFill>
                <a:latin typeface="微软雅黑" panose="020B0503020204020204" pitchFamily="34" charset="-122"/>
                <a:ea typeface="微软雅黑" panose="020B0503020204020204" pitchFamily="34" charset="-122"/>
                <a:cs typeface="+mn-ea"/>
              </a:rPr>
              <a:t>全部成功</a:t>
            </a:r>
            <a:r>
              <a:rPr lang="zh-CN" altLang="zh-CN" sz="2000" dirty="0">
                <a:solidFill>
                  <a:srgbClr val="595959"/>
                </a:solidFill>
                <a:latin typeface="微软雅黑" panose="020B0503020204020204" pitchFamily="34" charset="-122"/>
                <a:ea typeface="微软雅黑" panose="020B0503020204020204" pitchFamily="34" charset="-122"/>
              </a:rPr>
              <a:t>，要么</a:t>
            </a:r>
            <a:r>
              <a:rPr lang="zh-CN" altLang="en-US" sz="2000" dirty="0">
                <a:solidFill>
                  <a:srgbClr val="1369B2"/>
                </a:solidFill>
                <a:latin typeface="微软雅黑" panose="020B0503020204020204" pitchFamily="34" charset="-122"/>
                <a:ea typeface="微软雅黑" panose="020B0503020204020204" pitchFamily="34" charset="-122"/>
                <a:cs typeface="+mn-ea"/>
              </a:rPr>
              <a:t>全部失败</a:t>
            </a:r>
            <a:r>
              <a:rPr lang="zh-CN" altLang="zh-CN" sz="2000" dirty="0">
                <a:solidFill>
                  <a:srgbClr val="595959"/>
                </a:solidFill>
                <a:latin typeface="微软雅黑" panose="020B0503020204020204" pitchFamily="34" charset="-122"/>
                <a:ea typeface="微软雅黑" panose="020B0503020204020204" pitchFamily="34" charset="-122"/>
              </a:rPr>
              <a:t>。Spring作为提供了一站式解决方案的框架，也提供了强大的事务管理功能。</a:t>
            </a:r>
            <a:r>
              <a:rPr lang="zh-CN" altLang="en-US" sz="2000" dirty="0">
                <a:solidFill>
                  <a:srgbClr val="1369B2"/>
                </a:solidFill>
                <a:latin typeface="微软雅黑" panose="020B0503020204020204" pitchFamily="34" charset="-122"/>
                <a:ea typeface="微软雅黑" panose="020B0503020204020204" pitchFamily="34" charset="-122"/>
                <a:cs typeface="+mn-ea"/>
              </a:rPr>
              <a:t>Spring的事务管理</a:t>
            </a:r>
            <a:r>
              <a:rPr lang="zh-CN" altLang="zh-CN" sz="2000" dirty="0">
                <a:solidFill>
                  <a:srgbClr val="595959"/>
                </a:solidFill>
                <a:latin typeface="微软雅黑" panose="020B0503020204020204" pitchFamily="34" charset="-122"/>
                <a:ea typeface="微软雅黑" panose="020B0503020204020204" pitchFamily="34" charset="-122"/>
              </a:rPr>
              <a:t>主要基于</a:t>
            </a:r>
            <a:r>
              <a:rPr lang="zh-CN" altLang="en-US" sz="2000" dirty="0">
                <a:solidFill>
                  <a:srgbClr val="1369B2"/>
                </a:solidFill>
                <a:latin typeface="微软雅黑" panose="020B0503020204020204" pitchFamily="34" charset="-122"/>
                <a:ea typeface="微软雅黑" panose="020B0503020204020204" pitchFamily="34" charset="-122"/>
                <a:cs typeface="+mn-ea"/>
              </a:rPr>
              <a:t>PlatformTransactionManager接口、TransactionDefinition接口、TransactionStatus接口</a:t>
            </a:r>
            <a:r>
              <a:rPr lang="zh-CN" altLang="zh-CN" sz="2000" dirty="0">
                <a:solidFill>
                  <a:srgbClr val="595959"/>
                </a:solidFill>
                <a:latin typeface="微软雅黑" panose="020B0503020204020204" pitchFamily="34" charset="-122"/>
                <a:ea typeface="微软雅黑" panose="020B0503020204020204" pitchFamily="34" charset="-122"/>
              </a:rPr>
              <a:t>实现，下面分别对这三个接口进行讲解。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圆角矩形 1"/>
          <p:cNvSpPr/>
          <p:nvPr>
            <p:custDataLst>
              <p:tags r:id="rId2"/>
            </p:custDataLst>
          </p:nvPr>
        </p:nvSpPr>
        <p:spPr>
          <a:xfrm>
            <a:off x="1031240" y="1736090"/>
            <a:ext cx="10427335" cy="30200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16764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30022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5" y="1177925"/>
            <a:ext cx="4057650" cy="476905"/>
            <a:chOff x="852276" y="1797999"/>
            <a:chExt cx="2780020" cy="476905"/>
          </a:xfrm>
        </p:grpSpPr>
        <p:sp>
          <p:nvSpPr>
            <p:cNvPr id="8"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9" name="文本框 8"/>
            <p:cNvSpPr txBox="1"/>
            <p:nvPr>
              <p:custDataLst>
                <p:tags r:id="rId2"/>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1.PlatformTransactionManager接口</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 name="文本框 4"/>
          <p:cNvSpPr txBox="1"/>
          <p:nvPr>
            <p:custDataLst>
              <p:tags r:id="rId3"/>
            </p:custDataLst>
          </p:nvPr>
        </p:nvSpPr>
        <p:spPr>
          <a:xfrm>
            <a:off x="993775" y="1883410"/>
            <a:ext cx="10295890" cy="1476375"/>
          </a:xfrm>
          <a:prstGeom prst="rect">
            <a:avLst/>
          </a:prstGeom>
          <a:noFill/>
          <a:ln w="9525">
            <a:noFill/>
          </a:ln>
        </p:spPr>
        <p:txBody>
          <a:bodyPr wrap="square">
            <a:spAutoFit/>
          </a:bodyPr>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PlatformTransactionManager接口</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是Spring</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事务管理的核心</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，它提供了</a:t>
            </a:r>
            <a:r>
              <a:rPr lang="zh-CN" altLang="en-US" sz="2000" b="0" dirty="0">
                <a:solidFill>
                  <a:srgbClr val="1369B2"/>
                </a:solidFill>
                <a:latin typeface="微软雅黑" panose="020B0503020204020204" pitchFamily="34" charset="-122"/>
                <a:ea typeface="微软雅黑" panose="020B0503020204020204" pitchFamily="34" charset="-122"/>
                <a:cs typeface="+mn-ea"/>
              </a:rPr>
              <a:t>管理事务的方法</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，例如开始事务、提交事务、回滚事务等，该接口中提供了3个管理事务的方法，具体如下所示。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custDataLst>
              <p:tags r:id="rId4"/>
            </p:custDataLst>
          </p:nvPr>
        </p:nvGraphicFramePr>
        <p:xfrm>
          <a:off x="1046797" y="3507105"/>
          <a:ext cx="10054590" cy="2103120"/>
        </p:xfrm>
        <a:graphic>
          <a:graphicData uri="http://schemas.openxmlformats.org/drawingml/2006/table">
            <a:tbl>
              <a:tblPr/>
              <a:tblGrid>
                <a:gridCol w="5241290"/>
                <a:gridCol w="4813300"/>
              </a:tblGrid>
              <a:tr h="45720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TransactionStatus getTransaction(</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TransactionDefinition definition )</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用于获取一个新的事务或者参与到已存在的事务中，并返回事务的状态信息</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commit(TransactionStatus status)</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用于提交事务</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1480">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rollback(TransactionStatus status)</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用于回滚事务</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5" y="1177925"/>
            <a:ext cx="4057650" cy="476905"/>
            <a:chOff x="852276" y="1797999"/>
            <a:chExt cx="2780020" cy="476905"/>
          </a:xfrm>
        </p:grpSpPr>
        <p:sp>
          <p:nvSpPr>
            <p:cNvPr id="8"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9" name="文本框 8"/>
            <p:cNvSpPr txBox="1"/>
            <p:nvPr>
              <p:custDataLst>
                <p:tags r:id="rId2"/>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2.TransactionDefinition接口</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 name="文本框 4"/>
          <p:cNvSpPr txBox="1"/>
          <p:nvPr>
            <p:custDataLst>
              <p:tags r:id="rId3"/>
            </p:custDataLst>
          </p:nvPr>
        </p:nvSpPr>
        <p:spPr>
          <a:xfrm>
            <a:off x="993775" y="1883410"/>
            <a:ext cx="10295890" cy="2861310"/>
          </a:xfrm>
          <a:prstGeom prst="rect">
            <a:avLst/>
          </a:prstGeom>
          <a:noFill/>
          <a:ln w="9525">
            <a:noFill/>
          </a:ln>
        </p:spPr>
        <p:txBody>
          <a:bodyPr wrap="square">
            <a:spAutoFit/>
          </a:bodyPr>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TransactionDefinition接口</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中定义了</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事务描述</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相关的</a:t>
            </a:r>
            <a:r>
              <a:rPr lang="zh-CN" altLang="en-US" sz="2000" b="0" dirty="0">
                <a:solidFill>
                  <a:srgbClr val="1369B2"/>
                </a:solidFill>
                <a:latin typeface="微软雅黑" panose="020B0503020204020204" pitchFamily="34" charset="-122"/>
                <a:ea typeface="微软雅黑" panose="020B0503020204020204" pitchFamily="34" charset="-122"/>
                <a:cs typeface="+mn-ea"/>
              </a:rPr>
              <a:t>常量</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，其中包括了</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事务的隔离级别、事务的传播行为、事务的超时时间和是否为只读事务</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（1）事务的隔离级别</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事务的隔离级别</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是指事务之间的</a:t>
            </a:r>
            <a:r>
              <a:rPr lang="zh-CN" altLang="en-US" sz="2000" b="0" dirty="0">
                <a:solidFill>
                  <a:srgbClr val="1369B2"/>
                </a:solidFill>
                <a:latin typeface="微软雅黑" panose="020B0503020204020204" pitchFamily="34" charset="-122"/>
                <a:ea typeface="微软雅黑" panose="020B0503020204020204" pitchFamily="34" charset="-122"/>
                <a:cs typeface="+mn-ea"/>
              </a:rPr>
              <a:t>隔离程度</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，TransactionDefinition接口中定义了5种隔离级别。</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nvPr>
        </p:nvGraphicFramePr>
        <p:xfrm>
          <a:off x="962342" y="1234440"/>
          <a:ext cx="10576560" cy="4656455"/>
        </p:xfrm>
        <a:graphic>
          <a:graphicData uri="http://schemas.openxmlformats.org/drawingml/2006/table">
            <a:tbl>
              <a:tblPr/>
              <a:tblGrid>
                <a:gridCol w="3954145"/>
                <a:gridCol w="6622415"/>
              </a:tblGrid>
              <a:tr h="54165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隔离级别</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ISOLATION_DEFAULT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采用当前数据库默认的事务隔离级别</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ISOLATION_READ_UNCOMMITTED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表示读未提交。允许另外一个事务读取到当前事务未提交的数据，隔离级别最低，可能会导致脏读、幻读或不可重复读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ISOLATION_READ_COMMITTED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表示读已提交。被一个事务修改的数据提交后才能被另一个事务读取，可以避免脏读，无法避免幻读，而且不可重复读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 REPEATABLE_READ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可重复读，这个隔离级别保证了在同一个事务中多次读取同一数据的结果是一致的，可以避免脏读，资源消耗上升。这是MySQL数据库的默认隔离级别</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REPEATABLE_SERIALIZABLE</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事务串行执行，也就是按照时间顺序一一执行多个事务，不存在并发问题，最可靠，但性能与效率最低</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381125"/>
            <a:ext cx="10295890" cy="2399665"/>
          </a:xfrm>
          <a:prstGeom prst="rect">
            <a:avLst/>
          </a:prstGeom>
          <a:noFill/>
          <a:ln w="9525">
            <a:noFill/>
          </a:ln>
        </p:spPr>
        <p:txBody>
          <a:bodyPr wrap="square">
            <a:spAutoFit/>
          </a:bodyPr>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（2）事务的传播行为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事务的传播行为</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是指处于不同事务中的方法在</a:t>
            </a:r>
            <a:r>
              <a:rPr lang="zh-CN" altLang="en-US" sz="2000" b="0" dirty="0">
                <a:solidFill>
                  <a:srgbClr val="1369B2"/>
                </a:solidFill>
                <a:latin typeface="微软雅黑" panose="020B0503020204020204" pitchFamily="34" charset="-122"/>
                <a:ea typeface="微软雅黑" panose="020B0503020204020204" pitchFamily="34" charset="-122"/>
                <a:cs typeface="+mn-ea"/>
              </a:rPr>
              <a:t>相互调用</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时，方法</a:t>
            </a:r>
            <a:r>
              <a:rPr lang="zh-CN" altLang="en-US" sz="2000" b="0" dirty="0">
                <a:solidFill>
                  <a:srgbClr val="1369B2"/>
                </a:solidFill>
                <a:latin typeface="微软雅黑" panose="020B0503020204020204" pitchFamily="34" charset="-122"/>
                <a:ea typeface="微软雅黑" panose="020B0503020204020204" pitchFamily="34" charset="-122"/>
                <a:cs typeface="+mn-ea"/>
              </a:rPr>
              <a:t>执行期间</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事务的维护情况</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当一个事务的方法B调用另一个事务的方法A时，可以规定A方法继续在B方法所属的现有事务中运行，也可以规定A方法开启一个新事务，在新事务中运行，B方法所属的现有事务先挂起，等A方法的新事务执行完毕后再恢复。</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nvPr>
        </p:nvGraphicFramePr>
        <p:xfrm>
          <a:off x="962342" y="1074420"/>
          <a:ext cx="10449560" cy="5012690"/>
        </p:xfrm>
        <a:graphic>
          <a:graphicData uri="http://schemas.openxmlformats.org/drawingml/2006/table">
            <a:tbl>
              <a:tblPr/>
              <a:tblGrid>
                <a:gridCol w="4105275"/>
                <a:gridCol w="6344285"/>
              </a:tblGrid>
              <a:tr h="48641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传播行为</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PROPAGATION_REQUIRED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默认的事务传播行为。如果当前存在一个事务，则加入该事务；如果当前没有事务，则创建一个新的事务</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PROPAGATION_SUPPORTS</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如果当前存在一个事务，则加入该事务；如果当前没有事务，则以非事务方式执行</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PROPAGATION_MANDATORY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当前必须存在一个事务，如果没有，就抛出异常</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PROPAGATION_REQUIRES_NEW</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创建一个新的事务，如果当前已存在一个事务，将已存在的事务挂起</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PROPAGATION_NOT_SUPPORTED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总是以非事务方式执行，如果当前存在事务，则把当前事务挂起</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PROPAGATION_NEVER</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永远不支持当前事务，如果当前已存在一个事务，则抛出异常</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PROPAGATION_NESTED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如果当前存在事务，则在当前事务的一个子事务中执行</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381125"/>
            <a:ext cx="10295890" cy="2861310"/>
          </a:xfrm>
          <a:prstGeom prst="rect">
            <a:avLst/>
          </a:prstGeom>
          <a:noFill/>
          <a:ln w="9525">
            <a:noFill/>
          </a:ln>
        </p:spPr>
        <p:txBody>
          <a:bodyPr wrap="square">
            <a:spAutoFit/>
          </a:bodyPr>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（3）事务的超时时间</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事务的超时时间</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是指</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事务执行的时间界限</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0" dirty="0">
                <a:solidFill>
                  <a:srgbClr val="1369B2"/>
                </a:solidFill>
                <a:latin typeface="微软雅黑" panose="020B0503020204020204" pitchFamily="34" charset="-122"/>
                <a:ea typeface="微软雅黑" panose="020B0503020204020204" pitchFamily="34" charset="-122"/>
                <a:cs typeface="+mn-ea"/>
              </a:rPr>
              <a:t>超过</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这个时间界限，事务将会</a:t>
            </a:r>
            <a:r>
              <a:rPr lang="zh-CN" altLang="en-US" sz="2000" b="0" dirty="0">
                <a:solidFill>
                  <a:srgbClr val="1369B2"/>
                </a:solidFill>
                <a:latin typeface="微软雅黑" panose="020B0503020204020204" pitchFamily="34" charset="-122"/>
                <a:ea typeface="微软雅黑" panose="020B0503020204020204" pitchFamily="34" charset="-122"/>
                <a:cs typeface="+mn-ea"/>
              </a:rPr>
              <a:t>回滚</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。TransactionDefinition接口提供了</a:t>
            </a:r>
            <a:r>
              <a:rPr lang="zh-CN" altLang="en-US" sz="2000" b="0" dirty="0">
                <a:solidFill>
                  <a:srgbClr val="1369B2"/>
                </a:solidFill>
                <a:latin typeface="微软雅黑" panose="020B0503020204020204" pitchFamily="34" charset="-122"/>
                <a:ea typeface="微软雅黑" panose="020B0503020204020204" pitchFamily="34" charset="-122"/>
                <a:cs typeface="+mn-ea"/>
              </a:rPr>
              <a:t>TIMEOUT_DEFAULT</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常量用于表示Spring事务管理器的默认超时时间。</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如果开发者想要自行指定事务的超时时间，可以使用</a:t>
            </a:r>
            <a:r>
              <a:rPr lang="zh-CN" altLang="en-US" sz="2000" b="0" dirty="0">
                <a:solidFill>
                  <a:srgbClr val="1369B2"/>
                </a:solidFill>
                <a:latin typeface="微软雅黑" panose="020B0503020204020204" pitchFamily="34" charset="-122"/>
                <a:ea typeface="微软雅黑" panose="020B0503020204020204" pitchFamily="34" charset="-122"/>
                <a:cs typeface="+mn-ea"/>
              </a:rPr>
              <a:t>DefaultTransactionDefinition类</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000" b="0" dirty="0">
                <a:solidFill>
                  <a:srgbClr val="1369B2"/>
                </a:solidFill>
                <a:latin typeface="微软雅黑" panose="020B0503020204020204" pitchFamily="34" charset="-122"/>
                <a:ea typeface="微软雅黑" panose="020B0503020204020204" pitchFamily="34" charset="-122"/>
                <a:cs typeface="+mn-ea"/>
              </a:rPr>
              <a:t>setTimeout()方法</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2000" b="0" dirty="0">
                <a:solidFill>
                  <a:srgbClr val="1369B2"/>
                </a:solidFill>
                <a:latin typeface="微软雅黑" panose="020B0503020204020204" pitchFamily="34" charset="-122"/>
                <a:ea typeface="微软雅黑" panose="020B0503020204020204" pitchFamily="34" charset="-122"/>
                <a:cs typeface="+mn-ea"/>
              </a:rPr>
              <a:t>@Transactional注解的timeout属性</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381125"/>
            <a:ext cx="10295890" cy="2399665"/>
          </a:xfrm>
          <a:prstGeom prst="rect">
            <a:avLst/>
          </a:prstGeom>
          <a:noFill/>
          <a:ln w="9525">
            <a:noFill/>
          </a:ln>
        </p:spPr>
        <p:txBody>
          <a:bodyPr wrap="square">
            <a:spAutoFit/>
          </a:bodyPr>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（4）事务是否只读</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a:t>
            </a:r>
            <a:r>
              <a:rPr lang="zh-CN" altLang="en-US" sz="2000" b="0" dirty="0">
                <a:solidFill>
                  <a:srgbClr val="1369B2"/>
                </a:solidFill>
                <a:latin typeface="微软雅黑" panose="020B0503020204020204" pitchFamily="34" charset="-122"/>
                <a:ea typeface="微软雅黑" panose="020B0503020204020204" pitchFamily="34" charset="-122"/>
                <a:cs typeface="+mn-ea"/>
              </a:rPr>
              <a:t>事务</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被标记为</a:t>
            </a:r>
            <a:r>
              <a:rPr lang="zh-CN" altLang="en-US" sz="2000" b="0" dirty="0">
                <a:solidFill>
                  <a:srgbClr val="1369B2"/>
                </a:solidFill>
                <a:latin typeface="微软雅黑" panose="020B0503020204020204" pitchFamily="34" charset="-122"/>
                <a:ea typeface="微软雅黑" panose="020B0503020204020204" pitchFamily="34" charset="-122"/>
                <a:cs typeface="+mn-ea"/>
              </a:rPr>
              <a:t>只读</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时，意味着该事务</a:t>
            </a:r>
            <a:r>
              <a:rPr lang="zh-CN" altLang="en-US" sz="2000" b="0" dirty="0">
                <a:solidFill>
                  <a:srgbClr val="1369B2"/>
                </a:solidFill>
                <a:latin typeface="微软雅黑" panose="020B0503020204020204" pitchFamily="34" charset="-122"/>
                <a:ea typeface="微软雅黑" panose="020B0503020204020204" pitchFamily="34" charset="-122"/>
                <a:cs typeface="+mn-ea"/>
              </a:rPr>
              <a:t>只从数据库中读取数据而不修改数据</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。尝试在只读事务中</a:t>
            </a:r>
            <a:r>
              <a:rPr lang="zh-CN" altLang="en-US" sz="2000" b="0" dirty="0">
                <a:solidFill>
                  <a:srgbClr val="1369B2"/>
                </a:solidFill>
                <a:latin typeface="微软雅黑" panose="020B0503020204020204" pitchFamily="34" charset="-122"/>
                <a:ea typeface="微软雅黑" panose="020B0503020204020204" pitchFamily="34" charset="-122"/>
                <a:cs typeface="+mn-ea"/>
              </a:rPr>
              <a:t>修改数据</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通常会</a:t>
            </a:r>
            <a:r>
              <a:rPr lang="zh-CN" altLang="en-US" sz="2000" b="0" dirty="0">
                <a:solidFill>
                  <a:srgbClr val="1369B2"/>
                </a:solidFill>
                <a:latin typeface="微软雅黑" panose="020B0503020204020204" pitchFamily="34" charset="-122"/>
                <a:ea typeface="微软雅黑" panose="020B0503020204020204" pitchFamily="34" charset="-122"/>
                <a:cs typeface="+mn-ea"/>
              </a:rPr>
              <a:t>引发异常</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，这是因为绝大多数数据库和事务管理器会禁止在只读事务中执行写操作。这种设计保证了数据的一致性和可靠性，同时也促进了数据库引擎对只读事务的优化，从而提高了系统的整体性能。</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381125"/>
            <a:ext cx="10503535" cy="1476375"/>
          </a:xfrm>
          <a:prstGeom prst="rect">
            <a:avLst/>
          </a:prstGeom>
          <a:noFill/>
          <a:ln w="9525">
            <a:noFill/>
          </a:ln>
        </p:spPr>
        <p:txBody>
          <a:bodyPr wrap="square">
            <a:spAutoFit/>
          </a:bodyPr>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TransactionDefinition接口</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中除了提供事务的隔离级别、事务的传播行为、事务的超时时间和是否为只读事务的常量外，还提供了一系列</a:t>
            </a:r>
            <a:r>
              <a:rPr lang="zh-CN" altLang="en-US" sz="2000" b="0" dirty="0">
                <a:solidFill>
                  <a:srgbClr val="1369B2"/>
                </a:solidFill>
                <a:latin typeface="微软雅黑" panose="020B0503020204020204" pitchFamily="34" charset="-122"/>
                <a:ea typeface="微软雅黑" panose="020B0503020204020204" pitchFamily="34" charset="-122"/>
                <a:cs typeface="+mn-ea"/>
              </a:rPr>
              <a:t>方法</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来</a:t>
            </a:r>
            <a:r>
              <a:rPr lang="zh-CN" altLang="en-US" sz="2000" b="0" dirty="0">
                <a:solidFill>
                  <a:srgbClr val="1369B2"/>
                </a:solidFill>
                <a:latin typeface="微软雅黑" panose="020B0503020204020204" pitchFamily="34" charset="-122"/>
                <a:ea typeface="微软雅黑" panose="020B0503020204020204" pitchFamily="34" charset="-122"/>
                <a:cs typeface="+mn-ea"/>
              </a:rPr>
              <a:t>获取事务的属性</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，TransactionDefinition接口常用的方法如下所示。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2"/>
            </p:custDataLst>
          </p:nvPr>
        </p:nvGraphicFramePr>
        <p:xfrm>
          <a:off x="1054735" y="3068955"/>
          <a:ext cx="10181590" cy="2778760"/>
        </p:xfrm>
        <a:graphic>
          <a:graphicData uri="http://schemas.openxmlformats.org/drawingml/2006/table">
            <a:tbl>
              <a:tblPr/>
              <a:tblGrid>
                <a:gridCol w="4138295"/>
                <a:gridCol w="6043295"/>
              </a:tblGrid>
              <a:tr h="32702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9085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getPropagationBehavior()</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返回事务的传播行为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8958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getIsolationLevel()</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返回事务的隔离级别</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9022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getTimeout()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返回事务的超时时间</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9085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isReadOnly()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判断事务是否为只读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9022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getName()</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返回定义的事务名称</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668145"/>
            <a:ext cx="10503535" cy="1014730"/>
          </a:xfrm>
          <a:prstGeom prst="rect">
            <a:avLst/>
          </a:prstGeom>
          <a:noFill/>
          <a:ln w="9525">
            <a:noFill/>
          </a:ln>
        </p:spPr>
        <p:txBody>
          <a:bodyPr wrap="square">
            <a:spAutoFit/>
          </a:bodyPr>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TransactionStatus接口</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主要用于</a:t>
            </a:r>
            <a:r>
              <a:rPr lang="zh-CN" altLang="en-US" sz="2000" b="0" dirty="0">
                <a:solidFill>
                  <a:srgbClr val="1369B2"/>
                </a:solidFill>
                <a:latin typeface="微软雅黑" panose="020B0503020204020204" pitchFamily="34" charset="-122"/>
                <a:ea typeface="微软雅黑" panose="020B0503020204020204" pitchFamily="34" charset="-122"/>
                <a:cs typeface="+mn-ea"/>
              </a:rPr>
              <a:t>界定事务的状态</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，它提供了一系列</a:t>
            </a:r>
            <a:r>
              <a:rPr lang="zh-CN" altLang="en-US" sz="2000" b="0" dirty="0">
                <a:solidFill>
                  <a:srgbClr val="1369B2"/>
                </a:solidFill>
                <a:latin typeface="微软雅黑" panose="020B0503020204020204" pitchFamily="34" charset="-122"/>
                <a:ea typeface="微软雅黑" panose="020B0503020204020204" pitchFamily="34" charset="-122"/>
                <a:cs typeface="+mn-ea"/>
              </a:rPr>
              <a:t>返回事务状态信息的方法</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6" name="组合 5"/>
          <p:cNvGrpSpPr/>
          <p:nvPr/>
        </p:nvGrpSpPr>
        <p:grpSpPr>
          <a:xfrm>
            <a:off x="866775" y="1177925"/>
            <a:ext cx="4057650" cy="476905"/>
            <a:chOff x="852276" y="1797999"/>
            <a:chExt cx="2780020" cy="476905"/>
          </a:xfrm>
        </p:grpSpPr>
        <p:sp>
          <p:nvSpPr>
            <p:cNvPr id="8"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9" name="文本框 8"/>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3.TransactionStatus接口</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graphicFrame>
        <p:nvGraphicFramePr>
          <p:cNvPr id="3" name="表格 2"/>
          <p:cNvGraphicFramePr/>
          <p:nvPr>
            <p:custDataLst>
              <p:tags r:id="rId4"/>
            </p:custDataLst>
          </p:nvPr>
        </p:nvGraphicFramePr>
        <p:xfrm>
          <a:off x="963295" y="2732405"/>
          <a:ext cx="10503535" cy="3636010"/>
        </p:xfrm>
        <a:graphic>
          <a:graphicData uri="http://schemas.openxmlformats.org/drawingml/2006/table">
            <a:tbl>
              <a:tblPr/>
              <a:tblGrid>
                <a:gridCol w="3971290"/>
                <a:gridCol w="6532245"/>
              </a:tblGrid>
              <a:tr h="44323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64198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isNewTransaction()</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如果当前方法是事务的起点，那么说明当前事务是新事务</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2481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hasSavepoint() </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判断当前事务是否创建了一个保存点</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5026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isRollbackOnly()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判断当前事务是否被标记为rollback-only，即事务是否只能执行回滚操作而不能提交</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2545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setRollbackOnly()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将当前事务标记为rollback-only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2481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isCompleted()</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判断当前事务是否已经完成，即事务是否已经提交或回滚</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2545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flush()</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刷新底层的修改到数据库</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Spring事务管理概述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 name="直接连接符 41"/>
          <p:cNvCxnSpPr/>
          <p:nvPr>
            <p:custDataLst>
              <p:tags r:id="rId1"/>
            </p:custDataLst>
          </p:nvPr>
        </p:nvCxnSpPr>
        <p:spPr>
          <a:xfrm flipH="1">
            <a:off x="3689671" y="192351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42"/>
          <p:cNvCxnSpPr/>
          <p:nvPr>
            <p:custDataLst>
              <p:tags r:id="rId2"/>
            </p:custDataLst>
          </p:nvPr>
        </p:nvCxnSpPr>
        <p:spPr>
          <a:xfrm flipH="1">
            <a:off x="3689671" y="466886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44"/>
          <p:cNvCxnSpPr/>
          <p:nvPr>
            <p:custDataLst>
              <p:tags r:id="rId3"/>
            </p:custDataLst>
          </p:nvPr>
        </p:nvCxnSpPr>
        <p:spPr>
          <a:xfrm>
            <a:off x="3689671" y="1923514"/>
            <a:ext cx="0" cy="276606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1" name="椭圆 10"/>
          <p:cNvSpPr/>
          <p:nvPr>
            <p:custDataLst>
              <p:tags r:id="rId4"/>
            </p:custDataLst>
          </p:nvPr>
        </p:nvSpPr>
        <p:spPr>
          <a:xfrm>
            <a:off x="4596184" y="139183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5"/>
            </p:custDataLst>
          </p:nvPr>
        </p:nvSpPr>
        <p:spPr>
          <a:xfrm>
            <a:off x="4596184" y="411499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custDataLst>
              <p:tags r:id="rId6"/>
            </p:custDataLst>
          </p:nvPr>
        </p:nvSpPr>
        <p:spPr>
          <a:xfrm>
            <a:off x="4678797" y="4206964"/>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6"/>
          <p:cNvSpPr>
            <a:spLocks noEditPoints="1"/>
          </p:cNvSpPr>
          <p:nvPr>
            <p:custDataLst>
              <p:tags r:id="rId7"/>
            </p:custDataLst>
          </p:nvPr>
        </p:nvSpPr>
        <p:spPr bwMode="auto">
          <a:xfrm>
            <a:off x="4873833" y="442183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custDataLst>
              <p:tags r:id="rId8"/>
            </p:custDataLst>
          </p:nvPr>
        </p:nvSpPr>
        <p:spPr>
          <a:xfrm>
            <a:off x="4688158" y="148380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9" name="Freeform 168"/>
          <p:cNvSpPr>
            <a:spLocks noEditPoints="1"/>
          </p:cNvSpPr>
          <p:nvPr>
            <p:custDataLst>
              <p:tags r:id="rId9"/>
            </p:custDataLst>
          </p:nvPr>
        </p:nvSpPr>
        <p:spPr bwMode="auto">
          <a:xfrm>
            <a:off x="4873832" y="161553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0" name="TextBox 33"/>
          <p:cNvSpPr txBox="1"/>
          <p:nvPr>
            <p:custDataLst>
              <p:tags r:id="rId10"/>
            </p:custDataLst>
          </p:nvPr>
        </p:nvSpPr>
        <p:spPr>
          <a:xfrm>
            <a:off x="6003925" y="1906270"/>
            <a:ext cx="5159375" cy="124650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defTabSz="1219200">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通过编写代码来管理事务的开始、提交、回滚等操作。开发人员可以在代码中直接调用事务管理的API来实现对事务的控制</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9"/>
          <p:cNvSpPr txBox="1"/>
          <p:nvPr>
            <p:custDataLst>
              <p:tags r:id="rId11"/>
            </p:custDataLst>
          </p:nvPr>
        </p:nvSpPr>
        <p:spPr>
          <a:xfrm>
            <a:off x="6015425" y="1483806"/>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编程式事务管理</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TextBox 33"/>
          <p:cNvSpPr txBox="1"/>
          <p:nvPr>
            <p:custDataLst>
              <p:tags r:id="rId12"/>
            </p:custDataLst>
          </p:nvPr>
        </p:nvSpPr>
        <p:spPr>
          <a:xfrm>
            <a:off x="6015355" y="4652645"/>
            <a:ext cx="5379720" cy="166179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defTabSz="1219200">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通过在配置文件中或者使用注解的方式来声明事务的管理方式。声明式事务管理通过AOP技术实现了事务的管理，开发人员可以将事务的管理与业务逻辑分离，使得代码更加清晰简洁</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文本框 9"/>
          <p:cNvSpPr txBox="1"/>
          <p:nvPr>
            <p:custDataLst>
              <p:tags r:id="rId13"/>
            </p:custDataLst>
          </p:nvPr>
        </p:nvSpPr>
        <p:spPr>
          <a:xfrm>
            <a:off x="6026874" y="4229739"/>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声明式事务管理</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9"/>
          <p:cNvSpPr txBox="1"/>
          <p:nvPr>
            <p:custDataLst>
              <p:tags r:id="rId14"/>
            </p:custDataLst>
          </p:nvPr>
        </p:nvSpPr>
        <p:spPr>
          <a:xfrm>
            <a:off x="1126528" y="3119089"/>
            <a:ext cx="2356789"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事务管理方式</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740" y="3014345"/>
            <a:ext cx="627380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声明式事务管理</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2466340"/>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 的声明式事务管理是企业级应用中非常实用且被广泛采用的一种方式，可以有效地简化事务管理的实现，提高代码的质量和可维护性。Spring的</a:t>
            </a:r>
            <a:r>
              <a:rPr lang="zh-CN" altLang="en-US" sz="2000" dirty="0">
                <a:solidFill>
                  <a:srgbClr val="1369B2"/>
                </a:solidFill>
                <a:latin typeface="微软雅黑" panose="020B0503020204020204" pitchFamily="34" charset="-122"/>
                <a:ea typeface="微软雅黑" panose="020B0503020204020204" pitchFamily="34" charset="-122"/>
                <a:cs typeface="+mn-ea"/>
              </a:rPr>
              <a:t>声明式事务管理</a:t>
            </a:r>
            <a:r>
              <a:rPr lang="zh-CN" altLang="zh-CN" sz="2000" dirty="0">
                <a:solidFill>
                  <a:srgbClr val="595959"/>
                </a:solidFill>
                <a:latin typeface="微软雅黑" panose="020B0503020204020204" pitchFamily="34" charset="-122"/>
                <a:ea typeface="微软雅黑" panose="020B0503020204020204" pitchFamily="34" charset="-122"/>
              </a:rPr>
              <a:t>可以通过两种方式来实现，一种是</a:t>
            </a:r>
            <a:r>
              <a:rPr lang="zh-CN" altLang="en-US" sz="2000" dirty="0">
                <a:solidFill>
                  <a:srgbClr val="1369B2"/>
                </a:solidFill>
                <a:latin typeface="微软雅黑" panose="020B0503020204020204" pitchFamily="34" charset="-122"/>
                <a:ea typeface="微软雅黑" panose="020B0503020204020204" pitchFamily="34" charset="-122"/>
                <a:cs typeface="+mn-ea"/>
              </a:rPr>
              <a:t>基于XML</a:t>
            </a:r>
            <a:r>
              <a:rPr lang="zh-CN" altLang="zh-CN" sz="2000" dirty="0">
                <a:solidFill>
                  <a:srgbClr val="595959"/>
                </a:solidFill>
                <a:latin typeface="微软雅黑" panose="020B0503020204020204" pitchFamily="34" charset="-122"/>
                <a:ea typeface="微软雅黑" panose="020B0503020204020204" pitchFamily="34" charset="-122"/>
              </a:rPr>
              <a:t>的方式，另一种是</a:t>
            </a:r>
            <a:r>
              <a:rPr lang="zh-CN" altLang="en-US" sz="2000" dirty="0">
                <a:solidFill>
                  <a:srgbClr val="1369B2"/>
                </a:solidFill>
                <a:latin typeface="微软雅黑" panose="020B0503020204020204" pitchFamily="34" charset="-122"/>
                <a:ea typeface="微软雅黑" panose="020B0503020204020204" pitchFamily="34" charset="-122"/>
                <a:cs typeface="+mn-ea"/>
              </a:rPr>
              <a:t>基于注解</a:t>
            </a:r>
            <a:r>
              <a:rPr lang="zh-CN" altLang="zh-CN" sz="2000" dirty="0">
                <a:solidFill>
                  <a:srgbClr val="595959"/>
                </a:solidFill>
                <a:latin typeface="微软雅黑" panose="020B0503020204020204" pitchFamily="34" charset="-122"/>
                <a:ea typeface="微软雅黑" panose="020B0503020204020204" pitchFamily="34" charset="-122"/>
              </a:rPr>
              <a:t>的方式。本节将对这两种声明式事务管理方式进行讲解。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圆角矩形 1"/>
          <p:cNvSpPr/>
          <p:nvPr>
            <p:custDataLst>
              <p:tags r:id="rId2"/>
            </p:custDataLst>
          </p:nvPr>
        </p:nvSpPr>
        <p:spPr>
          <a:xfrm>
            <a:off x="1031240" y="2238375"/>
            <a:ext cx="10427335" cy="237109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15671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基于XML方式的事务管理</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1015365" y="1630045"/>
            <a:ext cx="10306050" cy="2013585"/>
          </a:xfrm>
          <a:prstGeom prst="rect">
            <a:avLst/>
          </a:prstGeom>
          <a:noFill/>
        </p:spPr>
        <p:txBody>
          <a:bodyPr wrap="square" lIns="0" tIns="0" rIns="0" bIns="0" rtlCol="0">
            <a:noAutofit/>
          </a:bodyPr>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基于XML方式</a:t>
            </a:r>
            <a:r>
              <a:rPr lang="en-US" altLang="zh-CN" sz="2000" dirty="0" err="1">
                <a:solidFill>
                  <a:srgbClr val="595959"/>
                </a:solidFill>
                <a:latin typeface="微软雅黑" panose="020B0503020204020204" pitchFamily="34" charset="-122"/>
                <a:ea typeface="微软雅黑" panose="020B0503020204020204" pitchFamily="34" charset="-122"/>
                <a:sym typeface="+mn-lt"/>
              </a:rPr>
              <a:t>的</a:t>
            </a:r>
            <a:r>
              <a:rPr sz="2000" dirty="0">
                <a:solidFill>
                  <a:schemeClr val="accent1"/>
                </a:solidFill>
                <a:latin typeface="微软雅黑" panose="020B0503020204020204" pitchFamily="34" charset="-122"/>
                <a:ea typeface="微软雅黑" panose="020B0503020204020204" pitchFamily="34" charset="-122"/>
                <a:cs typeface="+mn-ea"/>
                <a:sym typeface="+mn-lt"/>
              </a:rPr>
              <a:t>声明式事务管理</a:t>
            </a:r>
            <a:r>
              <a:rPr lang="en-US" altLang="zh-CN" sz="2000" dirty="0" err="1">
                <a:solidFill>
                  <a:srgbClr val="595959"/>
                </a:solidFill>
                <a:latin typeface="微软雅黑" panose="020B0503020204020204" pitchFamily="34" charset="-122"/>
                <a:ea typeface="微软雅黑" panose="020B0503020204020204" pitchFamily="34" charset="-122"/>
                <a:sym typeface="+mn-lt"/>
              </a:rPr>
              <a:t>是通过在</a:t>
            </a:r>
            <a:r>
              <a:rPr sz="2000" dirty="0">
                <a:solidFill>
                  <a:schemeClr val="accent1"/>
                </a:solidFill>
                <a:latin typeface="微软雅黑" panose="020B0503020204020204" pitchFamily="34" charset="-122"/>
                <a:ea typeface="微软雅黑" panose="020B0503020204020204" pitchFamily="34" charset="-122"/>
                <a:cs typeface="+mn-ea"/>
                <a:sym typeface="+mn-lt"/>
              </a:rPr>
              <a:t>XML配置文件中配置事务规则的相关声明</a:t>
            </a:r>
            <a:r>
              <a:rPr lang="en-US" altLang="zh-CN" sz="2000" dirty="0" err="1">
                <a:solidFill>
                  <a:srgbClr val="595959"/>
                </a:solidFill>
                <a:latin typeface="微软雅黑" panose="020B0503020204020204" pitchFamily="34" charset="-122"/>
                <a:ea typeface="微软雅黑" panose="020B0503020204020204" pitchFamily="34" charset="-122"/>
                <a:sym typeface="+mn-lt"/>
              </a:rPr>
              <a:t>来实现的。在使用XML文件配置声明式事务管理时，首先要</a:t>
            </a:r>
            <a:r>
              <a:rPr sz="2000" dirty="0">
                <a:solidFill>
                  <a:schemeClr val="accent1"/>
                </a:solidFill>
                <a:latin typeface="微软雅黑" panose="020B0503020204020204" pitchFamily="34" charset="-122"/>
                <a:ea typeface="微软雅黑" panose="020B0503020204020204" pitchFamily="34" charset="-122"/>
                <a:cs typeface="+mn-ea"/>
                <a:sym typeface="+mn-lt"/>
              </a:rPr>
              <a:t>引入tx命名空间</a:t>
            </a:r>
            <a:r>
              <a:rPr lang="en-US" altLang="zh-CN" sz="2000" dirty="0" err="1">
                <a:solidFill>
                  <a:srgbClr val="595959"/>
                </a:solidFill>
                <a:latin typeface="微软雅黑" panose="020B0503020204020204" pitchFamily="34" charset="-122"/>
                <a:ea typeface="微软雅黑" panose="020B0503020204020204" pitchFamily="34" charset="-122"/>
                <a:sym typeface="+mn-lt"/>
              </a:rPr>
              <a:t>，在引入tx命名空间之后，可以使用</a:t>
            </a:r>
            <a:r>
              <a:rPr sz="2000" dirty="0">
                <a:solidFill>
                  <a:schemeClr val="accent1"/>
                </a:solidFill>
                <a:latin typeface="微软雅黑" panose="020B0503020204020204" pitchFamily="34" charset="-122"/>
                <a:ea typeface="微软雅黑" panose="020B0503020204020204" pitchFamily="34" charset="-122"/>
                <a:cs typeface="+mn-ea"/>
                <a:sym typeface="+mn-lt"/>
              </a:rPr>
              <a:t>&lt;tx:advice&gt;标签</a:t>
            </a:r>
            <a:r>
              <a:rPr lang="en-US" altLang="zh-CN" sz="2000" dirty="0" err="1">
                <a:solidFill>
                  <a:srgbClr val="595959"/>
                </a:solidFill>
                <a:latin typeface="微软雅黑" panose="020B0503020204020204" pitchFamily="34" charset="-122"/>
                <a:ea typeface="微软雅黑" panose="020B0503020204020204" pitchFamily="34" charset="-122"/>
                <a:sym typeface="+mn-lt"/>
              </a:rPr>
              <a:t>来配置事务的通知，实现事务管理。</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配置&lt;tx:advice&gt;标签时，通常需要指定</a:t>
            </a:r>
            <a:r>
              <a:rPr sz="2000" dirty="0">
                <a:solidFill>
                  <a:schemeClr val="accent1"/>
                </a:solidFill>
                <a:latin typeface="微软雅黑" panose="020B0503020204020204" pitchFamily="34" charset="-122"/>
                <a:ea typeface="微软雅黑" panose="020B0503020204020204" pitchFamily="34" charset="-122"/>
                <a:cs typeface="+mn-ea"/>
                <a:sym typeface="+mn-lt"/>
              </a:rPr>
              <a:t>id和transaction-manager属性</a:t>
            </a:r>
            <a:r>
              <a:rPr lang="en-US" altLang="zh-CN" sz="2000" dirty="0" err="1">
                <a:solidFill>
                  <a:srgbClr val="595959"/>
                </a:solidFill>
                <a:latin typeface="微软雅黑" panose="020B0503020204020204" pitchFamily="34" charset="-122"/>
                <a:ea typeface="微软雅黑" panose="020B0503020204020204" pitchFamily="34" charset="-122"/>
                <a:sym typeface="+mn-lt"/>
              </a:rPr>
              <a:t>，其中</a:t>
            </a:r>
            <a:r>
              <a:rPr sz="2000" dirty="0">
                <a:solidFill>
                  <a:schemeClr val="accent1"/>
                </a:solidFill>
                <a:latin typeface="微软雅黑" panose="020B0503020204020204" pitchFamily="34" charset="-122"/>
                <a:ea typeface="微软雅黑" panose="020B0503020204020204" pitchFamily="34" charset="-122"/>
                <a:cs typeface="+mn-ea"/>
                <a:sym typeface="+mn-lt"/>
              </a:rPr>
              <a:t>id属性</a:t>
            </a:r>
            <a:r>
              <a:rPr lang="en-US" altLang="zh-CN" sz="2000" dirty="0" err="1">
                <a:solidFill>
                  <a:srgbClr val="595959"/>
                </a:solidFill>
                <a:latin typeface="微软雅黑" panose="020B0503020204020204" pitchFamily="34" charset="-122"/>
                <a:ea typeface="微软雅黑" panose="020B0503020204020204" pitchFamily="34" charset="-122"/>
                <a:sym typeface="+mn-lt"/>
              </a:rPr>
              <a:t>是配置文件中的</a:t>
            </a:r>
            <a:r>
              <a:rPr sz="2000" dirty="0">
                <a:solidFill>
                  <a:schemeClr val="accent1"/>
                </a:solidFill>
                <a:latin typeface="微软雅黑" panose="020B0503020204020204" pitchFamily="34" charset="-122"/>
                <a:ea typeface="微软雅黑" panose="020B0503020204020204" pitchFamily="34" charset="-122"/>
                <a:cs typeface="+mn-ea"/>
                <a:sym typeface="+mn-lt"/>
              </a:rPr>
              <a:t>唯一标识</a:t>
            </a:r>
            <a:r>
              <a:rPr lang="en-US" altLang="zh-CN" sz="2000" dirty="0" err="1">
                <a:solidFill>
                  <a:srgbClr val="595959"/>
                </a:solidFill>
                <a:latin typeface="微软雅黑" panose="020B0503020204020204" pitchFamily="34" charset="-122"/>
                <a:ea typeface="微软雅黑" panose="020B0503020204020204" pitchFamily="34" charset="-122"/>
                <a:sym typeface="+mn-lt"/>
              </a:rPr>
              <a:t>，</a:t>
            </a:r>
            <a:r>
              <a:rPr sz="2000" dirty="0">
                <a:solidFill>
                  <a:schemeClr val="accent1"/>
                </a:solidFill>
                <a:latin typeface="微软雅黑" panose="020B0503020204020204" pitchFamily="34" charset="-122"/>
                <a:ea typeface="微软雅黑" panose="020B0503020204020204" pitchFamily="34" charset="-122"/>
                <a:cs typeface="+mn-ea"/>
                <a:sym typeface="+mn-lt"/>
              </a:rPr>
              <a:t>transaction-manager属性</a:t>
            </a:r>
            <a:r>
              <a:rPr lang="en-US" altLang="zh-CN" sz="2000" dirty="0" err="1">
                <a:solidFill>
                  <a:srgbClr val="595959"/>
                </a:solidFill>
                <a:latin typeface="微软雅黑" panose="020B0503020204020204" pitchFamily="34" charset="-122"/>
                <a:ea typeface="微软雅黑" panose="020B0503020204020204" pitchFamily="34" charset="-122"/>
                <a:sym typeface="+mn-lt"/>
              </a:rPr>
              <a:t>用于指定</a:t>
            </a:r>
            <a:r>
              <a:rPr sz="2000" dirty="0">
                <a:solidFill>
                  <a:schemeClr val="accent1"/>
                </a:solidFill>
                <a:latin typeface="微软雅黑" panose="020B0503020204020204" pitchFamily="34" charset="-122"/>
                <a:ea typeface="微软雅黑" panose="020B0503020204020204" pitchFamily="34" charset="-122"/>
                <a:cs typeface="+mn-ea"/>
                <a:sym typeface="+mn-lt"/>
              </a:rPr>
              <a:t>事务管理器</a:t>
            </a:r>
            <a:r>
              <a:rPr lang="en-US" altLang="zh-CN" sz="2000" dirty="0" err="1">
                <a:solidFill>
                  <a:srgbClr val="595959"/>
                </a:solidFill>
                <a:latin typeface="微软雅黑" panose="020B0503020204020204" pitchFamily="34" charset="-122"/>
                <a:ea typeface="微软雅黑" panose="020B0503020204020204" pitchFamily="34" charset="-122"/>
                <a:sym typeface="+mn-lt"/>
              </a:rPr>
              <a:t>。除此之外，&lt;tx:advice&gt;标签还包含子标签</a:t>
            </a:r>
            <a:r>
              <a:rPr sz="2000" dirty="0">
                <a:solidFill>
                  <a:schemeClr val="accent1"/>
                </a:solidFill>
                <a:latin typeface="微软雅黑" panose="020B0503020204020204" pitchFamily="34" charset="-122"/>
                <a:ea typeface="微软雅黑" panose="020B0503020204020204" pitchFamily="34" charset="-122"/>
                <a:cs typeface="+mn-ea"/>
                <a:sym typeface="+mn-lt"/>
              </a:rPr>
              <a:t>&lt;tx:attributes&gt;</a:t>
            </a:r>
            <a:r>
              <a:rPr lang="en-US" altLang="zh-CN" sz="2000" dirty="0" err="1">
                <a:solidFill>
                  <a:srgbClr val="595959"/>
                </a:solidFill>
                <a:latin typeface="微软雅黑" panose="020B0503020204020204" pitchFamily="34" charset="-122"/>
                <a:ea typeface="微软雅黑" panose="020B0503020204020204" pitchFamily="34" charset="-122"/>
                <a:sym typeface="+mn-lt"/>
              </a:rPr>
              <a:t>，&lt;tx:attributes&gt;标签可配置多个</a:t>
            </a:r>
            <a:r>
              <a:rPr sz="2000" dirty="0">
                <a:solidFill>
                  <a:schemeClr val="accent1"/>
                </a:solidFill>
                <a:latin typeface="微软雅黑" panose="020B0503020204020204" pitchFamily="34" charset="-122"/>
                <a:ea typeface="微软雅黑" panose="020B0503020204020204" pitchFamily="34" charset="-122"/>
                <a:cs typeface="+mn-ea"/>
                <a:sym typeface="+mn-lt"/>
              </a:rPr>
              <a:t>&lt;tx:method&gt;</a:t>
            </a:r>
            <a:r>
              <a:rPr lang="en-US" altLang="zh-CN" sz="2000" dirty="0" err="1">
                <a:solidFill>
                  <a:srgbClr val="595959"/>
                </a:solidFill>
                <a:latin typeface="微软雅黑" panose="020B0503020204020204" pitchFamily="34" charset="-122"/>
                <a:ea typeface="微软雅黑" panose="020B0503020204020204" pitchFamily="34" charset="-122"/>
                <a:sym typeface="+mn-lt"/>
              </a:rPr>
              <a:t>子标签，&lt;tx:method&gt;子标签主要用于配置每个</a:t>
            </a:r>
            <a:r>
              <a:rPr sz="2000" dirty="0">
                <a:solidFill>
                  <a:schemeClr val="accent1"/>
                </a:solidFill>
                <a:latin typeface="微软雅黑" panose="020B0503020204020204" pitchFamily="34" charset="-122"/>
                <a:ea typeface="微软雅黑" panose="020B0503020204020204" pitchFamily="34" charset="-122"/>
                <a:cs typeface="+mn-ea"/>
                <a:sym typeface="+mn-lt"/>
              </a:rPr>
              <a:t>方法</a:t>
            </a:r>
            <a:r>
              <a:rPr lang="en-US" altLang="zh-CN" sz="2000" dirty="0" err="1">
                <a:solidFill>
                  <a:srgbClr val="595959"/>
                </a:solidFill>
                <a:latin typeface="微软雅黑" panose="020B0503020204020204" pitchFamily="34" charset="-122"/>
                <a:ea typeface="微软雅黑" panose="020B0503020204020204" pitchFamily="34" charset="-122"/>
                <a:sym typeface="+mn-lt"/>
              </a:rPr>
              <a:t>具体的</a:t>
            </a:r>
            <a:r>
              <a:rPr sz="2000" dirty="0">
                <a:solidFill>
                  <a:schemeClr val="accent1"/>
                </a:solidFill>
                <a:latin typeface="微软雅黑" panose="020B0503020204020204" pitchFamily="34" charset="-122"/>
                <a:ea typeface="微软雅黑" panose="020B0503020204020204" pitchFamily="34" charset="-122"/>
                <a:cs typeface="+mn-ea"/>
                <a:sym typeface="+mn-lt"/>
              </a:rPr>
              <a:t>事务属性</a:t>
            </a:r>
            <a:r>
              <a:rPr lang="en-US" altLang="zh-CN" sz="2000" dirty="0" err="1">
                <a:solidFill>
                  <a:srgbClr val="595959"/>
                </a:solidFill>
                <a:latin typeface="微软雅黑" panose="020B0503020204020204" pitchFamily="34" charset="-122"/>
                <a:ea typeface="微软雅黑" panose="020B0503020204020204" pitchFamily="34" charset="-122"/>
                <a:sym typeface="+mn-lt"/>
              </a:rPr>
              <a:t>，包括传播行为、隔离级别、超时等。</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185285" y="1053465"/>
            <a:ext cx="3766820" cy="553085"/>
          </a:xfrm>
          <a:prstGeom prst="rect">
            <a:avLst/>
          </a:prstGeom>
          <a:noFill/>
          <a:ln w="9525">
            <a:noFill/>
          </a:ln>
        </p:spPr>
        <p:txBody>
          <a:bodyPr wrap="square">
            <a:spAutoFit/>
          </a:bodyPr>
          <a:p>
            <a:pPr algn="l">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&lt;tx:method&gt;标签的常用属性</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2"/>
            </p:custDataLst>
          </p:nvPr>
        </p:nvGraphicFramePr>
        <p:xfrm>
          <a:off x="1076960" y="1676400"/>
          <a:ext cx="9983470" cy="3930015"/>
        </p:xfrm>
        <a:graphic>
          <a:graphicData uri="http://schemas.openxmlformats.org/drawingml/2006/table">
            <a:tbl>
              <a:tblPr/>
              <a:tblGrid>
                <a:gridCol w="3117850"/>
                <a:gridCol w="6865620"/>
              </a:tblGrid>
              <a:tr h="46609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属性</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65505">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用于指定方法名的匹配模式，该属性为必选属性，它指定了与事务属性相关的方法名</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用于指定事务的传播行为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用于指定事务的隔离级别</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read-only</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用于指定事务是否只读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timeout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用于指定事务超时时间</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rollback-for</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用于指定触发事务回滚的异常类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33070">
                <a:tc>
                  <a:txBody>
                    <a:bodyPr/>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no-rollback-for</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用于指定不触发事务回滚的异常类</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982980" y="112522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编写一个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模拟银行转账</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的程序，要求在转账时通过Spring对</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事务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控制</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866914" y="1751689"/>
            <a:ext cx="2780020" cy="476905"/>
            <a:chOff x="852276" y="1797999"/>
            <a:chExt cx="2780020" cy="476905"/>
          </a:xfrm>
        </p:grpSpPr>
        <p:sp>
          <p:nvSpPr>
            <p:cNvPr id="3"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4"/>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（1）引入依赖</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24572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ym typeface="+mn-ea"/>
                    <a:hlinkClick r:id="rId8"/>
                  </a:rPr>
                  <a:t>引入依赖</a:t>
                </a:r>
                <a:endParaRPr lang="zh-CN" altLang="en-US"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11" name="文本框 10"/>
          <p:cNvSpPr txBox="1"/>
          <p:nvPr>
            <p:custDataLst>
              <p:tags r:id="rId14"/>
            </p:custDataLst>
          </p:nvPr>
        </p:nvSpPr>
        <p:spPr>
          <a:xfrm>
            <a:off x="993775" y="231394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Spring的声明式事务管理底层依赖于AOP技术来实现，对此需要在chapter04项目的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pom.xml文件中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引入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aspectjrt依赖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aspectjweaver依赖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作为实现切面所需的依赖包，具体代码如下所示。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（2）定义Dao层方法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在文件4-6的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AccountDao接口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声明转账方法transfer()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5"/>
            </p:custDataLst>
          </p:nvPr>
        </p:nvSpPr>
        <p:spPr>
          <a:xfrm>
            <a:off x="967740" y="2549525"/>
            <a:ext cx="10337800" cy="1163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6"/>
            </p:custDataLst>
          </p:nvPr>
        </p:nvSpPr>
        <p:spPr>
          <a:xfrm>
            <a:off x="1489710" y="2581910"/>
            <a:ext cx="9533890" cy="1116330"/>
          </a:xfrm>
          <a:prstGeom prst="rect">
            <a:avLst/>
          </a:prstGeom>
        </p:spPr>
        <p:txBody>
          <a:bodyPr wrap="square">
            <a:noAutofit/>
          </a:bodyPr>
          <a:p>
            <a:pPr algn="l">
              <a:lnSpc>
                <a:spcPct val="150000"/>
              </a:lnSpc>
              <a:defRPr/>
            </a:pPr>
            <a:r>
              <a:rPr sz="1800">
                <a:latin typeface="Courier New" panose="02070409020205090404" pitchFamily="49" charset="0"/>
                <a:sym typeface="+mn-ea"/>
              </a:rPr>
              <a:t> // 转账</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public void transfer(String outUser,String inUser,Double money);</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（3）实现Dao层方法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在文件4-7的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AccountDaoImpl实现类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实现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AccountDao接口中的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transfer()方法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8"/>
                  </a:rPr>
                  <a:t>transfer()方法</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（4）创建配置文件</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在chapter04项目中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创建配置文件applicationContext.xml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，在配置文件中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配置事务管理器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事务通知</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，具体代码如文件4-9所示。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文件4-9</a:t>
                </a:r>
                <a:endParaRPr sz="1800">
                  <a:sym typeface="+mn-ea"/>
                </a:endParaRPr>
              </a:p>
              <a:p>
                <a:pPr algn="ctr"/>
                <a:r>
                  <a:rPr sz="1800">
                    <a:sym typeface="+mn-ea"/>
                    <a:hlinkClick r:id="rId8"/>
                  </a:rPr>
                  <a:t>applicationContext.xml</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（5）创建测试类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在chapter04项目的test\java目录下创建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测试类TransactionTest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注入AccountDao对象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，具体如文件4-10所示。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文件4-10</a:t>
                </a:r>
                <a:endParaRPr sz="1800">
                  <a:sym typeface="+mn-ea"/>
                </a:endParaRPr>
              </a:p>
              <a:p>
                <a:pPr algn="ctr"/>
                <a:r>
                  <a:rPr sz="1800">
                    <a:sym typeface="+mn-ea"/>
                    <a:hlinkClick r:id="rId8"/>
                  </a:rPr>
                  <a:t>TransactionTest.java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为了程序运行前后的效果，在程序运行前先</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查询当前account数据表中的数据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5"/>
          <p:cNvPicPr>
            <a:picLocks noChangeAspect="1"/>
          </p:cNvPicPr>
          <p:nvPr>
            <p:custDataLst>
              <p:tags r:id="rId5"/>
            </p:custDataLst>
          </p:nvPr>
        </p:nvPicPr>
        <p:blipFill>
          <a:blip r:embed="rId6"/>
          <a:stretch>
            <a:fillRect/>
          </a:stretch>
        </p:blipFill>
        <p:spPr>
          <a:xfrm>
            <a:off x="3430905" y="2780983"/>
            <a:ext cx="5541231" cy="313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基于XML方式的声明式事务管理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295890"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文件4-10中的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testTransfer()方法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，再次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查看account数据表中的数据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4"/>
          <p:cNvPicPr>
            <a:picLocks noChangeAspect="1"/>
          </p:cNvPicPr>
          <p:nvPr>
            <p:custDataLst>
              <p:tags r:id="rId5"/>
            </p:custDataLst>
          </p:nvPr>
        </p:nvPicPr>
        <p:blipFill>
          <a:blip r:embed="rId6"/>
          <a:stretch>
            <a:fillRect/>
          </a:stretch>
        </p:blipFill>
        <p:spPr>
          <a:xfrm>
            <a:off x="3286760" y="2723198"/>
            <a:ext cx="5834215" cy="32976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注解方式的事务管理</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1015365" y="1630045"/>
            <a:ext cx="10306050" cy="3810635"/>
          </a:xfrm>
          <a:prstGeom prst="rect">
            <a:avLst/>
          </a:prstGeom>
          <a:noFill/>
        </p:spPr>
        <p:txBody>
          <a:bodyPr wrap="square" lIns="0" tIns="0" rIns="0" bIns="0" rtlCol="0">
            <a:noAutofit/>
          </a:bodyPr>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基于XML</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实现声明式事务管理</a:t>
            </a:r>
            <a:r>
              <a:rPr lang="en-US" altLang="zh-CN" sz="2000" dirty="0" err="1">
                <a:solidFill>
                  <a:srgbClr val="595959"/>
                </a:solidFill>
                <a:latin typeface="微软雅黑" panose="020B0503020204020204" pitchFamily="34" charset="-122"/>
                <a:ea typeface="微软雅黑" panose="020B0503020204020204" pitchFamily="34" charset="-122"/>
                <a:sym typeface="+mn-lt"/>
              </a:rPr>
              <a:t>存在一些</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缺点</a:t>
            </a:r>
            <a:r>
              <a:rPr lang="en-US" altLang="zh-CN" sz="2000" dirty="0" err="1">
                <a:solidFill>
                  <a:srgbClr val="595959"/>
                </a:solidFill>
                <a:latin typeface="微软雅黑" panose="020B0503020204020204" pitchFamily="34" charset="-122"/>
                <a:ea typeface="微软雅黑" panose="020B0503020204020204" pitchFamily="34" charset="-122"/>
                <a:sym typeface="+mn-lt"/>
              </a:rPr>
              <a:t>，例如在Spring配置文件中需要编写大量的AOP相关配置，这可能导致</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代码冗余</a:t>
            </a:r>
            <a:r>
              <a:rPr lang="en-US" altLang="zh-CN" sz="2000" dirty="0" err="1">
                <a:solidFill>
                  <a:srgbClr val="595959"/>
                </a:solidFill>
                <a:latin typeface="微软雅黑" panose="020B0503020204020204" pitchFamily="34" charset="-122"/>
                <a:ea typeface="微软雅黑" panose="020B0503020204020204" pitchFamily="34" charset="-122"/>
                <a:sym typeface="+mn-lt"/>
              </a:rPr>
              <a:t>和</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可读性降低</a:t>
            </a:r>
            <a:r>
              <a:rPr lang="en-US" altLang="zh-CN" sz="2000" dirty="0" err="1">
                <a:solidFill>
                  <a:srgbClr val="595959"/>
                </a:solidFill>
                <a:latin typeface="微软雅黑" panose="020B0503020204020204" pitchFamily="34" charset="-122"/>
                <a:ea typeface="微软雅黑" panose="020B0503020204020204" pitchFamily="34" charset="-122"/>
                <a:sym typeface="+mn-lt"/>
              </a:rPr>
              <a:t>。为了解决这一问题，可以采用</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基于注解方式的声明式事务管理</a:t>
            </a:r>
            <a:r>
              <a:rPr lang="en-US" altLang="zh-CN" sz="2000" dirty="0" err="1">
                <a:solidFill>
                  <a:srgbClr val="595959"/>
                </a:solidFill>
                <a:latin typeface="微软雅黑" panose="020B0503020204020204" pitchFamily="34" charset="-122"/>
                <a:ea typeface="微软雅黑" panose="020B0503020204020204" pitchFamily="34" charset="-122"/>
                <a:sym typeface="+mn-lt"/>
              </a:rPr>
              <a:t>，从而简化Spring配置文件。</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基于注解方式的声明式事务管理，可以直接在需要应用</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切面的类或方法上添加注解</a:t>
            </a:r>
            <a:r>
              <a:rPr lang="en-US" altLang="zh-CN" sz="2000" dirty="0" err="1">
                <a:solidFill>
                  <a:srgbClr val="595959"/>
                </a:solidFill>
                <a:latin typeface="微软雅黑" panose="020B0503020204020204" pitchFamily="34" charset="-122"/>
                <a:ea typeface="微软雅黑" panose="020B0503020204020204" pitchFamily="34" charset="-122"/>
                <a:sym typeface="+mn-lt"/>
              </a:rPr>
              <a:t>，指定切面的逻辑，而</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无需在XML配置文件中进行繁琐的配置</a:t>
            </a:r>
            <a:r>
              <a:rPr lang="en-US" altLang="zh-CN" sz="2000" dirty="0" err="1">
                <a:solidFill>
                  <a:srgbClr val="595959"/>
                </a:solidFill>
                <a:latin typeface="微软雅黑" panose="020B0503020204020204" pitchFamily="34" charset="-122"/>
                <a:ea typeface="微软雅黑" panose="020B0503020204020204" pitchFamily="34" charset="-122"/>
                <a:sym typeface="+mn-lt"/>
              </a:rPr>
              <a:t>。Spring提供了</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@Transactional注解</a:t>
            </a:r>
            <a:r>
              <a:rPr lang="en-US" altLang="zh-CN" sz="2000" dirty="0" err="1">
                <a:solidFill>
                  <a:srgbClr val="595959"/>
                </a:solidFill>
                <a:latin typeface="微软雅黑" panose="020B0503020204020204" pitchFamily="34" charset="-122"/>
                <a:ea typeface="微软雅黑" panose="020B0503020204020204" pitchFamily="34" charset="-122"/>
                <a:sym typeface="+mn-lt"/>
              </a:rPr>
              <a:t>来实现声明式事务管理，该注解与XML配置中使用的&lt;tx:advice&gt;标签具有相同的功能。通过在需要事务管理的方法上添加@Transactional注解，可以自动开启、提交或回滚事务，而无需在XML配置文件中显式声明事务通知。</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076960" y="1053465"/>
            <a:ext cx="9966960" cy="1337945"/>
          </a:xfrm>
          <a:prstGeom prst="rect">
            <a:avLst/>
          </a:prstGeom>
          <a:noFill/>
          <a:ln w="9525">
            <a:noFill/>
          </a:ln>
        </p:spPr>
        <p:txBody>
          <a:bodyPr wrap="square">
            <a:spAutoFit/>
          </a:bodyPr>
          <a:p>
            <a:pPr algn="just">
              <a:lnSpc>
                <a:spcPct val="150000"/>
              </a:lnSpc>
              <a:buClrTx/>
              <a:buSzTx/>
              <a:buFontTx/>
            </a:pPr>
            <a:r>
              <a:rPr lang="zh-CN" sz="1800" dirty="0">
                <a:solidFill>
                  <a:schemeClr val="accent1"/>
                </a:solidFill>
                <a:latin typeface="微软雅黑" panose="020B0503020204020204" pitchFamily="34" charset="-122"/>
                <a:ea typeface="微软雅黑" panose="020B0503020204020204" pitchFamily="34" charset="-122"/>
                <a:cs typeface="+mn-ea"/>
                <a:sym typeface="+mn-lt"/>
              </a:rPr>
              <a:t>@Transactional</a:t>
            </a:r>
            <a:r>
              <a:rPr lang="en-US" altLang="zh-CN" sz="1800" dirty="0" err="1">
                <a:solidFill>
                  <a:srgbClr val="595959"/>
                </a:solidFill>
                <a:latin typeface="微软雅黑" panose="020B0503020204020204" pitchFamily="34" charset="-122"/>
                <a:ea typeface="微软雅黑" panose="020B0503020204020204" pitchFamily="34" charset="-122"/>
                <a:sym typeface="+mn-lt"/>
              </a:rPr>
              <a:t>可以标注在</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接口、接口方法、类或类方法上</a:t>
            </a:r>
            <a:r>
              <a:rPr lang="en-US" altLang="zh-CN" sz="1800" dirty="0" err="1">
                <a:solidFill>
                  <a:srgbClr val="595959"/>
                </a:solidFill>
                <a:latin typeface="微软雅黑" panose="020B0503020204020204" pitchFamily="34" charset="-122"/>
                <a:ea typeface="微软雅黑" panose="020B0503020204020204" pitchFamily="34" charset="-122"/>
                <a:sym typeface="+mn-lt"/>
              </a:rPr>
              <a:t>，当</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标注类</a:t>
            </a:r>
            <a:r>
              <a:rPr lang="en-US" altLang="zh-CN" sz="1800" dirty="0" err="1">
                <a:solidFill>
                  <a:srgbClr val="595959"/>
                </a:solidFill>
                <a:latin typeface="微软雅黑" panose="020B0503020204020204" pitchFamily="34" charset="-122"/>
                <a:ea typeface="微软雅黑" panose="020B0503020204020204" pitchFamily="34" charset="-122"/>
                <a:sym typeface="+mn-lt"/>
              </a:rPr>
              <a:t>时，该</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类的所有public方法</a:t>
            </a:r>
            <a:r>
              <a:rPr lang="en-US" altLang="zh-CN" sz="1800" dirty="0" err="1">
                <a:solidFill>
                  <a:srgbClr val="595959"/>
                </a:solidFill>
                <a:latin typeface="微软雅黑" panose="020B0503020204020204" pitchFamily="34" charset="-122"/>
                <a:ea typeface="微软雅黑" panose="020B0503020204020204" pitchFamily="34" charset="-122"/>
                <a:sym typeface="+mn-lt"/>
              </a:rPr>
              <a:t>都将具有</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同样类型的事务属性</a:t>
            </a:r>
            <a:r>
              <a:rPr lang="en-US" altLang="zh-CN" sz="1800" dirty="0" err="1">
                <a:solidFill>
                  <a:srgbClr val="595959"/>
                </a:solidFill>
                <a:latin typeface="微软雅黑" panose="020B0503020204020204" pitchFamily="34" charset="-122"/>
                <a:ea typeface="微软雅黑" panose="020B0503020204020204" pitchFamily="34" charset="-122"/>
                <a:sym typeface="+mn-lt"/>
              </a:rPr>
              <a:t>；当标注类中的</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方法</a:t>
            </a:r>
            <a:r>
              <a:rPr lang="en-US" altLang="zh-CN" sz="1800" dirty="0" err="1">
                <a:solidFill>
                  <a:srgbClr val="595959"/>
                </a:solidFill>
                <a:latin typeface="微软雅黑" panose="020B0503020204020204" pitchFamily="34" charset="-122"/>
                <a:ea typeface="微软雅黑" panose="020B0503020204020204" pitchFamily="34" charset="-122"/>
                <a:sym typeface="+mn-lt"/>
              </a:rPr>
              <a:t>时，如果该</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类</a:t>
            </a:r>
            <a:r>
              <a:rPr lang="en-US" altLang="zh-CN" sz="1800" dirty="0" err="1">
                <a:solidFill>
                  <a:srgbClr val="595959"/>
                </a:solidFill>
                <a:latin typeface="微软雅黑" panose="020B0503020204020204" pitchFamily="34" charset="-122"/>
                <a:ea typeface="微软雅黑" panose="020B0503020204020204" pitchFamily="34" charset="-122"/>
                <a:sym typeface="+mn-lt"/>
              </a:rPr>
              <a:t>也标注了@Transactional，那么类中方法的注解将会</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屏蔽类的注解</a:t>
            </a:r>
            <a:r>
              <a:rPr lang="en-US" altLang="zh-CN" sz="1800" dirty="0" err="1">
                <a:solidFill>
                  <a:srgbClr val="595959"/>
                </a:solidFill>
                <a:latin typeface="微软雅黑" panose="020B0503020204020204" pitchFamily="34" charset="-122"/>
                <a:ea typeface="微软雅黑" panose="020B0503020204020204" pitchFamily="34" charset="-122"/>
                <a:sym typeface="+mn-lt"/>
              </a:rPr>
              <a:t>。@Transactional的常用属性如</a:t>
            </a:r>
            <a:r>
              <a:rPr lang="zh-CN" altLang="en-US" sz="1800" dirty="0" err="1">
                <a:solidFill>
                  <a:srgbClr val="595959"/>
                </a:solidFill>
                <a:latin typeface="微软雅黑" panose="020B0503020204020204" pitchFamily="34" charset="-122"/>
                <a:ea typeface="微软雅黑" panose="020B0503020204020204" pitchFamily="34" charset="-122"/>
                <a:sym typeface="+mn-lt"/>
              </a:rPr>
              <a:t>下</a:t>
            </a:r>
            <a:r>
              <a:rPr lang="en-US" altLang="zh-CN" sz="1800" dirty="0" err="1">
                <a:solidFill>
                  <a:srgbClr val="595959"/>
                </a:solidFill>
                <a:latin typeface="微软雅黑" panose="020B0503020204020204" pitchFamily="34" charset="-122"/>
                <a:ea typeface="微软雅黑" panose="020B0503020204020204" pitchFamily="34" charset="-122"/>
                <a:sym typeface="+mn-lt"/>
              </a:rPr>
              <a:t>所示。</a:t>
            </a:r>
            <a:endParaRPr lang="en-US" altLang="zh-CN" sz="1800" dirty="0" err="1">
              <a:solidFill>
                <a:srgbClr val="595959"/>
              </a:solidFill>
              <a:latin typeface="微软雅黑" panose="020B0503020204020204" pitchFamily="34" charset="-122"/>
              <a:ea typeface="微软雅黑" panose="020B0503020204020204" pitchFamily="34" charset="-122"/>
              <a:sym typeface="+mn-lt"/>
            </a:endParaRPr>
          </a:p>
        </p:txBody>
      </p:sp>
      <p:graphicFrame>
        <p:nvGraphicFramePr>
          <p:cNvPr id="3" name="表格 2"/>
          <p:cNvGraphicFramePr/>
          <p:nvPr>
            <p:custDataLst>
              <p:tags r:id="rId2"/>
            </p:custDataLst>
          </p:nvPr>
        </p:nvGraphicFramePr>
        <p:xfrm>
          <a:off x="1146810" y="2524125"/>
          <a:ext cx="9939655" cy="3977640"/>
        </p:xfrm>
        <a:graphic>
          <a:graphicData uri="http://schemas.openxmlformats.org/drawingml/2006/table">
            <a:tbl>
              <a:tblPr/>
              <a:tblGrid>
                <a:gridCol w="4154805"/>
                <a:gridCol w="5784850"/>
              </a:tblGrid>
              <a:tr h="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属性</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value</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用于指定使用的事务管理器</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propagation</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用于指定事务的传播行为</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isolation</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用于指定事务的隔离级别</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timeout</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用于指定事务的超时时间</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readonly</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用于指定事务是否为只读</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rollbackFor</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用于指定导致事务回滚的异常类数组</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rollbackForClassName</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用于指定导致事务回滚的异常类名称数组</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264795">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noRollbackFor</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用于指定不会导致事务回滚的异常类数组</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noRollbackForClassName</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用于指定不会导致事务回滚的异常类名称数组</a:t>
                      </a:r>
                      <a:endParaRPr lang="en-US" altLang="zh-CN" sz="1800" b="0" dirty="0" err="1">
                        <a:solidFill>
                          <a:srgbClr val="595959"/>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1015365" y="1630045"/>
            <a:ext cx="10306050" cy="3810635"/>
          </a:xfrm>
          <a:prstGeom prst="rect">
            <a:avLst/>
          </a:prstGeom>
          <a:noFill/>
        </p:spPr>
        <p:txBody>
          <a:bodyPr wrap="square" lIns="0" tIns="0" rIns="0" bIns="0" rtlCol="0">
            <a:noAutofit/>
          </a:bodyPr>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当</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使用@Transactional时</a:t>
            </a:r>
            <a:r>
              <a:rPr lang="en-US" altLang="zh-CN" sz="2000" dirty="0" err="1">
                <a:solidFill>
                  <a:srgbClr val="595959"/>
                </a:solidFill>
                <a:latin typeface="微软雅黑" panose="020B0503020204020204" pitchFamily="34" charset="-122"/>
                <a:ea typeface="微软雅黑" panose="020B0503020204020204" pitchFamily="34" charset="-122"/>
                <a:sym typeface="+mn-lt"/>
              </a:rPr>
              <a:t>，还需在Spring的XML文件中通过</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&lt;tx:annotation-driven&gt;标签配置事务注解驱动</a:t>
            </a:r>
            <a:r>
              <a:rPr lang="en-US" altLang="zh-CN" sz="2000" dirty="0" err="1">
                <a:solidFill>
                  <a:srgbClr val="595959"/>
                </a:solidFill>
                <a:latin typeface="微软雅黑" panose="020B0503020204020204" pitchFamily="34" charset="-122"/>
                <a:ea typeface="微软雅黑" panose="020B0503020204020204" pitchFamily="34" charset="-122"/>
                <a:sym typeface="+mn-lt"/>
              </a:rPr>
              <a:t>，&lt;tx:annotation-driven&gt;标签会告诉Spring</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启用注解驱动的事务管理</a:t>
            </a:r>
            <a:r>
              <a:rPr lang="en-US" altLang="zh-CN" sz="2000" dirty="0" err="1">
                <a:solidFill>
                  <a:srgbClr val="595959"/>
                </a:solidFill>
                <a:latin typeface="微软雅黑" panose="020B0503020204020204" pitchFamily="34" charset="-122"/>
                <a:ea typeface="微软雅黑" panose="020B0503020204020204" pitchFamily="34" charset="-122"/>
                <a:sym typeface="+mn-lt"/>
              </a:rPr>
              <a:t>，并会自动扫描带有@Transactional注解的类和方法，以应用事务管理配置。</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zh-CN" sz="2000" dirty="0">
                <a:solidFill>
                  <a:schemeClr val="accent1"/>
                </a:solidFill>
                <a:latin typeface="微软雅黑" panose="020B0503020204020204" pitchFamily="34" charset="-122"/>
                <a:ea typeface="微软雅黑" panose="020B0503020204020204" pitchFamily="34" charset="-122"/>
                <a:cs typeface="+mn-ea"/>
                <a:sym typeface="+mn-lt"/>
              </a:rPr>
              <a:t>&lt;tx:annotation-driven&gt;标签</a:t>
            </a:r>
            <a:r>
              <a:rPr lang="en-US" altLang="zh-CN" sz="2000" dirty="0" err="1">
                <a:solidFill>
                  <a:srgbClr val="595959"/>
                </a:solidFill>
                <a:latin typeface="微软雅黑" panose="020B0503020204020204" pitchFamily="34" charset="-122"/>
                <a:ea typeface="微软雅黑" panose="020B0503020204020204" pitchFamily="34" charset="-122"/>
                <a:sym typeface="+mn-lt"/>
              </a:rPr>
              <a:t>中有一个常用</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属性transaction-manager</a:t>
            </a:r>
            <a:r>
              <a:rPr lang="en-US" altLang="zh-CN" sz="2000" dirty="0" err="1">
                <a:solidFill>
                  <a:srgbClr val="595959"/>
                </a:solidFill>
                <a:latin typeface="微软雅黑" panose="020B0503020204020204" pitchFamily="34" charset="-122"/>
                <a:ea typeface="微软雅黑" panose="020B0503020204020204" pitchFamily="34" charset="-122"/>
                <a:sym typeface="+mn-lt"/>
              </a:rPr>
              <a:t>，该属性用于</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指定事务管理器</a:t>
            </a:r>
            <a:r>
              <a:rPr lang="en-US" altLang="zh-CN" sz="2000" dirty="0" err="1">
                <a:solidFill>
                  <a:srgbClr val="595959"/>
                </a:solidFill>
                <a:latin typeface="微软雅黑" panose="020B0503020204020204" pitchFamily="34" charset="-122"/>
                <a:ea typeface="微软雅黑" panose="020B0503020204020204" pitchFamily="34" charset="-122"/>
                <a:sym typeface="+mn-lt"/>
              </a:rPr>
              <a:t>，transaction-manager属性</a:t>
            </a:r>
            <a:r>
              <a:rPr lang="zh-CN" sz="2000" dirty="0">
                <a:solidFill>
                  <a:schemeClr val="accent1"/>
                </a:solidFill>
                <a:latin typeface="微软雅黑" panose="020B0503020204020204" pitchFamily="34" charset="-122"/>
                <a:ea typeface="微软雅黑" panose="020B0503020204020204" pitchFamily="34" charset="-122"/>
                <a:cs typeface="+mn-ea"/>
                <a:sym typeface="+mn-lt"/>
              </a:rPr>
              <a:t>默认取值为transactionManager</a:t>
            </a:r>
            <a:r>
              <a:rPr lang="en-US" altLang="zh-CN" sz="2000" dirty="0" err="1">
                <a:solidFill>
                  <a:srgbClr val="595959"/>
                </a:solidFill>
                <a:latin typeface="微软雅黑" panose="020B0503020204020204" pitchFamily="34" charset="-122"/>
                <a:ea typeface="微软雅黑" panose="020B0503020204020204" pitchFamily="34" charset="-122"/>
                <a:sym typeface="+mn-lt"/>
              </a:rPr>
              <a:t>，如果应用程序中存在一个名为transactionManager的事务管理器，并且开发者希望使用该事务管理器，则可以省略对transaction-manager属性的显式配置。</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608179"/>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（1）创建配置文件</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549708" y="4102212"/>
                <a:ext cx="3992245"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文件4-11</a:t>
                </a:r>
                <a:endParaRPr sz="1800">
                  <a:sym typeface="+mn-ea"/>
                </a:endParaRPr>
              </a:p>
              <a:p>
                <a:pPr algn="ctr"/>
                <a:r>
                  <a:rPr sz="1800">
                    <a:sym typeface="+mn-ea"/>
                    <a:hlinkClick r:id="rId7"/>
                  </a:rPr>
                  <a:t>applicationContext-annotation.xml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2242185"/>
            <a:ext cx="1063307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在chapter04项目的src/main/resources目录下，创建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配置文件applicationContext-annotation.xml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，在该文件中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配置事务注解驱动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，如文件4-11所示。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4"/>
            </p:custDataLst>
          </p:nvPr>
        </p:nvSpPr>
        <p:spPr>
          <a:xfrm>
            <a:off x="1120775" y="86233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对项目</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chapter04</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的代码进行修改，</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基于注解方式</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来实现项目中的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事务管理</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24940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（2）修改Dao层实现类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549708" y="4389232"/>
                <a:ext cx="3992245"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7"/>
                  </a:rPr>
                  <a:t>transfer()方法</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63307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AccountDaoImpl实现类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transfer()方法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@Transactional注解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进行标注，具体如下所示。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24940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（3）修改测试类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549708" y="4102212"/>
                <a:ext cx="3992245"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文件4-12</a:t>
                </a:r>
                <a:endParaRPr sz="1800">
                  <a:sym typeface="+mn-ea"/>
                </a:endParaRPr>
              </a:p>
              <a:p>
                <a:pPr algn="ctr"/>
                <a:r>
                  <a:rPr sz="1800">
                    <a:sym typeface="+mn-ea"/>
                    <a:hlinkClick r:id="rId7"/>
                  </a:rPr>
                  <a:t>TransactionTest.java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13"/>
            </p:custDataLst>
          </p:nvPr>
        </p:nvSpPr>
        <p:spPr>
          <a:xfrm>
            <a:off x="993775" y="1883410"/>
            <a:ext cx="1063307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在文件4-10的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TransactionTest测试类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修改</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测试时候所需的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配置文件</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，具体如文件4-12所示。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基于注解方式的声明式事务管理</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249404"/>
            <a:ext cx="2780020"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11" name="文本框 10"/>
          <p:cNvSpPr txBox="1"/>
          <p:nvPr>
            <p:custDataLst>
              <p:tags r:id="rId4"/>
            </p:custDataLst>
          </p:nvPr>
        </p:nvSpPr>
        <p:spPr>
          <a:xfrm>
            <a:off x="993775" y="1883410"/>
            <a:ext cx="10633075"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文件4-12中的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testTransfer()方法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查看account数据表中的数据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2"/>
          <p:cNvPicPr>
            <a:picLocks noChangeAspect="1"/>
          </p:cNvPicPr>
          <p:nvPr>
            <p:custDataLst>
              <p:tags r:id="rId5"/>
            </p:custDataLst>
          </p:nvPr>
        </p:nvPicPr>
        <p:blipFill>
          <a:blip r:embed="rId6"/>
          <a:stretch>
            <a:fillRect/>
          </a:stretch>
        </p:blipFill>
        <p:spPr>
          <a:xfrm>
            <a:off x="3214688" y="2637790"/>
            <a:ext cx="6280062" cy="35496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26245" y="2908355"/>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本章主要讲解了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Spring的数据库编程</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。首先讲解了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JdbcTemplate</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，包括JdbcTemplate概述和JdbcTemplate的增删改查操作；接着讲解了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Spring事务管理概述</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；最后讲解了两种实现声明式事务管理的方式，</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基于XML方式的声明式事务</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基于注解方式的声明式事务</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。通过本章的学习，读者可以对Spring的数据库编程有一定的了解，为框架中数据库开发奠定了基础。</a:t>
            </a:r>
            <a:endPar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圆角矩形 26"/>
          <p:cNvSpPr/>
          <p:nvPr/>
        </p:nvSpPr>
        <p:spPr>
          <a:xfrm>
            <a:off x="839470" y="2396490"/>
            <a:ext cx="10511790" cy="286131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34771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06653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78535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0417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MH" val="20180611105247"/>
  <p:tag name="MH_LIBRARY" val="GRAPHIC"/>
  <p:tag name="MH_TYPE" val="Other"/>
  <p:tag name="MH_ORDER" val="1"/>
  <p:tag name="KSO_WM_BEAUTIFY_FLAG" val=""/>
</p:tagLst>
</file>

<file path=ppt/tags/tag31.xml><?xml version="1.0" encoding="utf-8"?>
<p:tagLst xmlns:p="http://schemas.openxmlformats.org/presentationml/2006/main">
  <p:tag name="MH" val="20180611105247"/>
  <p:tag name="MH_LIBRARY" val="GRAPHIC"/>
  <p:tag name="MH_TYPE" val="SubTitle"/>
  <p:tag name="MH_ORDER" val="4"/>
  <p:tag name="KSO_WM_BEAUTIFY_FLAG" val=""/>
</p:tagLst>
</file>

<file path=ppt/tags/tag32.xml><?xml version="1.0" encoding="utf-8"?>
<p:tagLst xmlns:p="http://schemas.openxmlformats.org/presentationml/2006/main">
  <p:tag name="MH" val="20180611105247"/>
  <p:tag name="MH_LIBRARY" val="GRAPHIC"/>
  <p:tag name="MH_TYPE" val="Text"/>
  <p:tag name="MH_ORDER" val="4"/>
  <p:tag name="KSO_WM_BEAUTIFY_FLAG" val=""/>
</p:tagLst>
</file>

<file path=ppt/tags/tag33.xml><?xml version="1.0" encoding="utf-8"?>
<p:tagLst xmlns:p="http://schemas.openxmlformats.org/presentationml/2006/main">
  <p:tag name="MH" val="20180611105247"/>
  <p:tag name="MH_LIBRARY" val="GRAPHIC"/>
  <p:tag name="MH_TYPE" val="Other"/>
  <p:tag name="MH_ORDER" val="2"/>
  <p:tag name="KSO_WM_BEAUTIFY_FLAG" val=""/>
</p:tagLst>
</file>

<file path=ppt/tags/tag34.xml><?xml version="1.0" encoding="utf-8"?>
<p:tagLst xmlns:p="http://schemas.openxmlformats.org/presentationml/2006/main">
  <p:tag name="MH" val="20180611105247"/>
  <p:tag name="MH_LIBRARY" val="GRAPHIC"/>
  <p:tag name="MH_TYPE" val="SubTitle"/>
  <p:tag name="MH_ORDER" val="1"/>
  <p:tag name="KSO_WM_BEAUTIFY_FLAG" val=""/>
</p:tagLst>
</file>

<file path=ppt/tags/tag35.xml><?xml version="1.0" encoding="utf-8"?>
<p:tagLst xmlns:p="http://schemas.openxmlformats.org/presentationml/2006/main">
  <p:tag name="MH" val="20180611105247"/>
  <p:tag name="MH_LIBRARY" val="GRAPHIC"/>
  <p:tag name="MH_TYPE" val="Text"/>
  <p:tag name="MH_ORDER" val="1"/>
  <p:tag name="KSO_WM_BEAUTIFY_FLAG" val=""/>
</p:tagLst>
</file>

<file path=ppt/tags/tag36.xml><?xml version="1.0" encoding="utf-8"?>
<p:tagLst xmlns:p="http://schemas.openxmlformats.org/presentationml/2006/main">
  <p:tag name="MH" val="20180611105247"/>
  <p:tag name="MH_LIBRARY" val="GRAPHIC"/>
  <p:tag name="MH_TYPE" val="Other"/>
  <p:tag name="MH_ORDER" val="3"/>
  <p:tag name="KSO_WM_BEAUTIFY_FLAG" val=""/>
</p:tagLst>
</file>

<file path=ppt/tags/tag37.xml><?xml version="1.0" encoding="utf-8"?>
<p:tagLst xmlns:p="http://schemas.openxmlformats.org/presentationml/2006/main">
  <p:tag name="MH" val="20180611105247"/>
  <p:tag name="MH_LIBRARY" val="GRAPHIC"/>
  <p:tag name="MH_TYPE" val="Other"/>
  <p:tag name="MH_ORDER" val="4"/>
  <p:tag name="KSO_WM_BEAUTIFY_FLAG" val=""/>
</p:tagLst>
</file>

<file path=ppt/tags/tag38.xml><?xml version="1.0" encoding="utf-8"?>
<p:tagLst xmlns:p="http://schemas.openxmlformats.org/presentationml/2006/main">
  <p:tag name="MH" val="20180611105247"/>
  <p:tag name="MH_LIBRARY" val="GRAPHIC"/>
  <p:tag name="MH_TYPE" val="Other"/>
  <p:tag name="MH_ORDER" val="5"/>
  <p:tag name="KSO_WM_BEAUTIFY_FLAG" val=""/>
</p:tagLst>
</file>

<file path=ppt/tags/tag39.xml><?xml version="1.0" encoding="utf-8"?>
<p:tagLst xmlns:p="http://schemas.openxmlformats.org/presentationml/2006/main">
  <p:tag name="MH" val="20180611105247"/>
  <p:tag name="MH_LIBRARY" val="GRAPHIC"/>
  <p:tag name="MH_TYPE" val="Other"/>
  <p:tag name="MH_ORDER" val="6"/>
  <p:tag name="KSO_WM_BEAUTIFY_FLAG" val=""/>
</p:tagLst>
</file>

<file path=ppt/tags/tag40.xml><?xml version="1.0" encoding="utf-8"?>
<p:tagLst xmlns:p="http://schemas.openxmlformats.org/presentationml/2006/main">
  <p:tag name="MH" val="20180611105247"/>
  <p:tag name="MH_LIBRARY" val="GRAPHIC"/>
  <p:tag name="MH_TYPE" val="Other"/>
  <p:tag name="MH_ORDER" val="7"/>
  <p:tag name="KSO_WM_BEAUTIFY_FLAG" val=""/>
</p:tagLst>
</file>

<file path=ppt/tags/tag41.xml><?xml version="1.0" encoding="utf-8"?>
<p:tagLst xmlns:p="http://schemas.openxmlformats.org/presentationml/2006/main">
  <p:tag name="MH" val="20180611105247"/>
  <p:tag name="MH_LIBRARY" val="GRAPHIC"/>
  <p:tag name="MH_TYPE" val="Other"/>
  <p:tag name="MH_ORDER" val="8"/>
  <p:tag name="KSO_WM_BEAUTIFY_FLAG" val=""/>
</p:tagLst>
</file>

<file path=ppt/tags/tag42.xml><?xml version="1.0" encoding="utf-8"?>
<p:tagLst xmlns:p="http://schemas.openxmlformats.org/presentationml/2006/main">
  <p:tag name="MH" val="20180611105247"/>
  <p:tag name="MH_LIBRARY" val="GRAPHIC"/>
  <p:tag name="MH_TYPE" val="SubTitle"/>
  <p:tag name="MH_ORDER" val="3"/>
  <p:tag name="KSO_WM_BEAUTIFY_FLAG" val=""/>
</p:tagLst>
</file>

<file path=ppt/tags/tag43.xml><?xml version="1.0" encoding="utf-8"?>
<p:tagLst xmlns:p="http://schemas.openxmlformats.org/presentationml/2006/main">
  <p:tag name="MH" val="20180611105247"/>
  <p:tag name="MH_LIBRARY" val="GRAPHIC"/>
  <p:tag name="MH_TYPE" val="Text"/>
  <p:tag name="MH_ORDER" val="3"/>
  <p:tag name="KSO_WM_BEAUTIFY_FLAG" val=""/>
</p:tagLst>
</file>

<file path=ppt/tags/tag44.xml><?xml version="1.0" encoding="utf-8"?>
<p:tagLst xmlns:p="http://schemas.openxmlformats.org/presentationml/2006/main">
  <p:tag name="MH" val="20180611105247"/>
  <p:tag name="MH_LIBRARY" val="GRAPHIC"/>
  <p:tag name="MH_TYPE" val="SubTitle"/>
  <p:tag name="MH_ORDER" val="2"/>
  <p:tag name="KSO_WM_BEAUTIFY_FLAG" val=""/>
</p:tagLst>
</file>

<file path=ppt/tags/tag45.xml><?xml version="1.0" encoding="utf-8"?>
<p:tagLst xmlns:p="http://schemas.openxmlformats.org/presentationml/2006/main">
  <p:tag name="MH" val="20180611105247"/>
  <p:tag name="MH_LIBRARY" val="GRAPHIC"/>
  <p:tag name="MH_TYPE" val="Text"/>
  <p:tag name="MH_ORDER" val="2"/>
  <p:tag name="KSO_WM_BEAUTIFY_FLAG" val=""/>
</p:tagLst>
</file>

<file path=ppt/tags/tag46.xml><?xml version="1.0" encoding="utf-8"?>
<p:tagLst xmlns:p="http://schemas.openxmlformats.org/presentationml/2006/main">
  <p:tag name="MH" val="20180611105247"/>
  <p:tag name="MH_LIBRARY" val="GRAPHIC"/>
  <p:tag name="MH_TYPE" val="SubTitle"/>
  <p:tag name="MH_ORDER" val="1"/>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TABLE_BEAUTIFY" val="smartTable{5a7836c6-2f9b-48e7-a678-2c80b8863e0d}"/>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UNIT_TABLE_BEAUTIFY" val="smartTable{6e5913da-c730-47c7-aad5-21acdcdddb37}"/>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UNIT_TABLE_BEAUTIFY" val="smartTable{62b4efdb-c029-4a88-83f5-22c1756ce752}"/>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UNIT_TABLE_BEAUTIFY" val="smartTable{ab8e9991-333c-43a2-abe9-e4fc25c3ad40}"/>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UNIT_TABLE_BEAUTIFY" val="smartTable{0943c7c3-d076-45f4-9272-a31d3c0470af}"/>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UNIT_TABLE_BEAUTIFY" val="smartTable{2f5adbe4-0467-4b17-b676-62df70eac036}"/>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UNIT_TABLE_BEAUTIFY" val="smartTable{cba784f9-3a12-4908-a652-e15ccaab87da}"/>
  <p:tag name="TABLE_ENDDRAG_ORIGIN_RECT" val="801*218"/>
  <p:tag name="TABLE_ENDDRAG_RECT" val="83*241*801*218"/>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UNIT_TABLE_BEAUTIFY" val="smartTable{b7f271fd-79f0-496c-86e7-568cdf570c66}"/>
  <p:tag name="TABLE_ENDDRAG_ORIGIN_RECT" val="827*302"/>
  <p:tag name="TABLE_ENDDRAG_RECT" val="75*203*827*302"/>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UNIT_TABLE_BEAUTIFY" val="smartTable{f2c557c2-c1c7-4559-8771-538a2a0b2e4d}"/>
  <p:tag name="TABLE_ENDDRAG_ORIGIN_RECT" val="786*309"/>
  <p:tag name="TABLE_ENDDRAG_RECT" val="84*115*786*309"/>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UNIT_TABLE_BEAUTIFY" val="smartTable{51188256-ae14-4f9b-ae0d-33c0c079a948}"/>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10867</Words>
  <Application>WPS 文字</Application>
  <PresentationFormat>自定义</PresentationFormat>
  <Paragraphs>739</Paragraphs>
  <Slides>62</Slides>
  <Notes>73</Notes>
  <HiddenSlides>0</HiddenSlides>
  <MMClips>0</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62</vt:i4>
      </vt:variant>
    </vt:vector>
  </HeadingPairs>
  <TitlesOfParts>
    <vt:vector size="93" baseType="lpstr">
      <vt:lpstr>Arial</vt:lpstr>
      <vt:lpstr>宋体</vt:lpstr>
      <vt:lpstr>Wingdings</vt:lpstr>
      <vt:lpstr>微软雅黑</vt:lpstr>
      <vt:lpstr>汉仪旗黑</vt:lpstr>
      <vt:lpstr>汉仪书宋二KW</vt:lpstr>
      <vt:lpstr>思源黑体 CN Medium</vt:lpstr>
      <vt:lpstr>字魂58号-创中黑</vt:lpstr>
      <vt:lpstr>Source Han Sans K Bold</vt:lpstr>
      <vt:lpstr>Calibri</vt:lpstr>
      <vt:lpstr>U.S. 101</vt:lpstr>
      <vt:lpstr>苹方-简</vt:lpstr>
      <vt:lpstr>Roboto</vt:lpstr>
      <vt:lpstr>Open Sans Light</vt:lpstr>
      <vt:lpstr>等线</vt:lpstr>
      <vt:lpstr>宋体</vt:lpstr>
      <vt:lpstr>Arial Unicode MS</vt:lpstr>
      <vt:lpstr>Helvetica Neue</vt:lpstr>
      <vt:lpstr>微软雅黑 Light</vt:lpstr>
      <vt:lpstr>Courier New</vt:lpstr>
      <vt:lpstr>思源黑体 CN Normal</vt:lpstr>
      <vt:lpstr>汉仪中黑KW</vt:lpstr>
      <vt:lpstr>冬青黑体简体中文</vt:lpstr>
      <vt:lpstr>Source Han Sans K Bold</vt:lpstr>
      <vt:lpstr>字魂58号-创中黑</vt:lpstr>
      <vt:lpstr>微软雅黑</vt:lpstr>
      <vt:lpstr>思源黑体 CN Medium</vt:lpstr>
      <vt:lpstr>思源黑体 CN Normal</vt:lpstr>
      <vt:lpstr>汉仪中等线KW</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qzuser</cp:lastModifiedBy>
  <cp:revision>1221</cp:revision>
  <dcterms:created xsi:type="dcterms:W3CDTF">2026-04-09T17:26:41Z</dcterms:created>
  <dcterms:modified xsi:type="dcterms:W3CDTF">2026-04-09T17:26:41Z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69DB4B6826B6494390E926BE37E6C64D</vt:lpwstr>
  </property>
</Properties>
</file>