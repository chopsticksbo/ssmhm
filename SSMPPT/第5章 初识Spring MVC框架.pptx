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3"/>
  </p:handoutMasterIdLst>
  <p:sldIdLst>
    <p:sldId id="583" r:id="rId4"/>
    <p:sldId id="1124" r:id="rId6"/>
    <p:sldId id="586" r:id="rId7"/>
    <p:sldId id="587" r:id="rId8"/>
    <p:sldId id="309" r:id="rId9"/>
    <p:sldId id="1323" r:id="rId10"/>
    <p:sldId id="899" r:id="rId11"/>
    <p:sldId id="1426" r:id="rId12"/>
    <p:sldId id="1427" r:id="rId13"/>
    <p:sldId id="1428" r:id="rId14"/>
    <p:sldId id="1429" r:id="rId15"/>
    <p:sldId id="1430" r:id="rId16"/>
    <p:sldId id="1431" r:id="rId17"/>
    <p:sldId id="1433" r:id="rId18"/>
    <p:sldId id="1435" r:id="rId19"/>
    <p:sldId id="1436" r:id="rId20"/>
    <p:sldId id="1437" r:id="rId21"/>
    <p:sldId id="1438" r:id="rId22"/>
    <p:sldId id="1440" r:id="rId23"/>
    <p:sldId id="1441" r:id="rId24"/>
    <p:sldId id="1442" r:id="rId25"/>
    <p:sldId id="1443" r:id="rId26"/>
    <p:sldId id="1444" r:id="rId27"/>
    <p:sldId id="1445" r:id="rId28"/>
    <p:sldId id="1446" r:id="rId29"/>
    <p:sldId id="1447" r:id="rId30"/>
    <p:sldId id="1432" r:id="rId31"/>
    <p:sldId id="1448" r:id="rId32"/>
    <p:sldId id="776" r:id="rId33"/>
    <p:sldId id="1449" r:id="rId34"/>
    <p:sldId id="1450" r:id="rId35"/>
    <p:sldId id="1451" r:id="rId36"/>
    <p:sldId id="1452" r:id="rId37"/>
    <p:sldId id="1453" r:id="rId38"/>
    <p:sldId id="1455" r:id="rId39"/>
    <p:sldId id="1456" r:id="rId40"/>
    <p:sldId id="1457" r:id="rId41"/>
    <p:sldId id="1454" r:id="rId42"/>
    <p:sldId id="1458" r:id="rId43"/>
    <p:sldId id="1459" r:id="rId44"/>
    <p:sldId id="1460" r:id="rId45"/>
    <p:sldId id="1461" r:id="rId46"/>
    <p:sldId id="1462" r:id="rId47"/>
    <p:sldId id="1463" r:id="rId48"/>
    <p:sldId id="1464" r:id="rId49"/>
    <p:sldId id="1465" r:id="rId50"/>
    <p:sldId id="1466" r:id="rId51"/>
    <p:sldId id="1467" r:id="rId52"/>
    <p:sldId id="1468" r:id="rId53"/>
    <p:sldId id="1469" r:id="rId54"/>
    <p:sldId id="1470" r:id="rId55"/>
    <p:sldId id="1471" r:id="rId56"/>
    <p:sldId id="1473" r:id="rId57"/>
    <p:sldId id="1472" r:id="rId58"/>
    <p:sldId id="1474" r:id="rId59"/>
    <p:sldId id="1475" r:id="rId60"/>
    <p:sldId id="889" r:id="rId61"/>
    <p:sldId id="617" r:id="rId62"/>
  </p:sldIdLst>
  <p:sldSz cx="12190095" cy="6859270"/>
  <p:notesSz cx="6858000" cy="9144000"/>
  <p:custDataLst>
    <p:tags r:id="rId68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2" userDrawn="1">
          <p15:clr>
            <a:srgbClr val="A4A3A4"/>
          </p15:clr>
        </p15:guide>
        <p15:guide id="2" pos="626" userDrawn="1">
          <p15:clr>
            <a:srgbClr val="A4A3A4"/>
          </p15:clr>
        </p15:guide>
        <p15:guide id="3" pos="699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982"/>
        <p:guide pos="626"/>
        <p:guide pos="69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741"/>
        <p:guide pos="220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8" Type="http://schemas.openxmlformats.org/officeDocument/2006/relationships/tags" Target="tags/tag251.xml"/><Relationship Id="rId67" Type="http://schemas.openxmlformats.org/officeDocument/2006/relationships/commentAuthors" Target="commentAuthors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9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9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image" Target="../media/image2.png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1" Type="http://schemas.openxmlformats.org/officeDocument/2006/relationships/tags" Target="../tags/tag3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3" Type="http://schemas.openxmlformats.org/officeDocument/2006/relationships/notesSlide" Target="../notesSlides/notesSlide11.xml"/><Relationship Id="rId32" Type="http://schemas.openxmlformats.org/officeDocument/2006/relationships/slideLayout" Target="../slideLayouts/slideLayout10.xml"/><Relationship Id="rId31" Type="http://schemas.openxmlformats.org/officeDocument/2006/relationships/tags" Target="../tags/tag71.xml"/><Relationship Id="rId30" Type="http://schemas.openxmlformats.org/officeDocument/2006/relationships/tags" Target="../tags/tag70.xml"/><Relationship Id="rId3" Type="http://schemas.openxmlformats.org/officeDocument/2006/relationships/tags" Target="../tags/tag43.xml"/><Relationship Id="rId29" Type="http://schemas.openxmlformats.org/officeDocument/2006/relationships/tags" Target="../tags/tag69.xml"/><Relationship Id="rId28" Type="http://schemas.openxmlformats.org/officeDocument/2006/relationships/tags" Target="../tags/tag68.xml"/><Relationship Id="rId27" Type="http://schemas.openxmlformats.org/officeDocument/2006/relationships/tags" Target="../tags/tag67.xml"/><Relationship Id="rId26" Type="http://schemas.openxmlformats.org/officeDocument/2006/relationships/tags" Target="../tags/tag66.xml"/><Relationship Id="rId25" Type="http://schemas.openxmlformats.org/officeDocument/2006/relationships/tags" Target="../tags/tag65.xml"/><Relationship Id="rId24" Type="http://schemas.openxmlformats.org/officeDocument/2006/relationships/tags" Target="../tags/tag64.xml"/><Relationship Id="rId23" Type="http://schemas.openxmlformats.org/officeDocument/2006/relationships/tags" Target="../tags/tag63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image" Target="../media/image2.png"/><Relationship Id="rId1" Type="http://schemas.openxmlformats.org/officeDocument/2006/relationships/tags" Target="../tags/tag7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hyperlink" Target="http://stu.ityxb.com/ebookview/f2aae098f9d4dd608a1863b0aff93186" TargetMode="External"/><Relationship Id="rId6" Type="http://schemas.openxmlformats.org/officeDocument/2006/relationships/tags" Target="../tags/tag91.xml"/><Relationship Id="rId5" Type="http://schemas.openxmlformats.org/officeDocument/2006/relationships/image" Target="../media/image7.png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95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94.xml"/><Relationship Id="rId1" Type="http://schemas.openxmlformats.org/officeDocument/2006/relationships/tags" Target="../tags/tag8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hyperlink" Target="http://stu.ityxb.com/ebookview/7f867d4947dfad946b32016bb4aa9745" TargetMode="External"/><Relationship Id="rId6" Type="http://schemas.openxmlformats.org/officeDocument/2006/relationships/tags" Target="../tags/tag100.xml"/><Relationship Id="rId5" Type="http://schemas.openxmlformats.org/officeDocument/2006/relationships/image" Target="../media/image7.png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04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103.xml"/><Relationship Id="rId1" Type="http://schemas.openxmlformats.org/officeDocument/2006/relationships/tags" Target="../tags/tag9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hyperlink" Target="http://stu.ityxb.com/ebookview/bfd981afbf1aae00fb073e7e846df1c9" TargetMode="External"/><Relationship Id="rId6" Type="http://schemas.openxmlformats.org/officeDocument/2006/relationships/tags" Target="../tags/tag109.xml"/><Relationship Id="rId5" Type="http://schemas.openxmlformats.org/officeDocument/2006/relationships/image" Target="../media/image7.png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13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112.xml"/><Relationship Id="rId1" Type="http://schemas.openxmlformats.org/officeDocument/2006/relationships/tags" Target="../tags/tag10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hyperlink" Target="http://stu.ityxb.com/ebookview/de79793497e83274d9da60d1f7cc6b72" TargetMode="External"/><Relationship Id="rId6" Type="http://schemas.openxmlformats.org/officeDocument/2006/relationships/tags" Target="../tags/tag118.xml"/><Relationship Id="rId5" Type="http://schemas.openxmlformats.org/officeDocument/2006/relationships/image" Target="../media/image7.png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5" Type="http://schemas.openxmlformats.org/officeDocument/2006/relationships/notesSlide" Target="../notesSlides/notesSlide19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22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121.xml"/><Relationship Id="rId1" Type="http://schemas.openxmlformats.org/officeDocument/2006/relationships/tags" Target="../tags/tag11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hyperlink" Target="http://stu.ityxb.com/ebookview/e95f56d9f7f209094a14388382da62d6" TargetMode="External"/><Relationship Id="rId6" Type="http://schemas.openxmlformats.org/officeDocument/2006/relationships/tags" Target="../tags/tag127.xml"/><Relationship Id="rId5" Type="http://schemas.openxmlformats.org/officeDocument/2006/relationships/image" Target="../media/image7.png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31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130.xml"/><Relationship Id="rId1" Type="http://schemas.openxmlformats.org/officeDocument/2006/relationships/tags" Target="../tags/tag12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image" Target="../media/image2.png"/><Relationship Id="rId1" Type="http://schemas.openxmlformats.org/officeDocument/2006/relationships/tags" Target="../tags/tag15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image" Target="../media/image2.png"/><Relationship Id="rId1" Type="http://schemas.openxmlformats.org/officeDocument/2006/relationships/tags" Target="../tags/tag16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7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image" Target="../media/image2.png"/><Relationship Id="rId1" Type="http://schemas.openxmlformats.org/officeDocument/2006/relationships/tags" Target="../tags/tag17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9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3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hyperlink" Target="http://stu.ityxb.com/ebookview/b728860cb51af3a61d0dfdf9c7d85425" TargetMode="External"/><Relationship Id="rId3" Type="http://schemas.openxmlformats.org/officeDocument/2006/relationships/tags" Target="../tags/tag185.xml"/><Relationship Id="rId2" Type="http://schemas.openxmlformats.org/officeDocument/2006/relationships/image" Target="../media/image7.png"/><Relationship Id="rId12" Type="http://schemas.openxmlformats.org/officeDocument/2006/relationships/notesSlide" Target="../notesSlides/notesSlide38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189.xml"/><Relationship Id="rId1" Type="http://schemas.openxmlformats.org/officeDocument/2006/relationships/tags" Target="../tags/tag184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5.png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6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2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hyperlink" Target="http://stu.ityxb.com/ebookview/58f8b6c7468b5f735e09743b2464f6b1" TargetMode="External"/><Relationship Id="rId4" Type="http://schemas.openxmlformats.org/officeDocument/2006/relationships/tags" Target="../tags/tag210.xml"/><Relationship Id="rId3" Type="http://schemas.openxmlformats.org/officeDocument/2006/relationships/image" Target="../media/image7.png"/><Relationship Id="rId2" Type="http://schemas.openxmlformats.org/officeDocument/2006/relationships/tags" Target="../tags/tag209.xml"/><Relationship Id="rId12" Type="http://schemas.openxmlformats.org/officeDocument/2006/relationships/notesSlide" Target="../notesSlides/notesSlide45.xml"/><Relationship Id="rId11" Type="http://schemas.openxmlformats.org/officeDocument/2006/relationships/slideLayout" Target="../slideLayouts/slideLayout10.xml"/><Relationship Id="rId10" Type="http://schemas.openxmlformats.org/officeDocument/2006/relationships/image" Target="../media/image9.svg"/><Relationship Id="rId1" Type="http://schemas.openxmlformats.org/officeDocument/2006/relationships/tags" Target="../tags/tag208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6.png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8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image" Target="../media/image2.png"/><Relationship Id="rId1" Type="http://schemas.openxmlformats.org/officeDocument/2006/relationships/tags" Target="../tags/tag224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2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0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0" Type="http://schemas.openxmlformats.org/officeDocument/2006/relationships/notesSlide" Target="../notesSlides/notesSlide55.xml"/><Relationship Id="rId1" Type="http://schemas.openxmlformats.org/officeDocument/2006/relationships/tags" Target="../tags/tag241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50.xml"/><Relationship Id="rId1" Type="http://schemas.openxmlformats.org/officeDocument/2006/relationships/tags" Target="../tags/tag24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第5章 初识Spring MVC框架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>
            <p:custDataLst>
              <p:tags r:id="rId1"/>
            </p:custDataLst>
          </p:nvPr>
        </p:nvGrpSpPr>
        <p:grpSpPr>
          <a:xfrm>
            <a:off x="1557655" y="1991360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>
              <p:custDataLst>
                <p:tags r:id="rId2"/>
              </p:custDataLst>
            </p:nvPr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 MVC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的相关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概念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及其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特点</a:t>
              </a:r>
              <a:endPara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>
              <p:custDataLst>
                <p:tags r:id="rId3"/>
              </p:custDataLst>
            </p:nvPr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4"/>
            </p:custDataLst>
          </p:nvPr>
        </p:nvGrpSpPr>
        <p:grpSpPr>
          <a:xfrm>
            <a:off x="1557655" y="310832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>
              <p:custDataLst>
                <p:tags r:id="rId5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 MVC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执行流程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>
              <p:custDataLst>
                <p:tags r:id="rId6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1557655" y="4226560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>
              <p:custDataLst>
                <p:tags r:id="rId8"/>
              </p:custDataLst>
            </p:nvPr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能够独立实现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 MVC的入门程序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>
              <p:custDataLst>
                <p:tags r:id="rId9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10"/>
            </p:custDataLst>
          </p:nvPr>
        </p:nvGrpSpPr>
        <p:grpSpPr>
          <a:xfrm>
            <a:off x="1557655" y="5316220"/>
            <a:ext cx="9006205" cy="689610"/>
            <a:chOff x="978872" y="2570437"/>
            <a:chExt cx="5437064" cy="517208"/>
          </a:xfrm>
        </p:grpSpPr>
        <p:sp>
          <p:nvSpPr>
            <p:cNvPr id="3" name="Pentagon 5"/>
            <p:cNvSpPr/>
            <p:nvPr>
              <p:custDataLst>
                <p:tags r:id="rId11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 MVC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请求映射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，能够使用注解的方式实现Spring MVC的请求映射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1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早期Java Web应用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JSP Model2架构模型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实现，该模型采用JSP、Servlet以及Java Bean技术实现页面显示、流程控制和业务逻辑的分离。然而，JSP Model2架构模型将流程控制等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通用逻辑以硬编码的方式实现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，这导致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开发新的Web应用程序时，都需要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重新编写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Servlet控制器的URL分析代码以及流程控制等Web层通用逻辑代码。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为了解决JSP Model2架构模型在实践中的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局限性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，一些基于JSP Model2架构基础发展起来的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MVC应用框架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应运而生，其中，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是目前主流的Web MVC应用框架之一。本章将开启Spring MVC的学习之路。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363156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537654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155720"/>
            <a:ext cx="1192190" cy="612775"/>
            <a:chOff x="2215144" y="982844"/>
            <a:chExt cx="1244730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93075" y="1005670"/>
              <a:ext cx="1066799" cy="802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209544"/>
            <a:ext cx="1192190" cy="612775"/>
            <a:chOff x="2215144" y="2026500"/>
            <a:chExt cx="1244730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146841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 MVC简介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19271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 MVC入门程序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269359"/>
            <a:ext cx="1192190" cy="612775"/>
            <a:chOff x="2215144" y="2026500"/>
            <a:chExt cx="1244730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252533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 MVC的执行流程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982696" y="5345684"/>
            <a:ext cx="1192190" cy="612775"/>
            <a:chOff x="2215144" y="2026500"/>
            <a:chExt cx="1244730" cy="850129"/>
          </a:xfrm>
        </p:grpSpPr>
        <p:sp>
          <p:nvSpPr>
            <p:cNvPr id="28" name="平行四边形 27"/>
            <p:cNvSpPr/>
            <p:nvPr>
              <p:custDataLst>
                <p:tags r:id="rId1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0"/>
            <p:cNvSpPr txBox="1"/>
            <p:nvPr>
              <p:custDataLst>
                <p:tags r:id="rId1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888248" y="5328858"/>
            <a:ext cx="5496560" cy="612775"/>
            <a:chOff x="4315150" y="1647579"/>
            <a:chExt cx="4122956" cy="539804"/>
          </a:xfrm>
        </p:grpSpPr>
        <p:sp>
          <p:nvSpPr>
            <p:cNvPr id="31" name="矩形 30"/>
            <p:cNvSpPr/>
            <p:nvPr>
              <p:custDataLst>
                <p:tags r:id="rId15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 MVC的请求映射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>
              <p:custDataLst>
                <p:tags r:id="rId16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MVC简介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MVC简介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 MVC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的相关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概念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及其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特点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MVC简介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MVC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（Model-View-Controller，模型-视图-控制器）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是一种广泛使用的软件设计模式，用于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组织应用程序的代码和功能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，它将应用程序分为三个核心部分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：模型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（Model）、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（View）和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（Controller）。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135" y="3141028"/>
            <a:ext cx="8082880" cy="296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MVC简介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174750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在Java EE开发中，系统经典的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三层架构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表现层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业务逻辑层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数据访问层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表现层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相当于MVC模式中的视图+控制器的组合，负责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接收客户端请求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，并向客户端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业务逻辑层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业务逻辑的处理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，与项目需求紧密相关；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数据访问层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与数据库交互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，对数据库表进行增删改查操作。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995" y="3286760"/>
            <a:ext cx="8330565" cy="2760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MVC简介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是基于MVC设计模式的一个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轻量级的Web框架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，是Spring框架的一个模块，正式名称为Spring Web MVC，通常简称为Spring MVC。Spring MVC通过提供一组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实现MVC模式的类和接口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，并基于Spring的依赖注入和面向切面编程等特性，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简化了Web应用程序的开发过程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，使得开发者能够编写更加模块化、可维护的Web应用程序。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MVC简介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82795" y="1125220"/>
            <a:ext cx="298259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zh-CN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MVC常用的组件</a:t>
            </a:r>
            <a:endParaRPr lang="zh-CN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43952" y="1773555"/>
          <a:ext cx="10376535" cy="4501515"/>
        </p:xfrm>
        <a:graphic>
          <a:graphicData uri="http://schemas.openxmlformats.org/drawingml/2006/table">
            <a:tbl>
              <a:tblPr/>
              <a:tblGrid>
                <a:gridCol w="2609215"/>
                <a:gridCol w="7767320"/>
              </a:tblGrid>
              <a:tr h="3867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组件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DispatcherServlet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前端控制器，是整个Spring MVC 流程控制中心，负责统一处理请求和响应，调用其他组件对用户请求进行处理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HandlerMapping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处理器映射器，根据请求的URL、HTTP方法等信息找到对应的处理器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Handler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处理器，是处理请求的业务逻辑组件。处理器在DispatcherServlet的调度下，对具体的请求进行处理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HandlerAdapter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处理器适配器，负责将请求适配到对应处理器处理请求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ViewResolver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视图解析器，视图解析器会根据逻辑视图名解析成物理视图名，再生成View视图对象，最后对View视图对象进行渲染将处理结果通过页面展示给用户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View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视图，通常通过页面标签或页面模板技术将模型数据通过页面展示给用户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MVC简介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064000" y="1489075"/>
            <a:ext cx="4018915" cy="3779520"/>
            <a:chOff x="4279345" y="1987898"/>
            <a:chExt cx="3633306" cy="3489263"/>
          </a:xfrm>
        </p:grpSpPr>
        <p:sp>
          <p:nvSpPr>
            <p:cNvPr id="20" name="Freeform 6"/>
            <p:cNvSpPr/>
            <p:nvPr>
              <p:custDataLst>
                <p:tags r:id="rId1"/>
              </p:custDataLst>
            </p:nvPr>
          </p:nvSpPr>
          <p:spPr bwMode="auto">
            <a:xfrm>
              <a:off x="6730633" y="3053229"/>
              <a:ext cx="1182018" cy="1364059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1" name="Freeform 7"/>
            <p:cNvSpPr/>
            <p:nvPr>
              <p:custDataLst>
                <p:tags r:id="rId2"/>
              </p:custDataLst>
            </p:nvPr>
          </p:nvSpPr>
          <p:spPr bwMode="auto">
            <a:xfrm>
              <a:off x="4279345" y="3053229"/>
              <a:ext cx="1180655" cy="1364059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2" name="Freeform 8"/>
            <p:cNvSpPr/>
            <p:nvPr>
              <p:custDataLst>
                <p:tags r:id="rId3"/>
              </p:custDataLst>
            </p:nvPr>
          </p:nvSpPr>
          <p:spPr bwMode="auto">
            <a:xfrm>
              <a:off x="4891486" y="1987898"/>
              <a:ext cx="1180655" cy="1365423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3" name="Freeform 9"/>
            <p:cNvSpPr/>
            <p:nvPr>
              <p:custDataLst>
                <p:tags r:id="rId4"/>
              </p:custDataLst>
            </p:nvPr>
          </p:nvSpPr>
          <p:spPr bwMode="auto">
            <a:xfrm>
              <a:off x="6119857" y="1987898"/>
              <a:ext cx="1180655" cy="1365423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4" name="Freeform 10"/>
            <p:cNvSpPr/>
            <p:nvPr>
              <p:custDataLst>
                <p:tags r:id="rId5"/>
              </p:custDataLst>
            </p:nvPr>
          </p:nvSpPr>
          <p:spPr bwMode="auto">
            <a:xfrm>
              <a:off x="4891486" y="4111738"/>
              <a:ext cx="1180655" cy="1365423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Freeform 11"/>
            <p:cNvSpPr/>
            <p:nvPr>
              <p:custDataLst>
                <p:tags r:id="rId6"/>
              </p:custDataLst>
            </p:nvPr>
          </p:nvSpPr>
          <p:spPr bwMode="auto">
            <a:xfrm>
              <a:off x="6119857" y="4111738"/>
              <a:ext cx="1180655" cy="1365423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Freeform 13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4628361" y="3477450"/>
              <a:ext cx="526251" cy="519707"/>
            </a:xfrm>
            <a:custGeom>
              <a:avLst/>
              <a:gdLst>
                <a:gd name="T0" fmla="*/ 909 w 1006"/>
                <a:gd name="T1" fmla="*/ 858 h 995"/>
                <a:gd name="T2" fmla="*/ 805 w 1006"/>
                <a:gd name="T3" fmla="*/ 858 h 995"/>
                <a:gd name="T4" fmla="*/ 969 w 1006"/>
                <a:gd name="T5" fmla="*/ 97 h 995"/>
                <a:gd name="T6" fmla="*/ 834 w 1006"/>
                <a:gd name="T7" fmla="*/ 0 h 995"/>
                <a:gd name="T8" fmla="*/ 472 w 1006"/>
                <a:gd name="T9" fmla="*/ 323 h 995"/>
                <a:gd name="T10" fmla="*/ 421 w 1006"/>
                <a:gd name="T11" fmla="*/ 397 h 995"/>
                <a:gd name="T12" fmla="*/ 376 w 1006"/>
                <a:gd name="T13" fmla="*/ 419 h 995"/>
                <a:gd name="T14" fmla="*/ 381 w 1006"/>
                <a:gd name="T15" fmla="*/ 556 h 995"/>
                <a:gd name="T16" fmla="*/ 89 w 1006"/>
                <a:gd name="T17" fmla="*/ 810 h 995"/>
                <a:gd name="T18" fmla="*/ 57 w 1006"/>
                <a:gd name="T19" fmla="*/ 995 h 995"/>
                <a:gd name="T20" fmla="*/ 208 w 1006"/>
                <a:gd name="T21" fmla="*/ 844 h 995"/>
                <a:gd name="T22" fmla="*/ 445 w 1006"/>
                <a:gd name="T23" fmla="*/ 621 h 995"/>
                <a:gd name="T24" fmla="*/ 578 w 1006"/>
                <a:gd name="T25" fmla="*/ 621 h 995"/>
                <a:gd name="T26" fmla="*/ 616 w 1006"/>
                <a:gd name="T27" fmla="*/ 537 h 995"/>
                <a:gd name="T28" fmla="*/ 674 w 1006"/>
                <a:gd name="T29" fmla="*/ 525 h 995"/>
                <a:gd name="T30" fmla="*/ 969 w 1006"/>
                <a:gd name="T31" fmla="*/ 97 h 995"/>
                <a:gd name="T32" fmla="*/ 392 w 1006"/>
                <a:gd name="T33" fmla="*/ 325 h 995"/>
                <a:gd name="T34" fmla="*/ 404 w 1006"/>
                <a:gd name="T35" fmla="*/ 312 h 995"/>
                <a:gd name="T36" fmla="*/ 436 w 1006"/>
                <a:gd name="T37" fmla="*/ 281 h 995"/>
                <a:gd name="T38" fmla="*/ 215 w 1006"/>
                <a:gd name="T39" fmla="*/ 1 h 995"/>
                <a:gd name="T40" fmla="*/ 280 w 1006"/>
                <a:gd name="T41" fmla="*/ 160 h 995"/>
                <a:gd name="T42" fmla="*/ 21 w 1006"/>
                <a:gd name="T43" fmla="*/ 195 h 995"/>
                <a:gd name="T44" fmla="*/ 232 w 1006"/>
                <a:gd name="T45" fmla="*/ 447 h 995"/>
                <a:gd name="T46" fmla="*/ 303 w 1006"/>
                <a:gd name="T47" fmla="*/ 433 h 995"/>
                <a:gd name="T48" fmla="*/ 363 w 1006"/>
                <a:gd name="T49" fmla="*/ 354 h 995"/>
                <a:gd name="T50" fmla="*/ 672 w 1006"/>
                <a:gd name="T51" fmla="*/ 606 h 995"/>
                <a:gd name="T52" fmla="*/ 617 w 1006"/>
                <a:gd name="T53" fmla="*/ 660 h 995"/>
                <a:gd name="T54" fmla="*/ 741 w 1006"/>
                <a:gd name="T55" fmla="*/ 871 h 995"/>
                <a:gd name="T56" fmla="*/ 869 w 1006"/>
                <a:gd name="T57" fmla="*/ 995 h 995"/>
                <a:gd name="T58" fmla="*/ 980 w 1006"/>
                <a:gd name="T59" fmla="*/ 825 h 995"/>
                <a:gd name="T60" fmla="*/ 702 w 1006"/>
                <a:gd name="T61" fmla="*/ 576 h 995"/>
                <a:gd name="T62" fmla="*/ 658 w 1006"/>
                <a:gd name="T63" fmla="*/ 579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06" h="995">
                  <a:moveTo>
                    <a:pt x="857" y="806"/>
                  </a:moveTo>
                  <a:cubicBezTo>
                    <a:pt x="886" y="806"/>
                    <a:pt x="909" y="829"/>
                    <a:pt x="909" y="858"/>
                  </a:cubicBezTo>
                  <a:cubicBezTo>
                    <a:pt x="909" y="887"/>
                    <a:pt x="886" y="910"/>
                    <a:pt x="857" y="910"/>
                  </a:cubicBezTo>
                  <a:cubicBezTo>
                    <a:pt x="828" y="910"/>
                    <a:pt x="805" y="887"/>
                    <a:pt x="805" y="858"/>
                  </a:cubicBezTo>
                  <a:cubicBezTo>
                    <a:pt x="805" y="829"/>
                    <a:pt x="828" y="806"/>
                    <a:pt x="857" y="806"/>
                  </a:cubicBezTo>
                  <a:close/>
                  <a:moveTo>
                    <a:pt x="969" y="97"/>
                  </a:moveTo>
                  <a:lnTo>
                    <a:pt x="900" y="28"/>
                  </a:lnTo>
                  <a:cubicBezTo>
                    <a:pt x="882" y="9"/>
                    <a:pt x="858" y="0"/>
                    <a:pt x="834" y="0"/>
                  </a:cubicBezTo>
                  <a:cubicBezTo>
                    <a:pt x="810" y="0"/>
                    <a:pt x="786" y="9"/>
                    <a:pt x="767" y="28"/>
                  </a:cubicBezTo>
                  <a:lnTo>
                    <a:pt x="472" y="323"/>
                  </a:lnTo>
                  <a:cubicBezTo>
                    <a:pt x="481" y="340"/>
                    <a:pt x="475" y="367"/>
                    <a:pt x="460" y="381"/>
                  </a:cubicBezTo>
                  <a:cubicBezTo>
                    <a:pt x="451" y="391"/>
                    <a:pt x="435" y="397"/>
                    <a:pt x="421" y="397"/>
                  </a:cubicBezTo>
                  <a:cubicBezTo>
                    <a:pt x="414" y="397"/>
                    <a:pt x="408" y="396"/>
                    <a:pt x="402" y="393"/>
                  </a:cubicBezTo>
                  <a:lnTo>
                    <a:pt x="376" y="419"/>
                  </a:lnTo>
                  <a:cubicBezTo>
                    <a:pt x="340" y="455"/>
                    <a:pt x="340" y="515"/>
                    <a:pt x="376" y="552"/>
                  </a:cubicBezTo>
                  <a:lnTo>
                    <a:pt x="381" y="556"/>
                  </a:lnTo>
                  <a:lnTo>
                    <a:pt x="151" y="787"/>
                  </a:lnTo>
                  <a:lnTo>
                    <a:pt x="89" y="810"/>
                  </a:lnTo>
                  <a:lnTo>
                    <a:pt x="0" y="938"/>
                  </a:lnTo>
                  <a:lnTo>
                    <a:pt x="57" y="995"/>
                  </a:lnTo>
                  <a:lnTo>
                    <a:pt x="185" y="906"/>
                  </a:lnTo>
                  <a:lnTo>
                    <a:pt x="208" y="844"/>
                  </a:lnTo>
                  <a:lnTo>
                    <a:pt x="439" y="614"/>
                  </a:lnTo>
                  <a:lnTo>
                    <a:pt x="445" y="621"/>
                  </a:lnTo>
                  <a:cubicBezTo>
                    <a:pt x="464" y="639"/>
                    <a:pt x="488" y="648"/>
                    <a:pt x="512" y="648"/>
                  </a:cubicBezTo>
                  <a:cubicBezTo>
                    <a:pt x="536" y="648"/>
                    <a:pt x="560" y="639"/>
                    <a:pt x="578" y="621"/>
                  </a:cubicBezTo>
                  <a:lnTo>
                    <a:pt x="604" y="595"/>
                  </a:lnTo>
                  <a:cubicBezTo>
                    <a:pt x="596" y="577"/>
                    <a:pt x="602" y="551"/>
                    <a:pt x="616" y="537"/>
                  </a:cubicBezTo>
                  <a:cubicBezTo>
                    <a:pt x="626" y="527"/>
                    <a:pt x="642" y="521"/>
                    <a:pt x="656" y="521"/>
                  </a:cubicBezTo>
                  <a:cubicBezTo>
                    <a:pt x="662" y="521"/>
                    <a:pt x="669" y="522"/>
                    <a:pt x="674" y="525"/>
                  </a:cubicBezTo>
                  <a:lnTo>
                    <a:pt x="969" y="230"/>
                  </a:lnTo>
                  <a:cubicBezTo>
                    <a:pt x="1006" y="193"/>
                    <a:pt x="1006" y="133"/>
                    <a:pt x="969" y="97"/>
                  </a:cubicBezTo>
                  <a:close/>
                  <a:moveTo>
                    <a:pt x="363" y="354"/>
                  </a:moveTo>
                  <a:lnTo>
                    <a:pt x="392" y="325"/>
                  </a:lnTo>
                  <a:lnTo>
                    <a:pt x="418" y="338"/>
                  </a:lnTo>
                  <a:lnTo>
                    <a:pt x="404" y="312"/>
                  </a:lnTo>
                  <a:lnTo>
                    <a:pt x="433" y="284"/>
                  </a:lnTo>
                  <a:lnTo>
                    <a:pt x="436" y="281"/>
                  </a:lnTo>
                  <a:cubicBezTo>
                    <a:pt x="442" y="264"/>
                    <a:pt x="446" y="248"/>
                    <a:pt x="446" y="233"/>
                  </a:cubicBezTo>
                  <a:cubicBezTo>
                    <a:pt x="446" y="115"/>
                    <a:pt x="333" y="0"/>
                    <a:pt x="215" y="1"/>
                  </a:cubicBezTo>
                  <a:cubicBezTo>
                    <a:pt x="214" y="1"/>
                    <a:pt x="201" y="15"/>
                    <a:pt x="193" y="22"/>
                  </a:cubicBezTo>
                  <a:cubicBezTo>
                    <a:pt x="288" y="117"/>
                    <a:pt x="280" y="102"/>
                    <a:pt x="280" y="160"/>
                  </a:cubicBezTo>
                  <a:cubicBezTo>
                    <a:pt x="280" y="207"/>
                    <a:pt x="205" y="282"/>
                    <a:pt x="159" y="282"/>
                  </a:cubicBezTo>
                  <a:cubicBezTo>
                    <a:pt x="99" y="282"/>
                    <a:pt x="118" y="291"/>
                    <a:pt x="21" y="195"/>
                  </a:cubicBezTo>
                  <a:cubicBezTo>
                    <a:pt x="14" y="202"/>
                    <a:pt x="0" y="215"/>
                    <a:pt x="0" y="216"/>
                  </a:cubicBezTo>
                  <a:cubicBezTo>
                    <a:pt x="2" y="334"/>
                    <a:pt x="113" y="447"/>
                    <a:pt x="232" y="447"/>
                  </a:cubicBezTo>
                  <a:cubicBezTo>
                    <a:pt x="253" y="447"/>
                    <a:pt x="276" y="440"/>
                    <a:pt x="299" y="429"/>
                  </a:cubicBezTo>
                  <a:lnTo>
                    <a:pt x="303" y="433"/>
                  </a:lnTo>
                  <a:cubicBezTo>
                    <a:pt x="310" y="414"/>
                    <a:pt x="322" y="395"/>
                    <a:pt x="337" y="380"/>
                  </a:cubicBezTo>
                  <a:lnTo>
                    <a:pt x="363" y="354"/>
                  </a:lnTo>
                  <a:close/>
                  <a:moveTo>
                    <a:pt x="658" y="579"/>
                  </a:moveTo>
                  <a:lnTo>
                    <a:pt x="672" y="606"/>
                  </a:lnTo>
                  <a:lnTo>
                    <a:pt x="644" y="634"/>
                  </a:lnTo>
                  <a:lnTo>
                    <a:pt x="617" y="660"/>
                  </a:lnTo>
                  <a:cubicBezTo>
                    <a:pt x="602" y="675"/>
                    <a:pt x="584" y="687"/>
                    <a:pt x="564" y="694"/>
                  </a:cubicBezTo>
                  <a:lnTo>
                    <a:pt x="741" y="871"/>
                  </a:lnTo>
                  <a:lnTo>
                    <a:pt x="824" y="983"/>
                  </a:lnTo>
                  <a:lnTo>
                    <a:pt x="869" y="995"/>
                  </a:lnTo>
                  <a:lnTo>
                    <a:pt x="992" y="871"/>
                  </a:lnTo>
                  <a:lnTo>
                    <a:pt x="980" y="825"/>
                  </a:lnTo>
                  <a:lnTo>
                    <a:pt x="869" y="743"/>
                  </a:lnTo>
                  <a:lnTo>
                    <a:pt x="702" y="576"/>
                  </a:lnTo>
                  <a:lnTo>
                    <a:pt x="685" y="592"/>
                  </a:lnTo>
                  <a:lnTo>
                    <a:pt x="658" y="57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p>
              <a:pPr>
                <a:defRPr/>
              </a:pPr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Freeform 14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311395" y="2357559"/>
              <a:ext cx="377646" cy="515614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p>
              <a:pPr>
                <a:defRPr/>
              </a:pPr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8" name="Freeform 15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6411612" y="2414849"/>
              <a:ext cx="599870" cy="514251"/>
            </a:xfrm>
            <a:custGeom>
              <a:avLst/>
              <a:gdLst>
                <a:gd name="T0" fmla="*/ 737 w 1149"/>
                <a:gd name="T1" fmla="*/ 427 h 983"/>
                <a:gd name="T2" fmla="*/ 640 w 1149"/>
                <a:gd name="T3" fmla="*/ 427 h 983"/>
                <a:gd name="T4" fmla="*/ 616 w 1149"/>
                <a:gd name="T5" fmla="*/ 502 h 983"/>
                <a:gd name="T6" fmla="*/ 640 w 1149"/>
                <a:gd name="T7" fmla="*/ 810 h 983"/>
                <a:gd name="T8" fmla="*/ 575 w 1149"/>
                <a:gd name="T9" fmla="*/ 921 h 983"/>
                <a:gd name="T10" fmla="*/ 514 w 1149"/>
                <a:gd name="T11" fmla="*/ 810 h 983"/>
                <a:gd name="T12" fmla="*/ 549 w 1149"/>
                <a:gd name="T13" fmla="*/ 503 h 983"/>
                <a:gd name="T14" fmla="*/ 524 w 1149"/>
                <a:gd name="T15" fmla="*/ 427 h 983"/>
                <a:gd name="T16" fmla="*/ 417 w 1149"/>
                <a:gd name="T17" fmla="*/ 427 h 983"/>
                <a:gd name="T18" fmla="*/ 417 w 1149"/>
                <a:gd name="T19" fmla="*/ 427 h 983"/>
                <a:gd name="T20" fmla="*/ 241 w 1149"/>
                <a:gd name="T21" fmla="*/ 612 h 983"/>
                <a:gd name="T22" fmla="*/ 266 w 1149"/>
                <a:gd name="T23" fmla="*/ 801 h 983"/>
                <a:gd name="T24" fmla="*/ 443 w 1149"/>
                <a:gd name="T25" fmla="*/ 983 h 983"/>
                <a:gd name="T26" fmla="*/ 711 w 1149"/>
                <a:gd name="T27" fmla="*/ 983 h 983"/>
                <a:gd name="T28" fmla="*/ 888 w 1149"/>
                <a:gd name="T29" fmla="*/ 799 h 983"/>
                <a:gd name="T30" fmla="*/ 913 w 1149"/>
                <a:gd name="T31" fmla="*/ 609 h 983"/>
                <a:gd name="T32" fmla="*/ 737 w 1149"/>
                <a:gd name="T33" fmla="*/ 427 h 983"/>
                <a:gd name="T34" fmla="*/ 218 w 1149"/>
                <a:gd name="T35" fmla="*/ 308 h 983"/>
                <a:gd name="T36" fmla="*/ 330 w 1149"/>
                <a:gd name="T37" fmla="*/ 196 h 983"/>
                <a:gd name="T38" fmla="*/ 218 w 1149"/>
                <a:gd name="T39" fmla="*/ 83 h 983"/>
                <a:gd name="T40" fmla="*/ 105 w 1149"/>
                <a:gd name="T41" fmla="*/ 196 h 983"/>
                <a:gd name="T42" fmla="*/ 218 w 1149"/>
                <a:gd name="T43" fmla="*/ 308 h 983"/>
                <a:gd name="T44" fmla="*/ 318 w 1149"/>
                <a:gd name="T45" fmla="*/ 344 h 983"/>
                <a:gd name="T46" fmla="*/ 118 w 1149"/>
                <a:gd name="T47" fmla="*/ 344 h 983"/>
                <a:gd name="T48" fmla="*/ 118 w 1149"/>
                <a:gd name="T49" fmla="*/ 343 h 983"/>
                <a:gd name="T50" fmla="*/ 7 w 1149"/>
                <a:gd name="T51" fmla="*/ 458 h 983"/>
                <a:gd name="T52" fmla="*/ 23 w 1149"/>
                <a:gd name="T53" fmla="*/ 577 h 983"/>
                <a:gd name="T54" fmla="*/ 134 w 1149"/>
                <a:gd name="T55" fmla="*/ 689 h 983"/>
                <a:gd name="T56" fmla="*/ 191 w 1149"/>
                <a:gd name="T57" fmla="*/ 689 h 983"/>
                <a:gd name="T58" fmla="*/ 180 w 1149"/>
                <a:gd name="T59" fmla="*/ 606 h 983"/>
                <a:gd name="T60" fmla="*/ 180 w 1149"/>
                <a:gd name="T61" fmla="*/ 606 h 983"/>
                <a:gd name="T62" fmla="*/ 180 w 1149"/>
                <a:gd name="T63" fmla="*/ 606 h 983"/>
                <a:gd name="T64" fmla="*/ 231 w 1149"/>
                <a:gd name="T65" fmla="*/ 449 h 983"/>
                <a:gd name="T66" fmla="*/ 308 w 1149"/>
                <a:gd name="T67" fmla="*/ 393 h 983"/>
                <a:gd name="T68" fmla="*/ 387 w 1149"/>
                <a:gd name="T69" fmla="*/ 367 h 983"/>
                <a:gd name="T70" fmla="*/ 318 w 1149"/>
                <a:gd name="T71" fmla="*/ 344 h 983"/>
                <a:gd name="T72" fmla="*/ 931 w 1149"/>
                <a:gd name="T73" fmla="*/ 308 h 983"/>
                <a:gd name="T74" fmla="*/ 1043 w 1149"/>
                <a:gd name="T75" fmla="*/ 196 h 983"/>
                <a:gd name="T76" fmla="*/ 931 w 1149"/>
                <a:gd name="T77" fmla="*/ 83 h 983"/>
                <a:gd name="T78" fmla="*/ 819 w 1149"/>
                <a:gd name="T79" fmla="*/ 196 h 983"/>
                <a:gd name="T80" fmla="*/ 931 w 1149"/>
                <a:gd name="T81" fmla="*/ 308 h 983"/>
                <a:gd name="T82" fmla="*/ 1031 w 1149"/>
                <a:gd name="T83" fmla="*/ 344 h 983"/>
                <a:gd name="T84" fmla="*/ 831 w 1149"/>
                <a:gd name="T85" fmla="*/ 344 h 983"/>
                <a:gd name="T86" fmla="*/ 831 w 1149"/>
                <a:gd name="T87" fmla="*/ 343 h 983"/>
                <a:gd name="T88" fmla="*/ 763 w 1149"/>
                <a:gd name="T89" fmla="*/ 366 h 983"/>
                <a:gd name="T90" fmla="*/ 847 w 1149"/>
                <a:gd name="T91" fmla="*/ 393 h 983"/>
                <a:gd name="T92" fmla="*/ 925 w 1149"/>
                <a:gd name="T93" fmla="*/ 450 h 983"/>
                <a:gd name="T94" fmla="*/ 974 w 1149"/>
                <a:gd name="T95" fmla="*/ 603 h 983"/>
                <a:gd name="T96" fmla="*/ 974 w 1149"/>
                <a:gd name="T97" fmla="*/ 603 h 983"/>
                <a:gd name="T98" fmla="*/ 974 w 1149"/>
                <a:gd name="T99" fmla="*/ 603 h 983"/>
                <a:gd name="T100" fmla="*/ 962 w 1149"/>
                <a:gd name="T101" fmla="*/ 689 h 983"/>
                <a:gd name="T102" fmla="*/ 1015 w 1149"/>
                <a:gd name="T103" fmla="*/ 689 h 983"/>
                <a:gd name="T104" fmla="*/ 1126 w 1149"/>
                <a:gd name="T105" fmla="*/ 575 h 983"/>
                <a:gd name="T106" fmla="*/ 1142 w 1149"/>
                <a:gd name="T107" fmla="*/ 456 h 983"/>
                <a:gd name="T108" fmla="*/ 1031 w 1149"/>
                <a:gd name="T109" fmla="*/ 344 h 983"/>
                <a:gd name="T110" fmla="*/ 756 w 1149"/>
                <a:gd name="T111" fmla="*/ 184 h 983"/>
                <a:gd name="T112" fmla="*/ 577 w 1149"/>
                <a:gd name="T113" fmla="*/ 369 h 983"/>
                <a:gd name="T114" fmla="*/ 398 w 1149"/>
                <a:gd name="T115" fmla="*/ 184 h 983"/>
                <a:gd name="T116" fmla="*/ 577 w 1149"/>
                <a:gd name="T117" fmla="*/ 0 h 983"/>
                <a:gd name="T118" fmla="*/ 756 w 1149"/>
                <a:gd name="T119" fmla="*/ 184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49" h="983">
                  <a:moveTo>
                    <a:pt x="737" y="427"/>
                  </a:moveTo>
                  <a:lnTo>
                    <a:pt x="640" y="427"/>
                  </a:lnTo>
                  <a:cubicBezTo>
                    <a:pt x="641" y="437"/>
                    <a:pt x="642" y="483"/>
                    <a:pt x="616" y="502"/>
                  </a:cubicBezTo>
                  <a:cubicBezTo>
                    <a:pt x="616" y="502"/>
                    <a:pt x="658" y="735"/>
                    <a:pt x="640" y="810"/>
                  </a:cubicBezTo>
                  <a:cubicBezTo>
                    <a:pt x="633" y="842"/>
                    <a:pt x="606" y="921"/>
                    <a:pt x="575" y="921"/>
                  </a:cubicBezTo>
                  <a:cubicBezTo>
                    <a:pt x="544" y="920"/>
                    <a:pt x="520" y="841"/>
                    <a:pt x="514" y="810"/>
                  </a:cubicBezTo>
                  <a:cubicBezTo>
                    <a:pt x="499" y="735"/>
                    <a:pt x="549" y="503"/>
                    <a:pt x="549" y="503"/>
                  </a:cubicBezTo>
                  <a:cubicBezTo>
                    <a:pt x="541" y="500"/>
                    <a:pt x="527" y="486"/>
                    <a:pt x="524" y="427"/>
                  </a:cubicBezTo>
                  <a:lnTo>
                    <a:pt x="417" y="427"/>
                  </a:lnTo>
                  <a:lnTo>
                    <a:pt x="417" y="427"/>
                  </a:lnTo>
                  <a:cubicBezTo>
                    <a:pt x="320" y="427"/>
                    <a:pt x="229" y="510"/>
                    <a:pt x="241" y="612"/>
                  </a:cubicBezTo>
                  <a:lnTo>
                    <a:pt x="266" y="801"/>
                  </a:lnTo>
                  <a:cubicBezTo>
                    <a:pt x="286" y="902"/>
                    <a:pt x="345" y="983"/>
                    <a:pt x="443" y="983"/>
                  </a:cubicBezTo>
                  <a:lnTo>
                    <a:pt x="711" y="983"/>
                  </a:lnTo>
                  <a:cubicBezTo>
                    <a:pt x="809" y="983"/>
                    <a:pt x="868" y="899"/>
                    <a:pt x="888" y="799"/>
                  </a:cubicBezTo>
                  <a:lnTo>
                    <a:pt x="913" y="609"/>
                  </a:lnTo>
                  <a:cubicBezTo>
                    <a:pt x="925" y="510"/>
                    <a:pt x="834" y="427"/>
                    <a:pt x="737" y="427"/>
                  </a:cubicBezTo>
                  <a:close/>
                  <a:moveTo>
                    <a:pt x="218" y="308"/>
                  </a:moveTo>
                  <a:cubicBezTo>
                    <a:pt x="280" y="308"/>
                    <a:pt x="330" y="258"/>
                    <a:pt x="330" y="196"/>
                  </a:cubicBezTo>
                  <a:cubicBezTo>
                    <a:pt x="330" y="134"/>
                    <a:pt x="280" y="83"/>
                    <a:pt x="218" y="83"/>
                  </a:cubicBezTo>
                  <a:cubicBezTo>
                    <a:pt x="156" y="83"/>
                    <a:pt x="105" y="134"/>
                    <a:pt x="105" y="196"/>
                  </a:cubicBezTo>
                  <a:cubicBezTo>
                    <a:pt x="105" y="258"/>
                    <a:pt x="156" y="308"/>
                    <a:pt x="218" y="308"/>
                  </a:cubicBezTo>
                  <a:close/>
                  <a:moveTo>
                    <a:pt x="318" y="344"/>
                  </a:moveTo>
                  <a:lnTo>
                    <a:pt x="118" y="344"/>
                  </a:lnTo>
                  <a:lnTo>
                    <a:pt x="118" y="343"/>
                  </a:lnTo>
                  <a:cubicBezTo>
                    <a:pt x="57" y="343"/>
                    <a:pt x="0" y="395"/>
                    <a:pt x="7" y="458"/>
                  </a:cubicBezTo>
                  <a:lnTo>
                    <a:pt x="23" y="577"/>
                  </a:lnTo>
                  <a:cubicBezTo>
                    <a:pt x="35" y="639"/>
                    <a:pt x="73" y="689"/>
                    <a:pt x="134" y="689"/>
                  </a:cubicBezTo>
                  <a:lnTo>
                    <a:pt x="191" y="689"/>
                  </a:lnTo>
                  <a:lnTo>
                    <a:pt x="180" y="606"/>
                  </a:lnTo>
                  <a:lnTo>
                    <a:pt x="180" y="606"/>
                  </a:lnTo>
                  <a:lnTo>
                    <a:pt x="180" y="606"/>
                  </a:lnTo>
                  <a:cubicBezTo>
                    <a:pt x="173" y="549"/>
                    <a:pt x="191" y="493"/>
                    <a:pt x="231" y="449"/>
                  </a:cubicBezTo>
                  <a:cubicBezTo>
                    <a:pt x="252" y="425"/>
                    <a:pt x="279" y="406"/>
                    <a:pt x="308" y="393"/>
                  </a:cubicBezTo>
                  <a:cubicBezTo>
                    <a:pt x="333" y="379"/>
                    <a:pt x="359" y="371"/>
                    <a:pt x="387" y="367"/>
                  </a:cubicBezTo>
                  <a:cubicBezTo>
                    <a:pt x="367" y="352"/>
                    <a:pt x="343" y="344"/>
                    <a:pt x="318" y="344"/>
                  </a:cubicBezTo>
                  <a:close/>
                  <a:moveTo>
                    <a:pt x="931" y="308"/>
                  </a:moveTo>
                  <a:cubicBezTo>
                    <a:pt x="993" y="308"/>
                    <a:pt x="1043" y="258"/>
                    <a:pt x="1043" y="196"/>
                  </a:cubicBezTo>
                  <a:cubicBezTo>
                    <a:pt x="1043" y="134"/>
                    <a:pt x="993" y="83"/>
                    <a:pt x="931" y="83"/>
                  </a:cubicBezTo>
                  <a:cubicBezTo>
                    <a:pt x="869" y="83"/>
                    <a:pt x="819" y="134"/>
                    <a:pt x="819" y="196"/>
                  </a:cubicBezTo>
                  <a:cubicBezTo>
                    <a:pt x="819" y="258"/>
                    <a:pt x="869" y="308"/>
                    <a:pt x="931" y="308"/>
                  </a:cubicBezTo>
                  <a:close/>
                  <a:moveTo>
                    <a:pt x="1031" y="344"/>
                  </a:moveTo>
                  <a:lnTo>
                    <a:pt x="831" y="344"/>
                  </a:lnTo>
                  <a:lnTo>
                    <a:pt x="831" y="343"/>
                  </a:lnTo>
                  <a:cubicBezTo>
                    <a:pt x="806" y="343"/>
                    <a:pt x="782" y="352"/>
                    <a:pt x="763" y="366"/>
                  </a:cubicBezTo>
                  <a:cubicBezTo>
                    <a:pt x="792" y="370"/>
                    <a:pt x="821" y="379"/>
                    <a:pt x="847" y="393"/>
                  </a:cubicBezTo>
                  <a:cubicBezTo>
                    <a:pt x="877" y="406"/>
                    <a:pt x="903" y="426"/>
                    <a:pt x="925" y="450"/>
                  </a:cubicBezTo>
                  <a:cubicBezTo>
                    <a:pt x="963" y="494"/>
                    <a:pt x="981" y="548"/>
                    <a:pt x="974" y="603"/>
                  </a:cubicBezTo>
                  <a:lnTo>
                    <a:pt x="974" y="603"/>
                  </a:lnTo>
                  <a:lnTo>
                    <a:pt x="974" y="603"/>
                  </a:lnTo>
                  <a:lnTo>
                    <a:pt x="962" y="689"/>
                  </a:lnTo>
                  <a:lnTo>
                    <a:pt x="1015" y="689"/>
                  </a:lnTo>
                  <a:cubicBezTo>
                    <a:pt x="1076" y="689"/>
                    <a:pt x="1114" y="637"/>
                    <a:pt x="1126" y="575"/>
                  </a:cubicBezTo>
                  <a:lnTo>
                    <a:pt x="1142" y="456"/>
                  </a:lnTo>
                  <a:cubicBezTo>
                    <a:pt x="1149" y="395"/>
                    <a:pt x="1092" y="344"/>
                    <a:pt x="1031" y="344"/>
                  </a:cubicBezTo>
                  <a:close/>
                  <a:moveTo>
                    <a:pt x="756" y="184"/>
                  </a:moveTo>
                  <a:cubicBezTo>
                    <a:pt x="756" y="286"/>
                    <a:pt x="676" y="369"/>
                    <a:pt x="577" y="369"/>
                  </a:cubicBezTo>
                  <a:cubicBezTo>
                    <a:pt x="478" y="369"/>
                    <a:pt x="398" y="286"/>
                    <a:pt x="398" y="184"/>
                  </a:cubicBezTo>
                  <a:cubicBezTo>
                    <a:pt x="398" y="82"/>
                    <a:pt x="478" y="0"/>
                    <a:pt x="577" y="0"/>
                  </a:cubicBezTo>
                  <a:cubicBezTo>
                    <a:pt x="676" y="0"/>
                    <a:pt x="756" y="82"/>
                    <a:pt x="756" y="18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p>
              <a:pPr>
                <a:defRPr/>
              </a:pPr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9" name="Freeform 17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7043691" y="3474722"/>
              <a:ext cx="526251" cy="527891"/>
            </a:xfrm>
            <a:custGeom>
              <a:avLst/>
              <a:gdLst>
                <a:gd name="T0" fmla="*/ 504 w 1008"/>
                <a:gd name="T1" fmla="*/ 1009 h 1009"/>
                <a:gd name="T2" fmla="*/ 0 w 1008"/>
                <a:gd name="T3" fmla="*/ 504 h 1009"/>
                <a:gd name="T4" fmla="*/ 504 w 1008"/>
                <a:gd name="T5" fmla="*/ 0 h 1009"/>
                <a:gd name="T6" fmla="*/ 1008 w 1008"/>
                <a:gd name="T7" fmla="*/ 504 h 1009"/>
                <a:gd name="T8" fmla="*/ 504 w 1008"/>
                <a:gd name="T9" fmla="*/ 1009 h 1009"/>
                <a:gd name="T10" fmla="*/ 725 w 1008"/>
                <a:gd name="T11" fmla="*/ 769 h 1009"/>
                <a:gd name="T12" fmla="*/ 725 w 1008"/>
                <a:gd name="T13" fmla="*/ 769 h 1009"/>
                <a:gd name="T14" fmla="*/ 538 w 1008"/>
                <a:gd name="T15" fmla="*/ 586 h 1009"/>
                <a:gd name="T16" fmla="*/ 504 w 1008"/>
                <a:gd name="T17" fmla="*/ 592 h 1009"/>
                <a:gd name="T18" fmla="*/ 416 w 1008"/>
                <a:gd name="T19" fmla="*/ 504 h 1009"/>
                <a:gd name="T20" fmla="*/ 456 w 1008"/>
                <a:gd name="T21" fmla="*/ 431 h 1009"/>
                <a:gd name="T22" fmla="*/ 456 w 1008"/>
                <a:gd name="T23" fmla="*/ 179 h 1009"/>
                <a:gd name="T24" fmla="*/ 553 w 1008"/>
                <a:gd name="T25" fmla="*/ 179 h 1009"/>
                <a:gd name="T26" fmla="*/ 553 w 1008"/>
                <a:gd name="T27" fmla="*/ 431 h 1009"/>
                <a:gd name="T28" fmla="*/ 592 w 1008"/>
                <a:gd name="T29" fmla="*/ 504 h 1009"/>
                <a:gd name="T30" fmla="*/ 586 w 1008"/>
                <a:gd name="T31" fmla="*/ 536 h 1009"/>
                <a:gd name="T32" fmla="*/ 774 w 1008"/>
                <a:gd name="T33" fmla="*/ 719 h 1009"/>
                <a:gd name="T34" fmla="*/ 725 w 1008"/>
                <a:gd name="T35" fmla="*/ 769 h 1009"/>
                <a:gd name="T36" fmla="*/ 168 w 1008"/>
                <a:gd name="T37" fmla="*/ 471 h 1009"/>
                <a:gd name="T38" fmla="*/ 168 w 1008"/>
                <a:gd name="T39" fmla="*/ 471 h 1009"/>
                <a:gd name="T40" fmla="*/ 234 w 1008"/>
                <a:gd name="T41" fmla="*/ 471 h 1009"/>
                <a:gd name="T42" fmla="*/ 234 w 1008"/>
                <a:gd name="T43" fmla="*/ 538 h 1009"/>
                <a:gd name="T44" fmla="*/ 168 w 1008"/>
                <a:gd name="T45" fmla="*/ 538 h 1009"/>
                <a:gd name="T46" fmla="*/ 168 w 1008"/>
                <a:gd name="T47" fmla="*/ 471 h 1009"/>
                <a:gd name="T48" fmla="*/ 774 w 1008"/>
                <a:gd name="T49" fmla="*/ 471 h 1009"/>
                <a:gd name="T50" fmla="*/ 774 w 1008"/>
                <a:gd name="T51" fmla="*/ 471 h 1009"/>
                <a:gd name="T52" fmla="*/ 840 w 1008"/>
                <a:gd name="T53" fmla="*/ 471 h 1009"/>
                <a:gd name="T54" fmla="*/ 840 w 1008"/>
                <a:gd name="T55" fmla="*/ 538 h 1009"/>
                <a:gd name="T56" fmla="*/ 774 w 1008"/>
                <a:gd name="T57" fmla="*/ 538 h 1009"/>
                <a:gd name="T58" fmla="*/ 774 w 1008"/>
                <a:gd name="T59" fmla="*/ 471 h 1009"/>
                <a:gd name="T60" fmla="*/ 470 w 1008"/>
                <a:gd name="T61" fmla="*/ 840 h 1009"/>
                <a:gd name="T62" fmla="*/ 470 w 1008"/>
                <a:gd name="T63" fmla="*/ 840 h 1009"/>
                <a:gd name="T64" fmla="*/ 470 w 1008"/>
                <a:gd name="T65" fmla="*/ 775 h 1009"/>
                <a:gd name="T66" fmla="*/ 538 w 1008"/>
                <a:gd name="T67" fmla="*/ 775 h 1009"/>
                <a:gd name="T68" fmla="*/ 538 w 1008"/>
                <a:gd name="T69" fmla="*/ 840 h 1009"/>
                <a:gd name="T70" fmla="*/ 470 w 1008"/>
                <a:gd name="T71" fmla="*/ 840 h 1009"/>
                <a:gd name="T72" fmla="*/ 504 w 1008"/>
                <a:gd name="T73" fmla="*/ 912 h 1009"/>
                <a:gd name="T74" fmla="*/ 504 w 1008"/>
                <a:gd name="T75" fmla="*/ 912 h 1009"/>
                <a:gd name="T76" fmla="*/ 912 w 1008"/>
                <a:gd name="T77" fmla="*/ 504 h 1009"/>
                <a:gd name="T78" fmla="*/ 504 w 1008"/>
                <a:gd name="T79" fmla="*/ 97 h 1009"/>
                <a:gd name="T80" fmla="*/ 96 w 1008"/>
                <a:gd name="T81" fmla="*/ 504 h 1009"/>
                <a:gd name="T82" fmla="*/ 504 w 1008"/>
                <a:gd name="T83" fmla="*/ 912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08" h="1009">
                  <a:moveTo>
                    <a:pt x="504" y="1009"/>
                  </a:moveTo>
                  <a:cubicBezTo>
                    <a:pt x="226" y="1009"/>
                    <a:pt x="0" y="783"/>
                    <a:pt x="0" y="504"/>
                  </a:cubicBezTo>
                  <a:cubicBezTo>
                    <a:pt x="0" y="226"/>
                    <a:pt x="226" y="0"/>
                    <a:pt x="504" y="0"/>
                  </a:cubicBezTo>
                  <a:cubicBezTo>
                    <a:pt x="782" y="0"/>
                    <a:pt x="1008" y="226"/>
                    <a:pt x="1008" y="504"/>
                  </a:cubicBezTo>
                  <a:cubicBezTo>
                    <a:pt x="1008" y="783"/>
                    <a:pt x="782" y="1009"/>
                    <a:pt x="504" y="1009"/>
                  </a:cubicBezTo>
                  <a:close/>
                  <a:moveTo>
                    <a:pt x="725" y="769"/>
                  </a:moveTo>
                  <a:lnTo>
                    <a:pt x="725" y="769"/>
                  </a:lnTo>
                  <a:lnTo>
                    <a:pt x="538" y="586"/>
                  </a:lnTo>
                  <a:cubicBezTo>
                    <a:pt x="528" y="590"/>
                    <a:pt x="516" y="592"/>
                    <a:pt x="504" y="592"/>
                  </a:cubicBezTo>
                  <a:cubicBezTo>
                    <a:pt x="455" y="592"/>
                    <a:pt x="416" y="553"/>
                    <a:pt x="416" y="504"/>
                  </a:cubicBezTo>
                  <a:cubicBezTo>
                    <a:pt x="416" y="474"/>
                    <a:pt x="432" y="447"/>
                    <a:pt x="456" y="431"/>
                  </a:cubicBezTo>
                  <a:lnTo>
                    <a:pt x="456" y="179"/>
                  </a:lnTo>
                  <a:cubicBezTo>
                    <a:pt x="456" y="115"/>
                    <a:pt x="553" y="115"/>
                    <a:pt x="553" y="179"/>
                  </a:cubicBezTo>
                  <a:lnTo>
                    <a:pt x="553" y="431"/>
                  </a:lnTo>
                  <a:cubicBezTo>
                    <a:pt x="576" y="447"/>
                    <a:pt x="592" y="474"/>
                    <a:pt x="592" y="504"/>
                  </a:cubicBezTo>
                  <a:cubicBezTo>
                    <a:pt x="592" y="516"/>
                    <a:pt x="590" y="526"/>
                    <a:pt x="586" y="536"/>
                  </a:cubicBezTo>
                  <a:lnTo>
                    <a:pt x="774" y="719"/>
                  </a:lnTo>
                  <a:cubicBezTo>
                    <a:pt x="806" y="751"/>
                    <a:pt x="758" y="801"/>
                    <a:pt x="725" y="769"/>
                  </a:cubicBezTo>
                  <a:close/>
                  <a:moveTo>
                    <a:pt x="168" y="471"/>
                  </a:moveTo>
                  <a:lnTo>
                    <a:pt x="168" y="471"/>
                  </a:lnTo>
                  <a:lnTo>
                    <a:pt x="234" y="471"/>
                  </a:lnTo>
                  <a:cubicBezTo>
                    <a:pt x="278" y="471"/>
                    <a:pt x="278" y="538"/>
                    <a:pt x="234" y="538"/>
                  </a:cubicBezTo>
                  <a:lnTo>
                    <a:pt x="168" y="538"/>
                  </a:lnTo>
                  <a:cubicBezTo>
                    <a:pt x="123" y="538"/>
                    <a:pt x="123" y="471"/>
                    <a:pt x="168" y="471"/>
                  </a:cubicBezTo>
                  <a:close/>
                  <a:moveTo>
                    <a:pt x="774" y="471"/>
                  </a:moveTo>
                  <a:lnTo>
                    <a:pt x="774" y="471"/>
                  </a:lnTo>
                  <a:lnTo>
                    <a:pt x="840" y="471"/>
                  </a:lnTo>
                  <a:cubicBezTo>
                    <a:pt x="885" y="471"/>
                    <a:pt x="885" y="538"/>
                    <a:pt x="840" y="538"/>
                  </a:cubicBezTo>
                  <a:lnTo>
                    <a:pt x="774" y="538"/>
                  </a:lnTo>
                  <a:cubicBezTo>
                    <a:pt x="730" y="538"/>
                    <a:pt x="730" y="471"/>
                    <a:pt x="774" y="471"/>
                  </a:cubicBezTo>
                  <a:close/>
                  <a:moveTo>
                    <a:pt x="470" y="840"/>
                  </a:moveTo>
                  <a:lnTo>
                    <a:pt x="470" y="840"/>
                  </a:lnTo>
                  <a:lnTo>
                    <a:pt x="470" y="775"/>
                  </a:lnTo>
                  <a:cubicBezTo>
                    <a:pt x="470" y="730"/>
                    <a:pt x="538" y="730"/>
                    <a:pt x="538" y="775"/>
                  </a:cubicBezTo>
                  <a:lnTo>
                    <a:pt x="538" y="840"/>
                  </a:lnTo>
                  <a:cubicBezTo>
                    <a:pt x="538" y="885"/>
                    <a:pt x="470" y="885"/>
                    <a:pt x="470" y="840"/>
                  </a:cubicBezTo>
                  <a:close/>
                  <a:moveTo>
                    <a:pt x="504" y="912"/>
                  </a:moveTo>
                  <a:lnTo>
                    <a:pt x="504" y="912"/>
                  </a:lnTo>
                  <a:cubicBezTo>
                    <a:pt x="729" y="912"/>
                    <a:pt x="912" y="730"/>
                    <a:pt x="912" y="504"/>
                  </a:cubicBezTo>
                  <a:cubicBezTo>
                    <a:pt x="912" y="279"/>
                    <a:pt x="729" y="97"/>
                    <a:pt x="504" y="97"/>
                  </a:cubicBezTo>
                  <a:cubicBezTo>
                    <a:pt x="279" y="97"/>
                    <a:pt x="96" y="279"/>
                    <a:pt x="96" y="504"/>
                  </a:cubicBezTo>
                  <a:cubicBezTo>
                    <a:pt x="96" y="730"/>
                    <a:pt x="279" y="912"/>
                    <a:pt x="504" y="91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p>
              <a:pPr>
                <a:defRPr/>
              </a:pPr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6421528" y="4525290"/>
              <a:ext cx="580037" cy="538318"/>
              <a:chOff x="5928340" y="670992"/>
              <a:chExt cx="506444" cy="470018"/>
            </a:xfrm>
            <a:solidFill>
              <a:schemeClr val="bg1">
                <a:lumMod val="95000"/>
              </a:schemeClr>
            </a:solidFill>
          </p:grpSpPr>
          <p:sp>
            <p:nvSpPr>
              <p:cNvPr id="37" name="Freeform 36"/>
              <p:cNvSpPr>
                <a:spLocks noEditPoint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5993909" y="670992"/>
                <a:ext cx="241151" cy="160240"/>
              </a:xfrm>
              <a:custGeom>
                <a:avLst/>
                <a:gdLst>
                  <a:gd name="T0" fmla="*/ 133 w 372"/>
                  <a:gd name="T1" fmla="*/ 185 h 247"/>
                  <a:gd name="T2" fmla="*/ 118 w 372"/>
                  <a:gd name="T3" fmla="*/ 152 h 247"/>
                  <a:gd name="T4" fmla="*/ 136 w 372"/>
                  <a:gd name="T5" fmla="*/ 115 h 247"/>
                  <a:gd name="T6" fmla="*/ 180 w 372"/>
                  <a:gd name="T7" fmla="*/ 100 h 247"/>
                  <a:gd name="T8" fmla="*/ 180 w 372"/>
                  <a:gd name="T9" fmla="*/ 84 h 247"/>
                  <a:gd name="T10" fmla="*/ 205 w 372"/>
                  <a:gd name="T11" fmla="*/ 84 h 247"/>
                  <a:gd name="T12" fmla="*/ 205 w 372"/>
                  <a:gd name="T13" fmla="*/ 99 h 247"/>
                  <a:gd name="T14" fmla="*/ 246 w 372"/>
                  <a:gd name="T15" fmla="*/ 114 h 247"/>
                  <a:gd name="T16" fmla="*/ 263 w 372"/>
                  <a:gd name="T17" fmla="*/ 152 h 247"/>
                  <a:gd name="T18" fmla="*/ 221 w 372"/>
                  <a:gd name="T19" fmla="*/ 152 h 247"/>
                  <a:gd name="T20" fmla="*/ 215 w 372"/>
                  <a:gd name="T21" fmla="*/ 136 h 247"/>
                  <a:gd name="T22" fmla="*/ 167 w 372"/>
                  <a:gd name="T23" fmla="*/ 134 h 247"/>
                  <a:gd name="T24" fmla="*/ 167 w 372"/>
                  <a:gd name="T25" fmla="*/ 156 h 247"/>
                  <a:gd name="T26" fmla="*/ 217 w 372"/>
                  <a:gd name="T27" fmla="*/ 171 h 247"/>
                  <a:gd name="T28" fmla="*/ 251 w 372"/>
                  <a:gd name="T29" fmla="*/ 188 h 247"/>
                  <a:gd name="T30" fmla="*/ 266 w 372"/>
                  <a:gd name="T31" fmla="*/ 223 h 247"/>
                  <a:gd name="T32" fmla="*/ 265 w 372"/>
                  <a:gd name="T33" fmla="*/ 234 h 247"/>
                  <a:gd name="T34" fmla="*/ 259 w 372"/>
                  <a:gd name="T35" fmla="*/ 246 h 247"/>
                  <a:gd name="T36" fmla="*/ 222 w 372"/>
                  <a:gd name="T37" fmla="*/ 230 h 247"/>
                  <a:gd name="T38" fmla="*/ 217 w 372"/>
                  <a:gd name="T39" fmla="*/ 217 h 247"/>
                  <a:gd name="T40" fmla="*/ 133 w 372"/>
                  <a:gd name="T41" fmla="*/ 185 h 247"/>
                  <a:gd name="T42" fmla="*/ 191 w 372"/>
                  <a:gd name="T43" fmla="*/ 39 h 247"/>
                  <a:gd name="T44" fmla="*/ 83 w 372"/>
                  <a:gd name="T45" fmla="*/ 83 h 247"/>
                  <a:gd name="T46" fmla="*/ 39 w 372"/>
                  <a:gd name="T47" fmla="*/ 191 h 247"/>
                  <a:gd name="T48" fmla="*/ 44 w 372"/>
                  <a:gd name="T49" fmla="*/ 231 h 247"/>
                  <a:gd name="T50" fmla="*/ 9 w 372"/>
                  <a:gd name="T51" fmla="*/ 247 h 247"/>
                  <a:gd name="T52" fmla="*/ 0 w 372"/>
                  <a:gd name="T53" fmla="*/ 191 h 247"/>
                  <a:gd name="T54" fmla="*/ 56 w 372"/>
                  <a:gd name="T55" fmla="*/ 56 h 247"/>
                  <a:gd name="T56" fmla="*/ 191 w 372"/>
                  <a:gd name="T57" fmla="*/ 0 h 247"/>
                  <a:gd name="T58" fmla="*/ 326 w 372"/>
                  <a:gd name="T59" fmla="*/ 56 h 247"/>
                  <a:gd name="T60" fmla="*/ 372 w 372"/>
                  <a:gd name="T61" fmla="*/ 132 h 247"/>
                  <a:gd name="T62" fmla="*/ 339 w 372"/>
                  <a:gd name="T63" fmla="*/ 152 h 247"/>
                  <a:gd name="T64" fmla="*/ 299 w 372"/>
                  <a:gd name="T65" fmla="*/ 83 h 247"/>
                  <a:gd name="T66" fmla="*/ 191 w 372"/>
                  <a:gd name="T67" fmla="*/ 39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72" h="247">
                    <a:moveTo>
                      <a:pt x="133" y="185"/>
                    </a:moveTo>
                    <a:cubicBezTo>
                      <a:pt x="123" y="177"/>
                      <a:pt x="118" y="166"/>
                      <a:pt x="118" y="152"/>
                    </a:cubicBezTo>
                    <a:cubicBezTo>
                      <a:pt x="118" y="136"/>
                      <a:pt x="124" y="124"/>
                      <a:pt x="136" y="115"/>
                    </a:cubicBezTo>
                    <a:cubicBezTo>
                      <a:pt x="147" y="105"/>
                      <a:pt x="160" y="100"/>
                      <a:pt x="180" y="100"/>
                    </a:cubicBezTo>
                    <a:cubicBezTo>
                      <a:pt x="180" y="84"/>
                      <a:pt x="180" y="84"/>
                      <a:pt x="180" y="84"/>
                    </a:cubicBezTo>
                    <a:cubicBezTo>
                      <a:pt x="205" y="84"/>
                      <a:pt x="205" y="84"/>
                      <a:pt x="205" y="84"/>
                    </a:cubicBezTo>
                    <a:cubicBezTo>
                      <a:pt x="205" y="99"/>
                      <a:pt x="205" y="99"/>
                      <a:pt x="205" y="99"/>
                    </a:cubicBezTo>
                    <a:cubicBezTo>
                      <a:pt x="224" y="100"/>
                      <a:pt x="235" y="104"/>
                      <a:pt x="246" y="114"/>
                    </a:cubicBezTo>
                    <a:cubicBezTo>
                      <a:pt x="257" y="123"/>
                      <a:pt x="262" y="136"/>
                      <a:pt x="263" y="152"/>
                    </a:cubicBezTo>
                    <a:cubicBezTo>
                      <a:pt x="221" y="152"/>
                      <a:pt x="221" y="152"/>
                      <a:pt x="221" y="152"/>
                    </a:cubicBezTo>
                    <a:cubicBezTo>
                      <a:pt x="220" y="145"/>
                      <a:pt x="218" y="140"/>
                      <a:pt x="215" y="136"/>
                    </a:cubicBezTo>
                    <a:cubicBezTo>
                      <a:pt x="208" y="128"/>
                      <a:pt x="176" y="128"/>
                      <a:pt x="167" y="134"/>
                    </a:cubicBezTo>
                    <a:cubicBezTo>
                      <a:pt x="161" y="139"/>
                      <a:pt x="160" y="151"/>
                      <a:pt x="167" y="156"/>
                    </a:cubicBezTo>
                    <a:cubicBezTo>
                      <a:pt x="175" y="162"/>
                      <a:pt x="205" y="167"/>
                      <a:pt x="217" y="171"/>
                    </a:cubicBezTo>
                    <a:cubicBezTo>
                      <a:pt x="232" y="176"/>
                      <a:pt x="244" y="181"/>
                      <a:pt x="251" y="188"/>
                    </a:cubicBezTo>
                    <a:cubicBezTo>
                      <a:pt x="261" y="197"/>
                      <a:pt x="266" y="208"/>
                      <a:pt x="266" y="223"/>
                    </a:cubicBezTo>
                    <a:cubicBezTo>
                      <a:pt x="266" y="227"/>
                      <a:pt x="266" y="231"/>
                      <a:pt x="265" y="234"/>
                    </a:cubicBezTo>
                    <a:cubicBezTo>
                      <a:pt x="263" y="238"/>
                      <a:pt x="261" y="242"/>
                      <a:pt x="259" y="246"/>
                    </a:cubicBezTo>
                    <a:cubicBezTo>
                      <a:pt x="247" y="240"/>
                      <a:pt x="235" y="235"/>
                      <a:pt x="222" y="230"/>
                    </a:cubicBezTo>
                    <a:cubicBezTo>
                      <a:pt x="223" y="225"/>
                      <a:pt x="221" y="220"/>
                      <a:pt x="217" y="217"/>
                    </a:cubicBezTo>
                    <a:cubicBezTo>
                      <a:pt x="200" y="204"/>
                      <a:pt x="158" y="207"/>
                      <a:pt x="133" y="185"/>
                    </a:cubicBezTo>
                    <a:close/>
                    <a:moveTo>
                      <a:pt x="191" y="39"/>
                    </a:moveTo>
                    <a:cubicBezTo>
                      <a:pt x="149" y="39"/>
                      <a:pt x="111" y="56"/>
                      <a:pt x="83" y="83"/>
                    </a:cubicBezTo>
                    <a:cubicBezTo>
                      <a:pt x="56" y="111"/>
                      <a:pt x="39" y="149"/>
                      <a:pt x="39" y="191"/>
                    </a:cubicBezTo>
                    <a:cubicBezTo>
                      <a:pt x="39" y="205"/>
                      <a:pt x="40" y="219"/>
                      <a:pt x="44" y="231"/>
                    </a:cubicBezTo>
                    <a:cubicBezTo>
                      <a:pt x="32" y="236"/>
                      <a:pt x="20" y="241"/>
                      <a:pt x="9" y="247"/>
                    </a:cubicBezTo>
                    <a:cubicBezTo>
                      <a:pt x="3" y="229"/>
                      <a:pt x="0" y="210"/>
                      <a:pt x="0" y="191"/>
                    </a:cubicBezTo>
                    <a:cubicBezTo>
                      <a:pt x="0" y="138"/>
                      <a:pt x="22" y="91"/>
                      <a:pt x="56" y="56"/>
                    </a:cubicBezTo>
                    <a:cubicBezTo>
                      <a:pt x="91" y="22"/>
                      <a:pt x="138" y="0"/>
                      <a:pt x="191" y="0"/>
                    </a:cubicBezTo>
                    <a:cubicBezTo>
                      <a:pt x="244" y="0"/>
                      <a:pt x="291" y="22"/>
                      <a:pt x="326" y="56"/>
                    </a:cubicBezTo>
                    <a:cubicBezTo>
                      <a:pt x="347" y="77"/>
                      <a:pt x="363" y="103"/>
                      <a:pt x="372" y="132"/>
                    </a:cubicBezTo>
                    <a:cubicBezTo>
                      <a:pt x="361" y="138"/>
                      <a:pt x="349" y="145"/>
                      <a:pt x="339" y="152"/>
                    </a:cubicBezTo>
                    <a:cubicBezTo>
                      <a:pt x="332" y="126"/>
                      <a:pt x="318" y="102"/>
                      <a:pt x="299" y="83"/>
                    </a:cubicBezTo>
                    <a:cubicBezTo>
                      <a:pt x="271" y="56"/>
                      <a:pt x="233" y="39"/>
                      <a:pt x="191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9" tIns="34295" rIns="68589" bIns="34295" numCol="1" anchor="t" anchorCtr="0" compatLnSpc="1"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8" name="Freeform 37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183208" y="766203"/>
                <a:ext cx="251576" cy="263409"/>
              </a:xfrm>
              <a:custGeom>
                <a:avLst/>
                <a:gdLst>
                  <a:gd name="T0" fmla="*/ 41 w 388"/>
                  <a:gd name="T1" fmla="*/ 59 h 406"/>
                  <a:gd name="T2" fmla="*/ 185 w 388"/>
                  <a:gd name="T3" fmla="*/ 0 h 406"/>
                  <a:gd name="T4" fmla="*/ 329 w 388"/>
                  <a:gd name="T5" fmla="*/ 59 h 406"/>
                  <a:gd name="T6" fmla="*/ 388 w 388"/>
                  <a:gd name="T7" fmla="*/ 203 h 406"/>
                  <a:gd name="T8" fmla="*/ 329 w 388"/>
                  <a:gd name="T9" fmla="*/ 347 h 406"/>
                  <a:gd name="T10" fmla="*/ 185 w 388"/>
                  <a:gd name="T11" fmla="*/ 406 h 406"/>
                  <a:gd name="T12" fmla="*/ 111 w 388"/>
                  <a:gd name="T13" fmla="*/ 393 h 406"/>
                  <a:gd name="T14" fmla="*/ 116 w 388"/>
                  <a:gd name="T15" fmla="*/ 342 h 406"/>
                  <a:gd name="T16" fmla="*/ 36 w 388"/>
                  <a:gd name="T17" fmla="*/ 149 h 406"/>
                  <a:gd name="T18" fmla="*/ 0 w 388"/>
                  <a:gd name="T19" fmla="*/ 119 h 406"/>
                  <a:gd name="T20" fmla="*/ 41 w 388"/>
                  <a:gd name="T21" fmla="*/ 59 h 406"/>
                  <a:gd name="T22" fmla="*/ 123 w 388"/>
                  <a:gd name="T23" fmla="*/ 197 h 406"/>
                  <a:gd name="T24" fmla="*/ 107 w 388"/>
                  <a:gd name="T25" fmla="*/ 161 h 406"/>
                  <a:gd name="T26" fmla="*/ 126 w 388"/>
                  <a:gd name="T27" fmla="*/ 121 h 406"/>
                  <a:gd name="T28" fmla="*/ 173 w 388"/>
                  <a:gd name="T29" fmla="*/ 105 h 406"/>
                  <a:gd name="T30" fmla="*/ 173 w 388"/>
                  <a:gd name="T31" fmla="*/ 88 h 406"/>
                  <a:gd name="T32" fmla="*/ 200 w 388"/>
                  <a:gd name="T33" fmla="*/ 88 h 406"/>
                  <a:gd name="T34" fmla="*/ 200 w 388"/>
                  <a:gd name="T35" fmla="*/ 104 h 406"/>
                  <a:gd name="T36" fmla="*/ 244 w 388"/>
                  <a:gd name="T37" fmla="*/ 120 h 406"/>
                  <a:gd name="T38" fmla="*/ 262 w 388"/>
                  <a:gd name="T39" fmla="*/ 161 h 406"/>
                  <a:gd name="T40" fmla="*/ 217 w 388"/>
                  <a:gd name="T41" fmla="*/ 161 h 406"/>
                  <a:gd name="T42" fmla="*/ 211 w 388"/>
                  <a:gd name="T43" fmla="*/ 144 h 406"/>
                  <a:gd name="T44" fmla="*/ 160 w 388"/>
                  <a:gd name="T45" fmla="*/ 142 h 406"/>
                  <a:gd name="T46" fmla="*/ 159 w 388"/>
                  <a:gd name="T47" fmla="*/ 165 h 406"/>
                  <a:gd name="T48" fmla="*/ 213 w 388"/>
                  <a:gd name="T49" fmla="*/ 181 h 406"/>
                  <a:gd name="T50" fmla="*/ 250 w 388"/>
                  <a:gd name="T51" fmla="*/ 200 h 406"/>
                  <a:gd name="T52" fmla="*/ 265 w 388"/>
                  <a:gd name="T53" fmla="*/ 237 h 406"/>
                  <a:gd name="T54" fmla="*/ 248 w 388"/>
                  <a:gd name="T55" fmla="*/ 279 h 406"/>
                  <a:gd name="T56" fmla="*/ 198 w 388"/>
                  <a:gd name="T57" fmla="*/ 296 h 406"/>
                  <a:gd name="T58" fmla="*/ 198 w 388"/>
                  <a:gd name="T59" fmla="*/ 318 h 406"/>
                  <a:gd name="T60" fmla="*/ 172 w 388"/>
                  <a:gd name="T61" fmla="*/ 318 h 406"/>
                  <a:gd name="T62" fmla="*/ 172 w 388"/>
                  <a:gd name="T63" fmla="*/ 296 h 406"/>
                  <a:gd name="T64" fmla="*/ 123 w 388"/>
                  <a:gd name="T65" fmla="*/ 279 h 406"/>
                  <a:gd name="T66" fmla="*/ 105 w 388"/>
                  <a:gd name="T67" fmla="*/ 233 h 406"/>
                  <a:gd name="T68" fmla="*/ 152 w 388"/>
                  <a:gd name="T69" fmla="*/ 233 h 406"/>
                  <a:gd name="T70" fmla="*/ 158 w 388"/>
                  <a:gd name="T71" fmla="*/ 254 h 406"/>
                  <a:gd name="T72" fmla="*/ 212 w 388"/>
                  <a:gd name="T73" fmla="*/ 256 h 406"/>
                  <a:gd name="T74" fmla="*/ 213 w 388"/>
                  <a:gd name="T75" fmla="*/ 231 h 406"/>
                  <a:gd name="T76" fmla="*/ 123 w 388"/>
                  <a:gd name="T77" fmla="*/ 197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88" h="406">
                    <a:moveTo>
                      <a:pt x="41" y="59"/>
                    </a:moveTo>
                    <a:cubicBezTo>
                      <a:pt x="78" y="22"/>
                      <a:pt x="129" y="0"/>
                      <a:pt x="185" y="0"/>
                    </a:cubicBezTo>
                    <a:cubicBezTo>
                      <a:pt x="241" y="0"/>
                      <a:pt x="292" y="22"/>
                      <a:pt x="329" y="59"/>
                    </a:cubicBezTo>
                    <a:cubicBezTo>
                      <a:pt x="366" y="96"/>
                      <a:pt x="388" y="147"/>
                      <a:pt x="388" y="203"/>
                    </a:cubicBezTo>
                    <a:cubicBezTo>
                      <a:pt x="388" y="259"/>
                      <a:pt x="366" y="310"/>
                      <a:pt x="329" y="347"/>
                    </a:cubicBezTo>
                    <a:cubicBezTo>
                      <a:pt x="292" y="384"/>
                      <a:pt x="241" y="406"/>
                      <a:pt x="185" y="406"/>
                    </a:cubicBezTo>
                    <a:cubicBezTo>
                      <a:pt x="159" y="406"/>
                      <a:pt x="134" y="401"/>
                      <a:pt x="111" y="393"/>
                    </a:cubicBezTo>
                    <a:cubicBezTo>
                      <a:pt x="114" y="376"/>
                      <a:pt x="116" y="359"/>
                      <a:pt x="116" y="342"/>
                    </a:cubicBezTo>
                    <a:cubicBezTo>
                      <a:pt x="116" y="270"/>
                      <a:pt x="87" y="200"/>
                      <a:pt x="36" y="149"/>
                    </a:cubicBezTo>
                    <a:cubicBezTo>
                      <a:pt x="25" y="138"/>
                      <a:pt x="13" y="128"/>
                      <a:pt x="0" y="119"/>
                    </a:cubicBezTo>
                    <a:cubicBezTo>
                      <a:pt x="10" y="96"/>
                      <a:pt x="24" y="76"/>
                      <a:pt x="41" y="59"/>
                    </a:cubicBezTo>
                    <a:close/>
                    <a:moveTo>
                      <a:pt x="123" y="197"/>
                    </a:moveTo>
                    <a:cubicBezTo>
                      <a:pt x="112" y="188"/>
                      <a:pt x="107" y="176"/>
                      <a:pt x="107" y="161"/>
                    </a:cubicBezTo>
                    <a:cubicBezTo>
                      <a:pt x="107" y="144"/>
                      <a:pt x="113" y="131"/>
                      <a:pt x="126" y="121"/>
                    </a:cubicBezTo>
                    <a:cubicBezTo>
                      <a:pt x="138" y="111"/>
                      <a:pt x="152" y="105"/>
                      <a:pt x="173" y="105"/>
                    </a:cubicBezTo>
                    <a:cubicBezTo>
                      <a:pt x="173" y="88"/>
                      <a:pt x="173" y="88"/>
                      <a:pt x="173" y="88"/>
                    </a:cubicBezTo>
                    <a:cubicBezTo>
                      <a:pt x="200" y="88"/>
                      <a:pt x="200" y="88"/>
                      <a:pt x="200" y="88"/>
                    </a:cubicBezTo>
                    <a:cubicBezTo>
                      <a:pt x="200" y="104"/>
                      <a:pt x="200" y="104"/>
                      <a:pt x="200" y="104"/>
                    </a:cubicBezTo>
                    <a:cubicBezTo>
                      <a:pt x="220" y="105"/>
                      <a:pt x="233" y="110"/>
                      <a:pt x="244" y="120"/>
                    </a:cubicBezTo>
                    <a:cubicBezTo>
                      <a:pt x="255" y="130"/>
                      <a:pt x="261" y="143"/>
                      <a:pt x="262" y="161"/>
                    </a:cubicBezTo>
                    <a:cubicBezTo>
                      <a:pt x="217" y="161"/>
                      <a:pt x="217" y="161"/>
                      <a:pt x="217" y="161"/>
                    </a:cubicBezTo>
                    <a:cubicBezTo>
                      <a:pt x="216" y="154"/>
                      <a:pt x="214" y="148"/>
                      <a:pt x="211" y="144"/>
                    </a:cubicBezTo>
                    <a:cubicBezTo>
                      <a:pt x="203" y="135"/>
                      <a:pt x="168" y="135"/>
                      <a:pt x="160" y="142"/>
                    </a:cubicBezTo>
                    <a:cubicBezTo>
                      <a:pt x="152" y="147"/>
                      <a:pt x="152" y="160"/>
                      <a:pt x="159" y="165"/>
                    </a:cubicBezTo>
                    <a:cubicBezTo>
                      <a:pt x="168" y="172"/>
                      <a:pt x="200" y="177"/>
                      <a:pt x="213" y="181"/>
                    </a:cubicBezTo>
                    <a:cubicBezTo>
                      <a:pt x="229" y="186"/>
                      <a:pt x="242" y="193"/>
                      <a:pt x="250" y="200"/>
                    </a:cubicBezTo>
                    <a:cubicBezTo>
                      <a:pt x="260" y="209"/>
                      <a:pt x="265" y="221"/>
                      <a:pt x="265" y="237"/>
                    </a:cubicBezTo>
                    <a:cubicBezTo>
                      <a:pt x="265" y="256"/>
                      <a:pt x="260" y="270"/>
                      <a:pt x="248" y="279"/>
                    </a:cubicBezTo>
                    <a:cubicBezTo>
                      <a:pt x="236" y="289"/>
                      <a:pt x="222" y="295"/>
                      <a:pt x="198" y="296"/>
                    </a:cubicBezTo>
                    <a:cubicBezTo>
                      <a:pt x="198" y="318"/>
                      <a:pt x="198" y="318"/>
                      <a:pt x="198" y="318"/>
                    </a:cubicBezTo>
                    <a:cubicBezTo>
                      <a:pt x="172" y="318"/>
                      <a:pt x="172" y="318"/>
                      <a:pt x="172" y="318"/>
                    </a:cubicBezTo>
                    <a:cubicBezTo>
                      <a:pt x="172" y="296"/>
                      <a:pt x="172" y="296"/>
                      <a:pt x="172" y="296"/>
                    </a:cubicBezTo>
                    <a:cubicBezTo>
                      <a:pt x="150" y="295"/>
                      <a:pt x="136" y="290"/>
                      <a:pt x="123" y="279"/>
                    </a:cubicBezTo>
                    <a:cubicBezTo>
                      <a:pt x="111" y="268"/>
                      <a:pt x="105" y="252"/>
                      <a:pt x="105" y="233"/>
                    </a:cubicBezTo>
                    <a:cubicBezTo>
                      <a:pt x="152" y="233"/>
                      <a:pt x="152" y="233"/>
                      <a:pt x="152" y="233"/>
                    </a:cubicBezTo>
                    <a:cubicBezTo>
                      <a:pt x="153" y="243"/>
                      <a:pt x="155" y="250"/>
                      <a:pt x="158" y="254"/>
                    </a:cubicBezTo>
                    <a:cubicBezTo>
                      <a:pt x="167" y="265"/>
                      <a:pt x="203" y="263"/>
                      <a:pt x="212" y="256"/>
                    </a:cubicBezTo>
                    <a:cubicBezTo>
                      <a:pt x="220" y="251"/>
                      <a:pt x="221" y="237"/>
                      <a:pt x="213" y="231"/>
                    </a:cubicBezTo>
                    <a:cubicBezTo>
                      <a:pt x="195" y="216"/>
                      <a:pt x="150" y="220"/>
                      <a:pt x="123" y="1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9" tIns="34295" rIns="68589" bIns="34295" numCol="1" anchor="t" anchorCtr="0" compatLnSpc="1"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9" name="Freeform 38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5928340" y="836444"/>
                <a:ext cx="304799" cy="304566"/>
              </a:xfrm>
              <a:custGeom>
                <a:avLst/>
                <a:gdLst>
                  <a:gd name="T0" fmla="*/ 235 w 470"/>
                  <a:gd name="T1" fmla="*/ 57 h 470"/>
                  <a:gd name="T2" fmla="*/ 109 w 470"/>
                  <a:gd name="T3" fmla="*/ 109 h 470"/>
                  <a:gd name="T4" fmla="*/ 57 w 470"/>
                  <a:gd name="T5" fmla="*/ 235 h 470"/>
                  <a:gd name="T6" fmla="*/ 109 w 470"/>
                  <a:gd name="T7" fmla="*/ 361 h 470"/>
                  <a:gd name="T8" fmla="*/ 235 w 470"/>
                  <a:gd name="T9" fmla="*/ 413 h 470"/>
                  <a:gd name="T10" fmla="*/ 361 w 470"/>
                  <a:gd name="T11" fmla="*/ 361 h 470"/>
                  <a:gd name="T12" fmla="*/ 413 w 470"/>
                  <a:gd name="T13" fmla="*/ 235 h 470"/>
                  <a:gd name="T14" fmla="*/ 361 w 470"/>
                  <a:gd name="T15" fmla="*/ 109 h 470"/>
                  <a:gd name="T16" fmla="*/ 235 w 470"/>
                  <a:gd name="T17" fmla="*/ 57 h 470"/>
                  <a:gd name="T18" fmla="*/ 170 w 470"/>
                  <a:gd name="T19" fmla="*/ 228 h 470"/>
                  <a:gd name="T20" fmla="*/ 154 w 470"/>
                  <a:gd name="T21" fmla="*/ 191 h 470"/>
                  <a:gd name="T22" fmla="*/ 173 w 470"/>
                  <a:gd name="T23" fmla="*/ 149 h 470"/>
                  <a:gd name="T24" fmla="*/ 222 w 470"/>
                  <a:gd name="T25" fmla="*/ 132 h 470"/>
                  <a:gd name="T26" fmla="*/ 222 w 470"/>
                  <a:gd name="T27" fmla="*/ 114 h 470"/>
                  <a:gd name="T28" fmla="*/ 251 w 470"/>
                  <a:gd name="T29" fmla="*/ 114 h 470"/>
                  <a:gd name="T30" fmla="*/ 251 w 470"/>
                  <a:gd name="T31" fmla="*/ 132 h 470"/>
                  <a:gd name="T32" fmla="*/ 296 w 470"/>
                  <a:gd name="T33" fmla="*/ 148 h 470"/>
                  <a:gd name="T34" fmla="*/ 314 w 470"/>
                  <a:gd name="T35" fmla="*/ 190 h 470"/>
                  <a:gd name="T36" fmla="*/ 267 w 470"/>
                  <a:gd name="T37" fmla="*/ 190 h 470"/>
                  <a:gd name="T38" fmla="*/ 262 w 470"/>
                  <a:gd name="T39" fmla="*/ 173 h 470"/>
                  <a:gd name="T40" fmla="*/ 208 w 470"/>
                  <a:gd name="T41" fmla="*/ 171 h 470"/>
                  <a:gd name="T42" fmla="*/ 208 w 470"/>
                  <a:gd name="T43" fmla="*/ 196 h 470"/>
                  <a:gd name="T44" fmla="*/ 264 w 470"/>
                  <a:gd name="T45" fmla="*/ 212 h 470"/>
                  <a:gd name="T46" fmla="*/ 302 w 470"/>
                  <a:gd name="T47" fmla="*/ 231 h 470"/>
                  <a:gd name="T48" fmla="*/ 318 w 470"/>
                  <a:gd name="T49" fmla="*/ 271 h 470"/>
                  <a:gd name="T50" fmla="*/ 300 w 470"/>
                  <a:gd name="T51" fmla="*/ 314 h 470"/>
                  <a:gd name="T52" fmla="*/ 248 w 470"/>
                  <a:gd name="T53" fmla="*/ 333 h 470"/>
                  <a:gd name="T54" fmla="*/ 248 w 470"/>
                  <a:gd name="T55" fmla="*/ 355 h 470"/>
                  <a:gd name="T56" fmla="*/ 219 w 470"/>
                  <a:gd name="T57" fmla="*/ 355 h 470"/>
                  <a:gd name="T58" fmla="*/ 219 w 470"/>
                  <a:gd name="T59" fmla="*/ 333 h 470"/>
                  <a:gd name="T60" fmla="*/ 171 w 470"/>
                  <a:gd name="T61" fmla="*/ 313 h 470"/>
                  <a:gd name="T62" fmla="*/ 151 w 470"/>
                  <a:gd name="T63" fmla="*/ 266 h 470"/>
                  <a:gd name="T64" fmla="*/ 201 w 470"/>
                  <a:gd name="T65" fmla="*/ 266 h 470"/>
                  <a:gd name="T66" fmla="*/ 207 w 470"/>
                  <a:gd name="T67" fmla="*/ 288 h 470"/>
                  <a:gd name="T68" fmla="*/ 263 w 470"/>
                  <a:gd name="T69" fmla="*/ 290 h 470"/>
                  <a:gd name="T70" fmla="*/ 264 w 470"/>
                  <a:gd name="T71" fmla="*/ 264 h 470"/>
                  <a:gd name="T72" fmla="*/ 170 w 470"/>
                  <a:gd name="T73" fmla="*/ 228 h 470"/>
                  <a:gd name="T74" fmla="*/ 69 w 470"/>
                  <a:gd name="T75" fmla="*/ 69 h 470"/>
                  <a:gd name="T76" fmla="*/ 235 w 470"/>
                  <a:gd name="T77" fmla="*/ 0 h 470"/>
                  <a:gd name="T78" fmla="*/ 401 w 470"/>
                  <a:gd name="T79" fmla="*/ 69 h 470"/>
                  <a:gd name="T80" fmla="*/ 470 w 470"/>
                  <a:gd name="T81" fmla="*/ 235 h 470"/>
                  <a:gd name="T82" fmla="*/ 401 w 470"/>
                  <a:gd name="T83" fmla="*/ 401 h 470"/>
                  <a:gd name="T84" fmla="*/ 235 w 470"/>
                  <a:gd name="T85" fmla="*/ 470 h 470"/>
                  <a:gd name="T86" fmla="*/ 69 w 470"/>
                  <a:gd name="T87" fmla="*/ 401 h 470"/>
                  <a:gd name="T88" fmla="*/ 0 w 470"/>
                  <a:gd name="T89" fmla="*/ 235 h 470"/>
                  <a:gd name="T90" fmla="*/ 69 w 470"/>
                  <a:gd name="T91" fmla="*/ 69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70" h="470">
                    <a:moveTo>
                      <a:pt x="235" y="57"/>
                    </a:moveTo>
                    <a:cubicBezTo>
                      <a:pt x="186" y="57"/>
                      <a:pt x="141" y="77"/>
                      <a:pt x="109" y="109"/>
                    </a:cubicBezTo>
                    <a:cubicBezTo>
                      <a:pt x="77" y="141"/>
                      <a:pt x="57" y="186"/>
                      <a:pt x="57" y="235"/>
                    </a:cubicBezTo>
                    <a:cubicBezTo>
                      <a:pt x="57" y="284"/>
                      <a:pt x="77" y="328"/>
                      <a:pt x="109" y="361"/>
                    </a:cubicBezTo>
                    <a:cubicBezTo>
                      <a:pt x="141" y="393"/>
                      <a:pt x="186" y="413"/>
                      <a:pt x="235" y="413"/>
                    </a:cubicBezTo>
                    <a:cubicBezTo>
                      <a:pt x="284" y="413"/>
                      <a:pt x="328" y="393"/>
                      <a:pt x="361" y="361"/>
                    </a:cubicBezTo>
                    <a:cubicBezTo>
                      <a:pt x="393" y="328"/>
                      <a:pt x="413" y="284"/>
                      <a:pt x="413" y="235"/>
                    </a:cubicBezTo>
                    <a:cubicBezTo>
                      <a:pt x="413" y="186"/>
                      <a:pt x="393" y="141"/>
                      <a:pt x="361" y="109"/>
                    </a:cubicBezTo>
                    <a:cubicBezTo>
                      <a:pt x="328" y="77"/>
                      <a:pt x="284" y="57"/>
                      <a:pt x="235" y="57"/>
                    </a:cubicBezTo>
                    <a:close/>
                    <a:moveTo>
                      <a:pt x="170" y="228"/>
                    </a:moveTo>
                    <a:cubicBezTo>
                      <a:pt x="159" y="219"/>
                      <a:pt x="154" y="207"/>
                      <a:pt x="154" y="191"/>
                    </a:cubicBezTo>
                    <a:cubicBezTo>
                      <a:pt x="154" y="174"/>
                      <a:pt x="160" y="160"/>
                      <a:pt x="173" y="149"/>
                    </a:cubicBezTo>
                    <a:cubicBezTo>
                      <a:pt x="186" y="139"/>
                      <a:pt x="200" y="133"/>
                      <a:pt x="222" y="132"/>
                    </a:cubicBezTo>
                    <a:cubicBezTo>
                      <a:pt x="222" y="114"/>
                      <a:pt x="222" y="114"/>
                      <a:pt x="222" y="114"/>
                    </a:cubicBezTo>
                    <a:cubicBezTo>
                      <a:pt x="251" y="114"/>
                      <a:pt x="251" y="114"/>
                      <a:pt x="251" y="114"/>
                    </a:cubicBezTo>
                    <a:cubicBezTo>
                      <a:pt x="251" y="132"/>
                      <a:pt x="251" y="132"/>
                      <a:pt x="251" y="132"/>
                    </a:cubicBezTo>
                    <a:cubicBezTo>
                      <a:pt x="272" y="133"/>
                      <a:pt x="284" y="138"/>
                      <a:pt x="296" y="148"/>
                    </a:cubicBezTo>
                    <a:cubicBezTo>
                      <a:pt x="308" y="158"/>
                      <a:pt x="313" y="172"/>
                      <a:pt x="314" y="190"/>
                    </a:cubicBezTo>
                    <a:cubicBezTo>
                      <a:pt x="267" y="190"/>
                      <a:pt x="267" y="190"/>
                      <a:pt x="267" y="190"/>
                    </a:cubicBezTo>
                    <a:cubicBezTo>
                      <a:pt x="266" y="182"/>
                      <a:pt x="265" y="177"/>
                      <a:pt x="262" y="173"/>
                    </a:cubicBezTo>
                    <a:cubicBezTo>
                      <a:pt x="254" y="164"/>
                      <a:pt x="218" y="164"/>
                      <a:pt x="208" y="171"/>
                    </a:cubicBezTo>
                    <a:cubicBezTo>
                      <a:pt x="201" y="177"/>
                      <a:pt x="200" y="190"/>
                      <a:pt x="208" y="196"/>
                    </a:cubicBezTo>
                    <a:cubicBezTo>
                      <a:pt x="217" y="203"/>
                      <a:pt x="250" y="208"/>
                      <a:pt x="264" y="212"/>
                    </a:cubicBezTo>
                    <a:cubicBezTo>
                      <a:pt x="281" y="218"/>
                      <a:pt x="294" y="224"/>
                      <a:pt x="302" y="231"/>
                    </a:cubicBezTo>
                    <a:cubicBezTo>
                      <a:pt x="313" y="241"/>
                      <a:pt x="318" y="254"/>
                      <a:pt x="318" y="271"/>
                    </a:cubicBezTo>
                    <a:cubicBezTo>
                      <a:pt x="319" y="290"/>
                      <a:pt x="312" y="304"/>
                      <a:pt x="300" y="314"/>
                    </a:cubicBezTo>
                    <a:cubicBezTo>
                      <a:pt x="288" y="325"/>
                      <a:pt x="272" y="332"/>
                      <a:pt x="248" y="333"/>
                    </a:cubicBezTo>
                    <a:cubicBezTo>
                      <a:pt x="248" y="355"/>
                      <a:pt x="248" y="355"/>
                      <a:pt x="248" y="355"/>
                    </a:cubicBezTo>
                    <a:cubicBezTo>
                      <a:pt x="219" y="355"/>
                      <a:pt x="219" y="355"/>
                      <a:pt x="219" y="355"/>
                    </a:cubicBezTo>
                    <a:cubicBezTo>
                      <a:pt x="219" y="333"/>
                      <a:pt x="219" y="333"/>
                      <a:pt x="219" y="333"/>
                    </a:cubicBezTo>
                    <a:cubicBezTo>
                      <a:pt x="196" y="333"/>
                      <a:pt x="183" y="325"/>
                      <a:pt x="171" y="313"/>
                    </a:cubicBezTo>
                    <a:cubicBezTo>
                      <a:pt x="158" y="302"/>
                      <a:pt x="151" y="286"/>
                      <a:pt x="151" y="266"/>
                    </a:cubicBezTo>
                    <a:cubicBezTo>
                      <a:pt x="201" y="266"/>
                      <a:pt x="201" y="266"/>
                      <a:pt x="201" y="266"/>
                    </a:cubicBezTo>
                    <a:cubicBezTo>
                      <a:pt x="202" y="276"/>
                      <a:pt x="204" y="283"/>
                      <a:pt x="207" y="288"/>
                    </a:cubicBezTo>
                    <a:cubicBezTo>
                      <a:pt x="216" y="299"/>
                      <a:pt x="254" y="297"/>
                      <a:pt x="263" y="290"/>
                    </a:cubicBezTo>
                    <a:cubicBezTo>
                      <a:pt x="272" y="284"/>
                      <a:pt x="272" y="271"/>
                      <a:pt x="264" y="264"/>
                    </a:cubicBezTo>
                    <a:cubicBezTo>
                      <a:pt x="245" y="249"/>
                      <a:pt x="198" y="252"/>
                      <a:pt x="170" y="228"/>
                    </a:cubicBezTo>
                    <a:close/>
                    <a:moveTo>
                      <a:pt x="69" y="69"/>
                    </a:moveTo>
                    <a:cubicBezTo>
                      <a:pt x="111" y="26"/>
                      <a:pt x="170" y="0"/>
                      <a:pt x="235" y="0"/>
                    </a:cubicBezTo>
                    <a:cubicBezTo>
                      <a:pt x="300" y="0"/>
                      <a:pt x="359" y="26"/>
                      <a:pt x="401" y="69"/>
                    </a:cubicBezTo>
                    <a:cubicBezTo>
                      <a:pt x="444" y="111"/>
                      <a:pt x="470" y="170"/>
                      <a:pt x="470" y="235"/>
                    </a:cubicBezTo>
                    <a:cubicBezTo>
                      <a:pt x="470" y="300"/>
                      <a:pt x="444" y="359"/>
                      <a:pt x="401" y="401"/>
                    </a:cubicBezTo>
                    <a:cubicBezTo>
                      <a:pt x="359" y="444"/>
                      <a:pt x="300" y="470"/>
                      <a:pt x="235" y="470"/>
                    </a:cubicBezTo>
                    <a:cubicBezTo>
                      <a:pt x="170" y="470"/>
                      <a:pt x="111" y="444"/>
                      <a:pt x="69" y="401"/>
                    </a:cubicBezTo>
                    <a:cubicBezTo>
                      <a:pt x="26" y="359"/>
                      <a:pt x="0" y="300"/>
                      <a:pt x="0" y="235"/>
                    </a:cubicBezTo>
                    <a:cubicBezTo>
                      <a:pt x="0" y="170"/>
                      <a:pt x="26" y="111"/>
                      <a:pt x="6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9" tIns="34295" rIns="68589" bIns="34295" numCol="1" anchor="t" anchorCtr="0" compatLnSpc="1"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5199891" y="4517161"/>
              <a:ext cx="490612" cy="536441"/>
              <a:chOff x="697828" y="4453123"/>
              <a:chExt cx="229831" cy="251300"/>
            </a:xfrm>
            <a:solidFill>
              <a:schemeClr val="bg1">
                <a:lumMod val="95000"/>
              </a:schemeClr>
            </a:solidFill>
          </p:grpSpPr>
          <p:sp>
            <p:nvSpPr>
              <p:cNvPr id="32" name="Freeform 665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697828" y="4453123"/>
                <a:ext cx="229831" cy="177458"/>
              </a:xfrm>
              <a:custGeom>
                <a:avLst/>
                <a:gdLst>
                  <a:gd name="T0" fmla="*/ 179 w 193"/>
                  <a:gd name="T1" fmla="*/ 54 h 149"/>
                  <a:gd name="T2" fmla="*/ 193 w 193"/>
                  <a:gd name="T3" fmla="*/ 0 h 149"/>
                  <a:gd name="T4" fmla="*/ 138 w 193"/>
                  <a:gd name="T5" fmla="*/ 13 h 149"/>
                  <a:gd name="T6" fmla="*/ 152 w 193"/>
                  <a:gd name="T7" fmla="*/ 27 h 149"/>
                  <a:gd name="T8" fmla="*/ 99 w 193"/>
                  <a:gd name="T9" fmla="*/ 79 h 149"/>
                  <a:gd name="T10" fmla="*/ 77 w 193"/>
                  <a:gd name="T11" fmla="*/ 57 h 149"/>
                  <a:gd name="T12" fmla="*/ 0 w 193"/>
                  <a:gd name="T13" fmla="*/ 134 h 149"/>
                  <a:gd name="T14" fmla="*/ 15 w 193"/>
                  <a:gd name="T15" fmla="*/ 149 h 149"/>
                  <a:gd name="T16" fmla="*/ 15 w 193"/>
                  <a:gd name="T17" fmla="*/ 149 h 149"/>
                  <a:gd name="T18" fmla="*/ 77 w 193"/>
                  <a:gd name="T19" fmla="*/ 87 h 149"/>
                  <a:gd name="T20" fmla="*/ 99 w 193"/>
                  <a:gd name="T21" fmla="*/ 108 h 149"/>
                  <a:gd name="T22" fmla="*/ 167 w 193"/>
                  <a:gd name="T23" fmla="*/ 41 h 149"/>
                  <a:gd name="T24" fmla="*/ 179 w 193"/>
                  <a:gd name="T25" fmla="*/ 5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3" h="149">
                    <a:moveTo>
                      <a:pt x="179" y="54"/>
                    </a:moveTo>
                    <a:lnTo>
                      <a:pt x="193" y="0"/>
                    </a:lnTo>
                    <a:lnTo>
                      <a:pt x="138" y="13"/>
                    </a:lnTo>
                    <a:lnTo>
                      <a:pt x="152" y="27"/>
                    </a:lnTo>
                    <a:lnTo>
                      <a:pt x="99" y="79"/>
                    </a:lnTo>
                    <a:lnTo>
                      <a:pt x="77" y="57"/>
                    </a:lnTo>
                    <a:lnTo>
                      <a:pt x="0" y="134"/>
                    </a:lnTo>
                    <a:lnTo>
                      <a:pt x="15" y="149"/>
                    </a:lnTo>
                    <a:lnTo>
                      <a:pt x="15" y="149"/>
                    </a:lnTo>
                    <a:lnTo>
                      <a:pt x="77" y="87"/>
                    </a:lnTo>
                    <a:lnTo>
                      <a:pt x="99" y="108"/>
                    </a:lnTo>
                    <a:lnTo>
                      <a:pt x="167" y="41"/>
                    </a:lnTo>
                    <a:lnTo>
                      <a:pt x="179" y="54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3" name="Rectangle 666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718073" y="4643682"/>
                <a:ext cx="33343" cy="6074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4" name="Rectangle 667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772851" y="4613906"/>
                <a:ext cx="33343" cy="9051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5" name="Rectangle 668"/>
              <p:cNvSpPr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828820" y="4584131"/>
                <a:ext cx="33343" cy="12029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6" name="Rectangle 669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883598" y="4554357"/>
                <a:ext cx="33343" cy="15006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7729325" y="1384202"/>
            <a:ext cx="3816350" cy="1539875"/>
            <a:chOff x="7729325" y="1739713"/>
            <a:chExt cx="3816350" cy="1539875"/>
          </a:xfrm>
        </p:grpSpPr>
        <p:sp>
          <p:nvSpPr>
            <p:cNvPr id="41" name="TextBox 76"/>
            <p:cNvSpPr txBox="1"/>
            <p:nvPr>
              <p:custDataLst>
                <p:tags r:id="rId19"/>
              </p:custDataLst>
            </p:nvPr>
          </p:nvSpPr>
          <p:spPr>
            <a:xfrm>
              <a:off x="7729325" y="1739713"/>
              <a:ext cx="332359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强大的数据验证与绑定机制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20"/>
              </p:custDataLst>
            </p:nvPr>
          </p:nvSpPr>
          <p:spPr>
            <a:xfrm>
              <a:off x="7729325" y="2109283"/>
              <a:ext cx="3816350" cy="1170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拥有灵活地数据验证、格式化和绑定机制，支持任何对象进行数据绑定，无需实现特定框架的API</a:t>
              </a:r>
              <a:endPara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729325" y="4654998"/>
            <a:ext cx="3707130" cy="1179830"/>
            <a:chOff x="7729325" y="4795244"/>
            <a:chExt cx="3707130" cy="1179830"/>
          </a:xfrm>
        </p:grpSpPr>
        <p:sp>
          <p:nvSpPr>
            <p:cNvPr id="44" name="TextBox 76"/>
            <p:cNvSpPr txBox="1"/>
            <p:nvPr>
              <p:custDataLst>
                <p:tags r:id="rId21"/>
              </p:custDataLst>
            </p:nvPr>
          </p:nvSpPr>
          <p:spPr>
            <a:xfrm>
              <a:off x="7729325" y="4795244"/>
              <a:ext cx="304927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支持多视图技术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22"/>
              </p:custDataLst>
            </p:nvPr>
          </p:nvSpPr>
          <p:spPr>
            <a:xfrm>
              <a:off x="7729325" y="5164814"/>
              <a:ext cx="3707130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支持多种视图技术，包括JSP、Velocity和FreeMarker等</a:t>
              </a:r>
              <a:endPara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458531" y="2942975"/>
            <a:ext cx="3014345" cy="1179830"/>
            <a:chOff x="8458531" y="3226731"/>
            <a:chExt cx="3014345" cy="1179830"/>
          </a:xfrm>
        </p:grpSpPr>
        <p:sp>
          <p:nvSpPr>
            <p:cNvPr id="47" name="TextBox 76"/>
            <p:cNvSpPr txBox="1"/>
            <p:nvPr>
              <p:custDataLst>
                <p:tags r:id="rId23"/>
              </p:custDataLst>
            </p:nvPr>
          </p:nvSpPr>
          <p:spPr>
            <a:xfrm>
              <a:off x="8458531" y="3226731"/>
              <a:ext cx="162889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支持国际化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24"/>
              </p:custDataLst>
            </p:nvPr>
          </p:nvSpPr>
          <p:spPr>
            <a:xfrm>
              <a:off x="8458531" y="3596301"/>
              <a:ext cx="301434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支持国际化，能够根据用户的地区设置显示不同的语言</a:t>
              </a:r>
              <a:endPara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04906" y="1384202"/>
            <a:ext cx="4035425" cy="1179830"/>
            <a:chOff x="374648" y="1739713"/>
            <a:chExt cx="4035425" cy="1179830"/>
          </a:xfrm>
        </p:grpSpPr>
        <p:sp>
          <p:nvSpPr>
            <p:cNvPr id="50" name="TextBox 76"/>
            <p:cNvSpPr txBox="1"/>
            <p:nvPr>
              <p:custDataLst>
                <p:tags r:id="rId25"/>
              </p:custDataLst>
            </p:nvPr>
          </p:nvSpPr>
          <p:spPr>
            <a:xfrm>
              <a:off x="1296668" y="1739713"/>
              <a:ext cx="311340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整合Spring框架优势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26"/>
              </p:custDataLst>
            </p:nvPr>
          </p:nvSpPr>
          <p:spPr>
            <a:xfrm>
              <a:off x="374648" y="2109283"/>
              <a:ext cx="403542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30000"/>
                </a:lnSpc>
              </a:pPr>
              <a:r>
                <a:rPr lang="zh-CN" alt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作为Spring框架的衍生产品，能够无缝集成Spring框架的各项功能</a:t>
              </a:r>
              <a:endPara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16971" y="4654998"/>
            <a:ext cx="3992880" cy="1539875"/>
            <a:chOff x="416971" y="4795244"/>
            <a:chExt cx="3992880" cy="1539875"/>
          </a:xfrm>
        </p:grpSpPr>
        <p:sp>
          <p:nvSpPr>
            <p:cNvPr id="53" name="TextBox 76"/>
            <p:cNvSpPr txBox="1"/>
            <p:nvPr>
              <p:custDataLst>
                <p:tags r:id="rId27"/>
              </p:custDataLst>
            </p:nvPr>
          </p:nvSpPr>
          <p:spPr>
            <a:xfrm>
              <a:off x="1318671" y="4795244"/>
              <a:ext cx="309118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灵活地请求资源映射策略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28"/>
              </p:custDataLst>
            </p:nvPr>
          </p:nvSpPr>
          <p:spPr>
            <a:xfrm>
              <a:off x="416971" y="5164814"/>
              <a:ext cx="3992880" cy="1170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30000"/>
                </a:lnSpc>
              </a:pPr>
              <a:r>
                <a:rPr lang="zh-CN" alt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提供了多种请求资源的映射策略，满足了不同业务场景的需求，增强了系统的灵活性和可扩展性</a:t>
              </a:r>
              <a:endPara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4" name="TextBox 76"/>
          <p:cNvSpPr txBox="1"/>
          <p:nvPr>
            <p:custDataLst>
              <p:tags r:id="rId29"/>
            </p:custDataLst>
          </p:nvPr>
        </p:nvSpPr>
        <p:spPr>
          <a:xfrm>
            <a:off x="5087620" y="3122930"/>
            <a:ext cx="1955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Spring  MVC</a:t>
            </a:r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/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的特点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56" name="TextBox 76"/>
          <p:cNvSpPr txBox="1"/>
          <p:nvPr>
            <p:custDataLst>
              <p:tags r:id="rId30"/>
            </p:custDataLst>
          </p:nvPr>
        </p:nvSpPr>
        <p:spPr>
          <a:xfrm>
            <a:off x="2306955" y="2942975"/>
            <a:ext cx="144033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简单易用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31"/>
            </p:custDataLst>
          </p:nvPr>
        </p:nvSpPr>
        <p:spPr>
          <a:xfrm>
            <a:off x="405130" y="3312160"/>
            <a:ext cx="334200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使用简单直观，使得开发者能够轻松设计出清晰、整洁的Web层</a:t>
            </a:r>
            <a:endParaRPr lang="zh-CN" altLang="en-US" sz="1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能够独立实现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 MVC的入门程序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50126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1．创建项目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4022725" cy="17799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在IDEA中New Project界面中选中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Maven Archetype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后，选择对应的Archetype并输入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项目的基本信息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158740" y="1484948"/>
            <a:ext cx="6169188" cy="48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50126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1．创建项目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993775" y="2026920"/>
            <a:ext cx="4290060" cy="17799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项目chapter05创建完成后，项目的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目录结构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如图所示。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55410" y="1557655"/>
            <a:ext cx="4033059" cy="46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50126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2．引入依赖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文件5-1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pom.xml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pom.xml文件中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Spring MVC的依赖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，具体如文件5-1所示。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50126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3．配置前端控制器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文件5-2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web.xml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DispatcherServlet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的本质是一个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Servlet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web.xml文件中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完成DispatcherServlet的配置和映射，web.xml文件的具体配置如文件5-2所示。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41471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4．配置处理器映射信息和视图解析器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文件5-3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spring-mvc.xml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在项目的resources文件夹下创建Spring MVC的配置文件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spring-mvc.xml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配置处理器映射信息和视图解析器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。spring-mvc.xml具体配置如文件5-3所示。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41471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5．创建处理器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文件5-4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FirstController.java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在项目的src/main/java目录下创建包com.itheima.controller，在该包中创建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处理器FirstController类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处理客户端的请求并指定响应时转跳的页面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。FirstController类具体内容如文件5-4所示。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41471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6．创建视图页面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文件5-5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success.jsp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在项目的webapp文件夹下创建名称为pages的文件夹，并在pages文件夹下创建名称为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success的jsp文件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，用于对客户端请求进行处理后的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视图展示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，success.jsp文件如文件5-5所示。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41471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7．修改项目部署的名称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66814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本项目是一个Web项目，在此选择使用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本地Tomcat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运行项目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。单击IDEA工具栏中的File→“Project Structure...”选项弹出Project Structure对话框。在Project Structure对话框中选中Artifacts后，展示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Artifacts界面信息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55912" y="3070225"/>
            <a:ext cx="7166504" cy="34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41471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7．修改项目部署的名称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66814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单击IDEA工具栏中的“Run”→“Edit Configurations...”选项，弹出Run/Debug Configurations对话框，单击Run/Debug Configurations对话框左上角的按钮弹出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Add New Configurations菜单列表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8" name="图片 2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19512" y="2637790"/>
            <a:ext cx="4473733" cy="39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41471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7．修改项目部署的名称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66814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在菜单列表中，单击左侧菜单中Tomcat Server的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Local选项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，进入使用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本地Tomcat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配置界面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</a:endParaRPr>
          </a:p>
        </p:txBody>
      </p:sp>
      <p:pic>
        <p:nvPicPr>
          <p:cNvPr id="40" name="图片 2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02342" y="2349183"/>
            <a:ext cx="5847435" cy="40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414718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8．测试效果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在工具栏中使用配置的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Tomcat启动项目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，启动成功后，在浏览器中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访问地址http://localhost:8080/chapter05/firstController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4" name="图片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9197" y="3069590"/>
            <a:ext cx="9748238" cy="23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1741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MVC的执行流程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MVC的执行流程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 MVC的执行流程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MVC的执行流程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915" y="1414780"/>
            <a:ext cx="8439344" cy="442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1741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MVC的请求映射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5.4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MVC的请求映射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964055"/>
            <a:ext cx="1033589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在Web开发中，将客户端的请求与服务器端的业务处理逻辑进行有效连接，是实现高效、准确响应的关键所在。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提供了灵活且强大的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请求映射机制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，允许开发者基于URL模式、HTTP方法、请求参数等多种方式来进行请求映射。通过对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请求映射进行配置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，可以让请求正确地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路由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到相应的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业务逻辑的精准执行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。Spring MVC的请求映射通常基于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@Controller注解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@RequestMapping注解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实现，下面对这两个注解实现请求映射进行讲解。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3"/>
            </p:custDataLst>
          </p:nvPr>
        </p:nvSpPr>
        <p:spPr>
          <a:xfrm>
            <a:off x="1031240" y="1736090"/>
            <a:ext cx="10427335" cy="330200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4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5"/>
            </p:custDataLst>
          </p:nvPr>
        </p:nvSpPr>
        <p:spPr>
          <a:xfrm rot="10800000">
            <a:off x="11135360" y="458724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@Controller注解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@Controller注解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的使用，能够使用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@Controller注解标注处理器类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@Controller注解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在Spring MVC 的执行流程中，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DispatcherServlet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将请求转发给处理器进行处理。为了方便开发，Spring提供了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@Controller注解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用于标识 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MVC的处理器类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（也称为控制器类）。当程序通过Spring的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扫描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机制进行扫描时，能够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自动识别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这些被 @Controller注解标识的类，使其成为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MVC的控制器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，用于处理客户端请求并生成响应。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@Controller注解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@Controller注解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处理器类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967740" y="2334260"/>
            <a:ext cx="10337800" cy="2872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489710" y="2366645"/>
            <a:ext cx="9533890" cy="271018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import org.springframework.stereotype.Controller;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...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@Controller	//标注@Controller注解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public class FirstController{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  ...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}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@Controller注解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318260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为了确保Spring MVC能够找到处理器类，通常需要在Spring MVC的配置文件中添加相应的组件扫描配置信息。首先需要在配置文件的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名称空间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中引入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spring-context声明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，以支持配置文件中使用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&lt;context:component-scan&gt;标签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；然后通过&lt;context:component-scan&gt;标签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指定被Spring扫描的类包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。这样可以确保Spring MVC能够正确扫描到并注册应用中的控制器类，使其能够被框架正确管理和调用，示例如下。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967740" y="3841115"/>
            <a:ext cx="10337800" cy="720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489710" y="3873500"/>
            <a:ext cx="9533890" cy="58610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&lt;context:component-scan base-package="com.itheima" /&gt;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784475"/>
            <a:ext cx="5445760" cy="1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@RequestMapping注解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的使用，能够使用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@RequestMapping注解建立请求URL和处理器之间的映射关系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@Controller注解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可以将普通的类声明成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MVC的处理器类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，但是只使用@Controller注解的话，Spring MVC框架并不能确定当前Web请求由处理器类中的哪个方法进行处理。为此，Spring MVC框架提供了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@RequestMapping注解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，@RequestMapping注解用于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建立请求URL和处理器之间的映射关系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 @RequestMapping注解可以为处理器类的方法提供必要的映射信息，从而实现请求和处理方法的绑定。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3742055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1.@RequestMapping注解的使用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（1）标注在方法上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@RequestMapping注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解标注在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方法上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时，该方法就成了一个可以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处理客户端请求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的处理器，当Spring MVC接收到的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请求</a:t>
            </a:r>
            <a:r>
              <a:rPr lang="zh-CN" altLang="en-US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的路径与该方法上</a:t>
            </a:r>
            <a:r>
              <a:rPr lang="en-US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@RequestMapping</a:t>
            </a:r>
            <a:r>
              <a:rPr lang="zh-CN" altLang="en-US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注解中指定的路径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相匹配时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，这个方法就会被调用执行来处理这个请求。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处理器在浏览器中对应的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访问地址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，由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项目访问路径+方法的映射路径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同组成。如sayHello()方法上使用@RequestMapping注解指定其映射路径为“/firstController”，意味着该方法将处理与路径“/firstController”匹配的请求。如果项目访问路径为http://localhost:8080/chapter05，那么该方法将用于处理http://localhost:8080/chapter05/firstController这个请求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993775" y="1452880"/>
            <a:ext cx="10295890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（2）标注在类上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@RequestMapping注解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标注在类上时，该@RequestMapping注解中指定的映射路径相当于当前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处理器类的命名空间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，即访问该处理器类下的任意方法都需要带上这个命名空间。当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类上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方法上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@RequestMapping注解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指定了映射路径时，处理器在浏览器中的访问地址由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项目访问路径+类上映射路径+方法上的映射路径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共同组成。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文件5-6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4"/>
                  </a:rPr>
                  <a:t>FirstController.java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993775" y="159639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FirstController类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上标注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@RequestMapping注解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，修改后的FirstController类如文件5-6所示。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993775" y="159639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启动项目，在浏览器中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访问http://localhost:8080/chapter05/SpringMVC/firstController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控制台输出信息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3952" y="2925763"/>
            <a:ext cx="9939610" cy="20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321435"/>
            <a:ext cx="3742055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2.@RequestMapping注解的属性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3845560" y="1941830"/>
            <a:ext cx="449897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@RequestMapping注解的属性如下所示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932180" y="2583815"/>
          <a:ext cx="10433050" cy="2679065"/>
        </p:xfrm>
        <a:graphic>
          <a:graphicData uri="http://schemas.openxmlformats.org/drawingml/2006/table">
            <a:tbl>
              <a:tblPr/>
              <a:tblGrid>
                <a:gridCol w="1416685"/>
                <a:gridCol w="1602740"/>
                <a:gridCol w="7413625"/>
              </a:tblGrid>
              <a:tr h="5969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属性名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类型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描述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4076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name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可选属性，用于为请求映射提供一个名称，这个名称主要是用于描述这个请求映射的用途或者功能，它并不会直接影响请求的处理逻辑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value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String[]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可选属性，用于指定映射路径，即与请求的</a:t>
                      </a:r>
                      <a:r>
                        <a:rPr lang="en-US" alt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</a:t>
                      </a: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路径相匹配的路径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path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String[]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可选属性，和value属性作用一致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047750" y="1156970"/>
          <a:ext cx="10462260" cy="5395595"/>
        </p:xfrm>
        <a:graphic>
          <a:graphicData uri="http://schemas.openxmlformats.org/drawingml/2006/table">
            <a:tbl>
              <a:tblPr/>
              <a:tblGrid>
                <a:gridCol w="1616075"/>
                <a:gridCol w="2208530"/>
                <a:gridCol w="6637655"/>
              </a:tblGrid>
              <a:tr h="4578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属性名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类型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描述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method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RequestMethod[]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可选属性，用于指定该方法可以处理</a:t>
                      </a:r>
                      <a:r>
                        <a:rPr lang="zh-CN" altLang="en-US" sz="18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哪种类型的</a:t>
                      </a: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HTTP请求，</a:t>
                      </a:r>
                      <a:r>
                        <a:rPr lang="en-US" altLang="zh-CN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</a:t>
                      </a: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请求包括GET、POST、HEAD、OPTIONS、PUT、PATCH、DELETE和TRACE等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params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String[]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可选属性，用于指定请求参数的条件，即指定请求中必须包含特定的参数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headers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String[]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可选属性，用于指定请求头的条件，指定请求中必须包含某些指定的header值，才能让该方法处理请求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consumes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String[]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可选属性，用于指定处理器方法能够处理的请求内容类型，如application/json，text/html等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produces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String[]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可选属性，用于指定返回的内容类型，只有当请求的Accept头中包含这个属性指定的类型时，对应的方法才会处理该请求并返回相应的内容</a:t>
                      </a:r>
                      <a:endParaRPr lang="zh-CN" altLang="en-US" sz="18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77649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(1)value属性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993775" y="173990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value属性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是@RequestMapping注解的默认属性。当value属性是@RequestMapping注解显式使用的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唯一属性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时，可以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省略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value的属性名。例如，下面两种映射路径标注的含义相同。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967740" y="2908300"/>
            <a:ext cx="10337800" cy="1139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489710" y="2940685"/>
            <a:ext cx="9533890" cy="271018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@RequestMapping(value="/firstController")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@RequestMapping("/firstController")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993775" y="130937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属性时，可以指定映射单个请求的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URL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路径，也可以定义一个列表包含多个映射地址，用于同时映射多个请求的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URL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967740" y="2764790"/>
            <a:ext cx="10337800" cy="3412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489710" y="2797175"/>
            <a:ext cx="9533890" cy="33845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@Controller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public class AuthController {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</a:t>
            </a:r>
            <a:r>
              <a:rPr lang="en-US" altLang="zh-CN" sz="1800">
                <a:latin typeface="Courier New" panose="02070409020205090404" pitchFamily="49" charset="0"/>
                <a:sym typeface="+mn-ea"/>
              </a:rPr>
              <a:t> //</a:t>
            </a:r>
            <a:r>
              <a:rPr lang="zh-CN" altLang="en-US" sz="1800">
                <a:latin typeface="Courier New" panose="02070409020205090404" pitchFamily="49" charset="0"/>
                <a:sym typeface="+mn-ea"/>
              </a:rPr>
              <a:t>定义映射地址列表</a:t>
            </a:r>
            <a:endParaRPr lang="zh-CN" alt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@RequestMapping(value = {"/addUser","/deleteUser"})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public void checkAuth(){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   System.out.println("增删操作校验");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}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}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77649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(2)method属性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993775" y="1811655"/>
            <a:ext cx="102958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method属性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可以用来对请求的 HTTP 请求方法进行限定。如果请求的URL和处理器映射成功，但实际的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HTTP请求方法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method属性指定的方法不匹配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，那么处理器方法将不会被调用。如果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没有指定method属性的值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，该处理器方法可以处理所有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请求方法。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993775" y="130937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下面通过一个案例演示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method属性中HTTP请求类型的声明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。在项目chapter05的controller包下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创建MethodController类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，具体如文件5-7所示。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文件5-7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5"/>
                  </a:rPr>
                  <a:t>MethodController.java 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6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993775" y="130937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启动项目chapter05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Postman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中依次以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GET方法、DELETE方法、POST方法和PUT方法访问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http://localhost:8080/chapter05/method，控制台输出信息如图5-12所示。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3952" y="2709545"/>
            <a:ext cx="9839496" cy="30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993775" y="130937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如果需要同时支持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多种类型的HTTP请求方法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，则需要将对应的请求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方法列表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存放在英文大括号中，以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数组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的形式给method属性赋值，并且多个请求方法之间用英文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逗号分隔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，示例如下所示。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967740" y="2764790"/>
            <a:ext cx="103378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489710" y="2797175"/>
            <a:ext cx="9533890" cy="11785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@RequestMapping(value = "/method",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method = {RequestMethod.GET,RequestMethod.POST})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public void getAndPost() {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	System.out.println("RequestMethod.GET+RequestMethod.POST");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}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@RequestMapping注解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77649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(3)params属性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993775" y="1811655"/>
            <a:ext cx="102958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params属性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中定义的值可以将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请求映射的定位范围缩小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。当客户端进行请求时，如果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请求参数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的值等于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params属性定义的值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正常执行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所映射到的方法，否则映射到的方法不执行。params属性值的定义方式的示例所示。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967740" y="3410585"/>
            <a:ext cx="10337800" cy="3103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489710" y="3442970"/>
            <a:ext cx="9533890" cy="11785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1@Controller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2public class ParamsController {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3    @RequestMapping(value = "/params",params = "id=1")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4    public void findById(String id) {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5        System.out.println("id="+id);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6    }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7</a:t>
            </a:r>
            <a:r>
              <a:rPr sz="1800">
                <a:latin typeface="Courier New" panose="02070409020205090404" pitchFamily="49" charset="0"/>
                <a:sym typeface="+mn-ea"/>
              </a:rPr>
              <a:t>}   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URL路径映射方式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569210"/>
            <a:ext cx="5445760" cy="189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URL路径映射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的定义，能够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基于请求方法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的URL路径映射、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基于Ant风格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的URL路径映射和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基于REST风格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定义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 MVC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控制器的映射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URL路径映射方式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892300"/>
            <a:ext cx="10335895" cy="427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除了可以通过@RequestMapping注解的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method属性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限定请求的方法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，从Spring 4.3版本开始，还可以使用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组合注解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实现对请求的方法进行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限定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。组合注解简化了常用的HTTP请求方法的映射，并且更好地表达了被注解方法的语义。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MVC用于处理请求并对请求的方法进行限定的组合注解如下所示。 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@GetMapping：匹配基于HTTP的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的请求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　@PostMapping：匹配基于HTTP的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POST方法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的请求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　@PutMapping：匹配基于HTTP的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PUT方法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的请求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　@DeleteMapping：匹配基于HTTP的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方法的请求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　@PatchMapping：匹配基于HTTP的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PATCH方法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的请求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177925"/>
            <a:ext cx="3409315" cy="796290"/>
            <a:chOff x="852276" y="1797999"/>
            <a:chExt cx="2780020" cy="796290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796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1.基于请求方法的URL路径映射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URL路径映射方式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993775" y="130937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组合注解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替代@RequestMapping注解，可以省略method属性，从而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简化代码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。下面以@GetMapping为例讲解组合注解的用法，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@GetMapping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@RequestMapping(method = RequestMethod.GET)的缩写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，使用@GetMapping注解的示例如下所示。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967740" y="2980055"/>
            <a:ext cx="10337800" cy="1917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489710" y="3012440"/>
            <a:ext cx="9533890" cy="11785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1@GetMapping(value="/firstController")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2public void sayHello(){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3   // 逻辑代码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4}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URL路径映射方式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892300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MVC支持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Ant风格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的URL路径映射， 所谓Ant风格其实就是一种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通配符风格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处理器映射路径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通配符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对访问的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URL路径进行关联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。Ant风格的通配符有以下3种。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?： 匹配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任何单字符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　*： 匹配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任意数量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的字符。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　**：匹配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任意数量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目录层级。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177925"/>
            <a:ext cx="3409315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2.基于Ant风格的URL路径映射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URL路径映射方式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399280" y="1125220"/>
            <a:ext cx="3344545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Ant风格通配符的路径匹配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58215" y="1936750"/>
          <a:ext cx="10556875" cy="4642485"/>
        </p:xfrm>
        <a:graphic>
          <a:graphicData uri="http://schemas.openxmlformats.org/drawingml/2006/table">
            <a:tbl>
              <a:tblPr/>
              <a:tblGrid>
                <a:gridCol w="1424305"/>
                <a:gridCol w="2326640"/>
                <a:gridCol w="6805930"/>
              </a:tblGrid>
              <a:tr h="736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通配符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URL路径示例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示例说明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766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/ant1?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匹配项目根路径下/ant1[anyone]路径，其中[anyone]可以是任意单字符，即/ant1后有且只有1个字符，如/ant12、/ant1a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766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/ant2/*.do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匹配项目根路径下/ant2/[any].do路径，其中[any]可以是任意数量的字符，如/ant2/findAll.do、/ant2/a.do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URL路径映射方式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58215" y="1454785"/>
          <a:ext cx="10556875" cy="3257550"/>
        </p:xfrm>
        <a:graphic>
          <a:graphicData uri="http://schemas.openxmlformats.org/drawingml/2006/table">
            <a:tbl>
              <a:tblPr/>
              <a:tblGrid>
                <a:gridCol w="1424305"/>
                <a:gridCol w="2326640"/>
                <a:gridCol w="6805930"/>
              </a:tblGrid>
              <a:tr h="7359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通配符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URL路径示例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示例说明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111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**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/**/ant4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匹配项目根路径下/[anypath]/ant4路径，其中[anypath]可以是</a:t>
                      </a:r>
                      <a:r>
                        <a:rPr lang="zh-CN" altLang="en-US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任意数量的目录层级</a:t>
                      </a: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。如/ant4、/a/ant4、/a/b/ant4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604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**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/ant5/**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匹配项目根路径下/ant5/[anypath]路径，其中[anypath]可以是</a:t>
                      </a:r>
                      <a:r>
                        <a:rPr lang="zh-CN" altLang="en-US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任意数量的目录层级</a:t>
                      </a:r>
                      <a:r>
                        <a:rPr lang="en-US" altLang="zh-CN" sz="19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。如/ant5、/ant5/a、/ant5/a/b</a:t>
                      </a:r>
                      <a:endParaRPr lang="en-US" altLang="zh-CN" sz="19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URL路径映射方式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748790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REST（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Representational State Transfer，表述性状态传递）是一种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网络资源的访问风格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，用于规范对网络资源的访问方式。RESTful是按照REST风格访问网络资源的一种实践，它强调使用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（如GET、POST、PUT、DELETE等）来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操作资源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遵循无状态、统一接口等原则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。例如，传统风格访问的URL格式如下所示。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775" y="1177925"/>
            <a:ext cx="3837305" cy="796290"/>
            <a:chOff x="852276" y="1797999"/>
            <a:chExt cx="2780020" cy="796290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796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3.基于RESTful风格的URL路径映射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967740" y="3912870"/>
            <a:ext cx="10337800" cy="682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489710" y="3945255"/>
            <a:ext cx="9533890" cy="61849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http://.../findUserById?id=1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39495" y="4653915"/>
            <a:ext cx="10335895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采用RESTful风格后，其访问的URL格式如下所示。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022985" y="5331460"/>
            <a:ext cx="10337800" cy="682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1544955" y="5363845"/>
            <a:ext cx="9533890" cy="61849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http://.../user/id/1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5.4.3 URL路径映射方式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RESTful风格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在HTTP请求中，通过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 、POST 、PUT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4个动词对应四种基本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取资源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新建资源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更新资源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删除资源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403090" y="2924175"/>
            <a:ext cx="363918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800" b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RESTful风格四种请求的约定方式</a:t>
            </a:r>
            <a:endParaRPr lang="zh-CN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1042987" y="3573780"/>
          <a:ext cx="10176510" cy="1920240"/>
        </p:xfrm>
        <a:graphic>
          <a:graphicData uri="http://schemas.openxmlformats.org/drawingml/2006/table">
            <a:tbl>
              <a:tblPr/>
              <a:tblGrid>
                <a:gridCol w="4712335"/>
                <a:gridCol w="1772285"/>
                <a:gridCol w="3691890"/>
              </a:tblGrid>
              <a:tr h="2743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URL路径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请求方法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http://localhost:8080/chapter05/user/1 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 GET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获得参数1进行查询user操作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http://localhost:8080/chapter05/user/1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 DELETE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获得参数1进行删除user操作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http://localhost:8080/chapter05/user/1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 PUT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获得参数1进行更新user操作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http://localhost:8080/chapter05/user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 POST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新增user操作</a:t>
                      </a:r>
                      <a:endParaRPr lang="zh-CN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本章主要对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 MVC的基础知识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进行了整体介绍。首先对Spring MVC框架进行了简单的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介绍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；然后讲解了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 MVC入门程序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；接着通过入门程序对Spring MVC的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执行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流程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进行了详细讲解；最后讲解了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 MVC的请求映射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。通过本章的学习，读者可以对Spring MVC框架有大致的了解，为后续学习Spring MVC打下基础。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2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3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4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5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6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7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8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9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10.xml><?xml version="1.0" encoding="utf-8"?>
<p:tagLst xmlns:p="http://schemas.openxmlformats.org/presentationml/2006/main">
  <p:tag name="KSO_WM_DIAGRAM_VIRTUALLY_FRAME" val="{&quot;height&quot;:316.1,&quot;left&quot;:122.65,&quot;top&quot;:156.8,&quot;width&quot;:709.8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16.1,&quot;left&quot;:122.65,&quot;top&quot;:156.8,&quot;width&quot;:709.8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316.1,&quot;left&quot;:122.65,&quot;top&quot;:156.8,&quot;width&quot;:709.8}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UNIT_TABLE_BEAUTIFY" val="smartTable{ce233ec2-62ec-44ba-a813-dd3baf9d8ed0}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UNIT_TABLE_BEAUTIFY" val="smartTable{8218807e-a92a-42c7-b8f0-96095a05085d}"/>
  <p:tag name="TABLE_ENDDRAG_ORIGIN_RECT" val="821*210"/>
  <p:tag name="TABLE_ENDDRAG_RECT" val="73*197*821*210"/>
</p:tagLst>
</file>

<file path=ppt/tags/tag196.xml><?xml version="1.0" encoding="utf-8"?>
<p:tagLst xmlns:p="http://schemas.openxmlformats.org/presentationml/2006/main">
  <p:tag name="KSO_WM_UNIT_TABLE_BEAUTIFY" val="smartTable{8edf21cd-a6f3-4a9e-a5f4-9b5c335a1d4c}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UNIT_TABLE_BEAUTIFY" val="smartTable{f2ce7a6e-f7ec-4a0e-80bd-72feb08ff081}"/>
  <p:tag name="TABLE_ENDDRAG_ORIGIN_RECT" val="831*365"/>
  <p:tag name="TABLE_ENDDRAG_RECT" val="75*141*831*365"/>
</p:tagLst>
</file>

<file path=ppt/tags/tag240.xml><?xml version="1.0" encoding="utf-8"?>
<p:tagLst xmlns:p="http://schemas.openxmlformats.org/presentationml/2006/main">
  <p:tag name="KSO_WM_UNIT_TABLE_BEAUTIFY" val="smartTable{10187f9b-094d-467d-9a9e-54960e5060ad}"/>
  <p:tag name="TABLE_ENDDRAG_ORIGIN_RECT" val="831*229"/>
  <p:tag name="TABLE_ENDDRAG_RECT" val="75*141*831*229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UNIT_TABLE_BEAUTIFY" val="smartTable{6a2f6e92-c0f6-4a09-9780-fd3c7615c7f0}"/>
</p:tagLst>
</file>

<file path=ppt/tags/tag251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9826</Words>
  <Application>WPS 文字</Application>
  <PresentationFormat>自定义</PresentationFormat>
  <Paragraphs>601</Paragraphs>
  <Slides>58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87" baseType="lpstr">
      <vt:lpstr>Arial</vt:lpstr>
      <vt:lpstr>宋体</vt:lpstr>
      <vt:lpstr>Wingdings</vt:lpstr>
      <vt:lpstr>微软雅黑</vt:lpstr>
      <vt:lpstr>汉仪旗黑</vt:lpstr>
      <vt:lpstr>汉仪书宋二KW</vt:lpstr>
      <vt:lpstr>思源黑体 CN Medium</vt:lpstr>
      <vt:lpstr>字魂58号-创中黑</vt:lpstr>
      <vt:lpstr>Source Han Sans K Bold</vt:lpstr>
      <vt:lpstr>Calibri</vt:lpstr>
      <vt:lpstr>U.S. 101</vt:lpstr>
      <vt:lpstr>苹方-简</vt:lpstr>
      <vt:lpstr>Roboto</vt:lpstr>
      <vt:lpstr>Open Sans Light</vt:lpstr>
      <vt:lpstr>宋体</vt:lpstr>
      <vt:lpstr>Arial Unicode MS</vt:lpstr>
      <vt:lpstr>Helvetica Neue</vt:lpstr>
      <vt:lpstr>思源黑体 CN Normal</vt:lpstr>
      <vt:lpstr>Courier New</vt:lpstr>
      <vt:lpstr>Times New Roman</vt:lpstr>
      <vt:lpstr>汉仪中黑KW</vt:lpstr>
      <vt:lpstr>冬青黑体简体中文</vt:lpstr>
      <vt:lpstr>Source Han Sans K Bold</vt:lpstr>
      <vt:lpstr>字魂58号-创中黑</vt:lpstr>
      <vt:lpstr>微软雅黑</vt:lpstr>
      <vt:lpstr>思源黑体 CN Medium</vt:lpstr>
      <vt:lpstr>思源黑体 CN Normal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1295</cp:revision>
  <dcterms:created xsi:type="dcterms:W3CDTF">2026-04-14T02:27:20Z</dcterms:created>
  <dcterms:modified xsi:type="dcterms:W3CDTF">2026-04-14T02:27:20Z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69DB4B6826B6494390E926BE37E6C64D</vt:lpwstr>
  </property>
</Properties>
</file>