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49"/>
  </p:handoutMasterIdLst>
  <p:sldIdLst>
    <p:sldId id="583" r:id="rId4"/>
    <p:sldId id="1124" r:id="rId6"/>
    <p:sldId id="586" r:id="rId7"/>
    <p:sldId id="587" r:id="rId8"/>
    <p:sldId id="309" r:id="rId9"/>
    <p:sldId id="1986" r:id="rId10"/>
    <p:sldId id="1323" r:id="rId11"/>
    <p:sldId id="1987" r:id="rId12"/>
    <p:sldId id="2043" r:id="rId13"/>
    <p:sldId id="2044" r:id="rId14"/>
    <p:sldId id="2045" r:id="rId15"/>
    <p:sldId id="2046" r:id="rId16"/>
    <p:sldId id="2047" r:id="rId17"/>
    <p:sldId id="2048" r:id="rId18"/>
    <p:sldId id="2049" r:id="rId19"/>
    <p:sldId id="2050" r:id="rId20"/>
    <p:sldId id="2051" r:id="rId21"/>
    <p:sldId id="2053" r:id="rId22"/>
    <p:sldId id="1988" r:id="rId23"/>
    <p:sldId id="1989" r:id="rId24"/>
    <p:sldId id="2055" r:id="rId25"/>
    <p:sldId id="2056" r:id="rId26"/>
    <p:sldId id="2057" r:id="rId27"/>
    <p:sldId id="2058" r:id="rId28"/>
    <p:sldId id="2059" r:id="rId29"/>
    <p:sldId id="2060" r:id="rId30"/>
    <p:sldId id="2061" r:id="rId31"/>
    <p:sldId id="2062" r:id="rId32"/>
    <p:sldId id="1990" r:id="rId33"/>
    <p:sldId id="2063" r:id="rId34"/>
    <p:sldId id="2064" r:id="rId35"/>
    <p:sldId id="2065" r:id="rId36"/>
    <p:sldId id="2066" r:id="rId37"/>
    <p:sldId id="2067" r:id="rId38"/>
    <p:sldId id="2068" r:id="rId39"/>
    <p:sldId id="2069" r:id="rId40"/>
    <p:sldId id="2070" r:id="rId41"/>
    <p:sldId id="2072" r:id="rId42"/>
    <p:sldId id="2073" r:id="rId43"/>
    <p:sldId id="2074" r:id="rId44"/>
    <p:sldId id="2075" r:id="rId45"/>
    <p:sldId id="2076" r:id="rId46"/>
    <p:sldId id="889" r:id="rId47"/>
    <p:sldId id="617" r:id="rId48"/>
  </p:sldIdLst>
  <p:sldSz cx="12190095" cy="6859270"/>
  <p:notesSz cx="6858000" cy="9144000"/>
  <p:custDataLst>
    <p:tags r:id="rId5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4" userDrawn="1">
          <p15:clr>
            <a:srgbClr val="A4A3A4"/>
          </p15:clr>
        </p15:guide>
        <p15:guide id="2" pos="1890" userDrawn="1">
          <p15:clr>
            <a:srgbClr val="A4A3A4"/>
          </p15:clr>
        </p15:guide>
        <p15:guide id="3" pos="70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1004"/>
        <p:guide pos="1890"/>
        <p:guide pos="70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74"/>
        <p:guide pos="221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4" Type="http://schemas.openxmlformats.org/officeDocument/2006/relationships/tags" Target="tags/tag214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9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3.pn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hyperlink" Target="http://stu.ityxb.com/ebookview/c716ebbc30b2f9be94c001349da88e38" TargetMode="External"/><Relationship Id="rId7" Type="http://schemas.openxmlformats.org/officeDocument/2006/relationships/tags" Target="../tags/tag84.xml"/><Relationship Id="rId6" Type="http://schemas.openxmlformats.org/officeDocument/2006/relationships/image" Target="../media/image4.png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notesSlide" Target="../notesSlides/notesSlide20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image" Target="../media/image2.png"/><Relationship Id="rId1" Type="http://schemas.openxmlformats.org/officeDocument/2006/relationships/tags" Target="../tags/tag11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hyperlink" Target="http://stu.ityxb.com/ebookview/497d671d69d0abc3c7ca94b75d10cd76" TargetMode="External"/><Relationship Id="rId7" Type="http://schemas.openxmlformats.org/officeDocument/2006/relationships/tags" Target="../tags/tag124.xml"/><Relationship Id="rId6" Type="http://schemas.openxmlformats.org/officeDocument/2006/relationships/image" Target="../media/image4.png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5" Type="http://schemas.openxmlformats.org/officeDocument/2006/relationships/notesSlide" Target="../notesSlides/notesSlide29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28.xml"/><Relationship Id="rId12" Type="http://schemas.openxmlformats.org/officeDocument/2006/relationships/image" Target="../media/image5.png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tags" Target="../tags/tag11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image" Target="../media/image2.png"/><Relationship Id="rId1" Type="http://schemas.openxmlformats.org/officeDocument/2006/relationships/tags" Target="../tags/tag134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hyperlink" Target="http://stu.ityxb.com/ebookview/7c4e20cb090d9b326ba9201462a9c54c" TargetMode="External"/><Relationship Id="rId7" Type="http://schemas.openxmlformats.org/officeDocument/2006/relationships/tags" Target="../tags/tag146.xml"/><Relationship Id="rId6" Type="http://schemas.openxmlformats.org/officeDocument/2006/relationships/image" Target="../media/image4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5" Type="http://schemas.openxmlformats.org/officeDocument/2006/relationships/notesSlide" Target="../notesSlides/notesSlide33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50.xml"/><Relationship Id="rId12" Type="http://schemas.openxmlformats.org/officeDocument/2006/relationships/image" Target="../media/image5.png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4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image" Target="../media/image2.png"/><Relationship Id="rId1" Type="http://schemas.openxmlformats.org/officeDocument/2006/relationships/tags" Target="../tags/tag156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hyperlink" Target="http://stu.ityxb.com/ebookview/79091dd280e43b403bf394081bb72bc8" TargetMode="External"/><Relationship Id="rId7" Type="http://schemas.openxmlformats.org/officeDocument/2006/relationships/tags" Target="../tags/tag168.xml"/><Relationship Id="rId6" Type="http://schemas.openxmlformats.org/officeDocument/2006/relationships/image" Target="../media/image4.png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5" Type="http://schemas.openxmlformats.org/officeDocument/2006/relationships/notesSlide" Target="../notesSlides/notesSlide3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172.xml"/><Relationship Id="rId12" Type="http://schemas.openxmlformats.org/officeDocument/2006/relationships/image" Target="../media/image5.png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tags" Target="../tags/tag163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692091f141a6d5657601bbeff4c4bc7a" TargetMode="External"/><Relationship Id="rId8" Type="http://schemas.openxmlformats.org/officeDocument/2006/relationships/hyperlink" Target="http://stu.ityxb.com/ebookview/7bb96a4692f960b9ad40306f0359a5e9" TargetMode="External"/><Relationship Id="rId7" Type="http://schemas.openxmlformats.org/officeDocument/2006/relationships/tags" Target="../tags/tag178.xml"/><Relationship Id="rId6" Type="http://schemas.openxmlformats.org/officeDocument/2006/relationships/image" Target="../media/image4.png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5" Type="http://schemas.openxmlformats.org/officeDocument/2006/relationships/notesSlide" Target="../notesSlides/notesSlide38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5.png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3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hyperlink" Target="http://stu.ityxb.com/ebookview/e697847a3bffdddcb9becd39d9a32b92" TargetMode="External"/><Relationship Id="rId7" Type="http://schemas.openxmlformats.org/officeDocument/2006/relationships/tags" Target="../tags/tag187.xml"/><Relationship Id="rId6" Type="http://schemas.openxmlformats.org/officeDocument/2006/relationships/image" Target="../media/image4.png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4" Type="http://schemas.openxmlformats.org/officeDocument/2006/relationships/notesSlide" Target="../notesSlides/notesSlide39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tags" Target="../tags/tag18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hyperlink" Target="http://stu.ityxb.com/ebookview/4f753857632638635c10ade053c2466f" TargetMode="External"/><Relationship Id="rId7" Type="http://schemas.openxmlformats.org/officeDocument/2006/relationships/tags" Target="../tags/tag196.xml"/><Relationship Id="rId6" Type="http://schemas.openxmlformats.org/officeDocument/2006/relationships/image" Target="../media/image4.png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4" Type="http://schemas.openxmlformats.org/officeDocument/2006/relationships/notesSlide" Target="../notesSlides/notesSlide40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91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hyperlink" Target="http://stu.ityxb.com/ebookview/6e6042fec08e917a897733a0a56f76a5" TargetMode="External"/><Relationship Id="rId7" Type="http://schemas.openxmlformats.org/officeDocument/2006/relationships/tags" Target="../tags/tag205.xml"/><Relationship Id="rId6" Type="http://schemas.openxmlformats.org/officeDocument/2006/relationships/image" Target="../media/image4.png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4" Type="http://schemas.openxmlformats.org/officeDocument/2006/relationships/notesSlide" Target="../notesSlides/notesSlide41.xml"/><Relationship Id="rId13" Type="http://schemas.openxmlformats.org/officeDocument/2006/relationships/slideLayout" Target="../slideLayouts/slideLayout10.xml"/><Relationship Id="rId12" Type="http://schemas.openxmlformats.org/officeDocument/2006/relationships/image" Target="../media/image5.png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20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第10章 MyBatis的注解开发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3641725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一对一查询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，能够基于注解实现一对一查询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749550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基于注解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单表增删改查操作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，能够在程序中使用注解实现单表的增删改查操作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1858645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单表增删改查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的常见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注解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，能够简述常见注解对应的作用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526915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一对多查询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，能够基于注解实现一对多查询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568450" y="5439410"/>
            <a:ext cx="9006205" cy="689610"/>
            <a:chOff x="978872" y="2570437"/>
            <a:chExt cx="5437064" cy="517208"/>
          </a:xfrm>
        </p:grpSpPr>
        <p:sp>
          <p:nvSpPr>
            <p:cNvPr id="7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多对多查询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，能够基于注解实现多对多查询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MyBatis开发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方式通常依赖于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XML映射文件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来定义SQL语句和结果集映射，随着注解技术的不断发展，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的开发方式。这种开发方式不仅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减少了XML映射文件的数量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，还使得代码更加清晰和易于维护。通过注解，开发者可以直接在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Mapper接口的方法上定义SQL语句和结果集映射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，从而实现了代码与SQL语句的紧密结合。本章将对MyBatis的注解开发进行讲解。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8835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65899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442740"/>
            <a:ext cx="1120435" cy="612775"/>
            <a:chOff x="2215144" y="982844"/>
            <a:chExt cx="1169813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18158" y="1005670"/>
              <a:ext cx="1066799" cy="71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783584"/>
            <a:ext cx="1120435" cy="612775"/>
            <a:chOff x="2215144" y="2026500"/>
            <a:chExt cx="1169813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10.2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433861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基于注解的单表增删改查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76675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基于注解的关联查询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42429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10.1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10756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在数据库操作的日常实践中，对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增删改查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最基础且频繁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的需求，MyBatis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基于注解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的开发方式，使得在进行单表CRUD操作时，代码更加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精简和清晰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。下面，将对MyBatis增删改查注解和基于注解的单表增删改查操作进行讲解。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241236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372618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单表增删改查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常见注解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，能够简述常见注解对应的作用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221105"/>
            <a:ext cx="10295890" cy="968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单表增删改查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常用注解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主要包括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SQL语句映射注解</a:t>
            </a:r>
            <a:r>
              <a:rPr lang="en-US" altLang="zh-CN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结果集映射注解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高级特性注解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，下面分别对这三类注解进行讲解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8835" y="2273300"/>
            <a:ext cx="2990850" cy="383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19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1. SQL语句映射注解</a:t>
            </a:r>
            <a:endParaRPr sz="19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049020" y="2727960"/>
            <a:ext cx="10295890" cy="1407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SQL语句映射注解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是指在使用MyBatis进行开发时，用于在Java代码中定义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与J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ava方法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映射关系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的注解，这些注解可以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标记在方法</a:t>
            </a:r>
            <a:r>
              <a:rPr lang="zh-CN" altLang="it-IT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和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参数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上，以指示MyBatis如何执行相应的数据库操作。通过注解的方式，开发者可以直接在Java代码中编写SQL语句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2010410"/>
            <a:ext cx="10295890" cy="968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@Insert 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用于标记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插入操作的方法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，可以在注解中编写 SQL 插入语句，并使用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 #{} 占位符引用方法参数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（1）@Insert注解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967740" y="3123565"/>
            <a:ext cx="10191750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1489710" y="3155950"/>
            <a:ext cx="9897745" cy="7340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@Insert("INSERT INTO users(username, password) 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VALUES(#{username}, #{password})")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void insertUser(User user);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2010410"/>
            <a:ext cx="10295890" cy="1845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@Param注解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用于标记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方法参数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SQL语句中的占位符名称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使用MyBatis进行开发时，有时候方法参数的名称不能直接与SQL中的参数名称对应，或者一个方法有多个参数需要传递给SQL语句，这时候就可以使用@Param注解来明确指定参数的名称，以便正确将参数传递给SQL语句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（2）@Param注解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2010410"/>
            <a:ext cx="10295890" cy="968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@Update 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用于标记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更新操作的方法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，可以在注解中编写SQL更新语句，并使用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 #{}占位符引用方法参数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。通常更新语句中会包含一个或多个条件，确保更新操作的针对性，示例如下。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（3）@Update注解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967740" y="3123565"/>
            <a:ext cx="10191750" cy="1501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1489710" y="3155950"/>
            <a:ext cx="9897745" cy="153670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@Update("UPDATE users SET password=#{newPassword} WHERE id=#{id}")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void updateUserPassword(@Param("id") int userId,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  @Param("newPassword") String newPassword);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2010410"/>
            <a:ext cx="10295890" cy="968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@Delete注解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用于标记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删除操作的方法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，可以在注解中编写SQL删除语句，并使用 #{} 占位符引用方法参数，示例如下。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（4）@Delete注解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967740" y="3123565"/>
            <a:ext cx="10191750" cy="1037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1489710" y="3155950"/>
            <a:ext cx="9897745" cy="103060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@Delete("DELETE FROM users WHERE id=#{id}")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void deleteUser(@Param("id") int userId);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2010410"/>
            <a:ext cx="10295890" cy="968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@Select 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用于标记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查询操作的方法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，可以直接在@Select注解中编写SQL查询语句，并使用 #{} 语法来引用方法中的参数。示例如下。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（5）@Select注解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5"/>
            </p:custDataLst>
          </p:nvPr>
        </p:nvSpPr>
        <p:spPr>
          <a:xfrm>
            <a:off x="967740" y="3123565"/>
            <a:ext cx="10191750" cy="1037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6"/>
            </p:custDataLst>
          </p:nvPr>
        </p:nvSpPr>
        <p:spPr>
          <a:xfrm>
            <a:off x="1489710" y="3155950"/>
            <a:ext cx="9897745" cy="103060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@Select("SELECT * FROM users WHERE id=#{id}")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User getUserById(@Param("id") int userId);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8835" y="1268730"/>
            <a:ext cx="2990850" cy="383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19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2.结果集映射注解</a:t>
            </a:r>
            <a:endParaRPr sz="19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49020" y="1723390"/>
            <a:ext cx="10295890" cy="4477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结果</a:t>
            </a:r>
            <a:r>
              <a:rPr lang="zh-CN" altLang="it-IT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集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映射注解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是MyBatis中用于指定如何将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查询结果映射到Java对象的注解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。在MyBatis中，可以使用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@Results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来定义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结果映射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。其中@Results 注解用于定义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多个结果映射规则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，可以包含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多个 @Result 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，@Result 注解用于定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义单个Java对象属性与数据表字段的映射关系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 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提供了如下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属性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设置Java对象属性和数据表字段的映射关系。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property：用于指定实体类中对应的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属性名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column：用于指定查询结果集中对应的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字段名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one：用于指定描述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一对一关联关系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@One注解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，关于@One注解会在本章后续详细讲解。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　many：用于指定描述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一对多关联关系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@Many 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，关于@Many 注解会在本章后续详细讲解。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221105"/>
            <a:ext cx="10295890" cy="529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@Results和@Result注解的使用示例如下。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967740" y="2047240"/>
            <a:ext cx="10191750" cy="3623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1489710" y="2079625"/>
            <a:ext cx="9897745" cy="359156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@Select("SELECT * FROM users WHERE id=#{id}")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@Results({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@Result(property = "id", column = "id"),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@Result(property = "username", column = "username"),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@Result(property = "password", column = "password"),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@Result(property = "email", column = "email")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})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User getUserById(@Param("id") int userId);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38835" y="1268730"/>
            <a:ext cx="2990850" cy="3835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 defTabSz="914400">
              <a:buClrTx/>
              <a:buSzTx/>
              <a:buFontTx/>
            </a:pPr>
            <a:r>
              <a:rPr sz="19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3.高级特性注解</a:t>
            </a:r>
            <a:endParaRPr sz="19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49020" y="1723390"/>
            <a:ext cx="10295890" cy="40386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@Options注解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 MyBatis 中用于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配置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一些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高级选项的注解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，例如是否使用生成的键、设置超时时间、是否刷新缓存等，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常见的配置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useGeneratedKeys：用于指定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是否使用自动生成的主键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。如果设置为true，表示会使用数据库自动生成的键值作为主键；如果设置为false，表示不使用数据库自动生成的键值，默认为false。该属性仅在执行数据库插入操作时生效。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keyProperty：用于指定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生成的键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将会被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设置到哪个属性上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　timeout：用于指定SQL语句执行的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超时时间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，单位为秒。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　flushCache：用于指定是否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刷新缓存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，如果设置为true，表示执行该SQL语句后会刷新缓存，默认为false。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单表增删改查的常见注解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221105"/>
            <a:ext cx="10295890" cy="1407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@Options注解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与@Select、@Insert、@Update、@Delete等注解一起使用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，标注在映射器接口的方法之上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，为SQL操作提供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附加的执行选项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。下面通过一个示例演示@Options注解的使用。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967740" y="2836545"/>
            <a:ext cx="10191750" cy="23514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1489710" y="2868930"/>
            <a:ext cx="9897745" cy="229489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@Insert("INSERT INTO user (username, password) 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VALUES (#{username}, #{password})")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@Options(useGeneratedKeys = true, keyProperty = "id", 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    timeout = 30, flushCache = Options.FlushCachePolicy.TRUE)</a:t>
            </a:r>
            <a:endParaRPr sz="1800">
              <a:latin typeface="Courier New" panose="0207040902020509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409020205090404" pitchFamily="49" charset="0"/>
                <a:sym typeface="+mn-ea"/>
              </a:rPr>
              <a:t>int insertUser(User user);</a:t>
            </a:r>
            <a:endParaRPr sz="1800">
              <a:latin typeface="Courier New" panose="0207040902020509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基于注解的单表增删改查操作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，能够在程序中使用注解实现单表的增删改查操作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03898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1.创建项目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600960"/>
            <a:ext cx="571055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一个名称为chapter10的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Maven项目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，并在项目的pom.xml文件中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引入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MyBatis、MySQL连接、单元测试的相关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对比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注解方式和XML映射文件方式的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效果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，本章将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基于第8章8.6节的代码演示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注解的单表增删改查操作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。将第8章8.6节的源代码复制到chapter10项目对应的路径下，</a:t>
            </a:r>
            <a:r>
              <a:rPr 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稍微修改，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修改后chapter10项目的目录结构如图所示。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977265" y="1077595"/>
            <a:ext cx="612457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学习完单表增删改查的常见注解，下面通过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案例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演示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基于注解的单表增删改查操作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894637" y="981075"/>
            <a:ext cx="2864614" cy="56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2.修改Mapper接口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UserMapper接口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原有的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增删改查方法上，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方式进行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标注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。User数据表的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字段名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和User对象的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属性名一致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，对此可以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省略@Results注解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指定结果集映射。同时查询方法、插入方法、更新方法和删除方法的参数都为一个，对此可以直接在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SQL语句占位符中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参数名称一致的标记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，简化代码。修改后UserMapper接口如文件10-1所示。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76664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87551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UserMapper.java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insertTest()方法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添加用户信息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王五的效果，如下图所示。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99197" y="2780983"/>
            <a:ext cx="9104368" cy="25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selectTest()方法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中设置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查找id为2的用户信息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后，运行selectTest()方法，效果如下图所示。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70952" y="3213418"/>
            <a:ext cx="9074034" cy="25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updateUser()方法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中设置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更新用户信息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，传递更新的用户信息中其id为4，名称为王老五，并在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更新用户信息后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调用findById()方法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查找id为4的用户信息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，运行updateUser()方法，如下图所示。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16660" y="3501390"/>
            <a:ext cx="9038701" cy="258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10.1.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基于注解的单表增删改查操作 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9319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deleteTest()方法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中设置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删除id为4的用户信息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，并在删除用户信息后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调用findById()方法查找id为4的用户信息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，运行deleteTest()方法，如下图所示。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60450" y="3069273"/>
            <a:ext cx="9031818" cy="25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42429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基于注解的关联查询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10.2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基于注解的关联查询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2107565"/>
            <a:ext cx="10335895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MyBatis的注解开发中，除了可以实现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单表的增删改查操作外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多表的关联查询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一对一查询、一对多查询和多对多查询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。下面对基于注解的关联查询进行讲解。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203962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329565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一对一查询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一对一查询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，能够基于注解实现一对一查询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一对一查询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292860"/>
            <a:ext cx="10295890" cy="2284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MyBatis中使用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@One注解实现数据表的一对一关联查询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，通常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与@Results注解一起使用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。@One注解提供了一系列的属性用于设置一对一关联查询时的细节信息，其中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常见的属性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　fetchType：用于指定控制关联对象的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加载策略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，可选值有FetchType.EAGER（立即加载）和FetchType.LAZY（延迟加载），默认为FetchType.EAGER。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　select：用于指定</a:t>
            </a:r>
            <a:r>
              <a:rPr lang="it-IT" altLang="zh-CN" sz="19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关联查询的SQL语句或方法</a:t>
            </a:r>
            <a:r>
              <a:rPr lang="zh-CN" altLang="en-US" sz="19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9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一对一查询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82372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1.修改Mapper接口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385695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PersonMapper接口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定义一个名为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getIDCardByCardId()的方法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，依据人员的id查询与之匹配的身份证信息。以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注解的方式修改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查询人员信息的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方法getPersonById()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，在该方法上使用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@Select注解指定查询的SQL语句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@Results注解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定义查询的结果集映射，并通过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@One注解中的select属性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，将关联查询的方法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指定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getIDCardByCardId()，从而进行关联查询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。修改后PersonMapper接口如文件10-2所示。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434068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44955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PersonMapper.java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77265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下面在10.1节实现的代码上，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基于注解实现查询人员信息时，关联查询对应的身份证信息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一对一查询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associationTest()方法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查询id为1的人员信息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70952" y="2957195"/>
            <a:ext cx="10045163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一对多查询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一对多查询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，能够基于注解实现一对多查询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292860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MyBatis中，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@Many 注解用于描述一对多关联关系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，即一个实体对象包含一个或多个与之关联的子对象集合。@Many 注解通常与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@Results注解一起使用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，常用于在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查询结果中嵌套加载一组关联对象的集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合。@Many注解的属性和@One注解的属性一致。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82372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1.修改Mapper接口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385695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MemberMapper接口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定义一个名为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selectOrdersByMemberId()的方法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，依据会员的id查询与之匹配的订单信息。以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注解的方式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修改查询会员信息的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方法getMemberWithOrders()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，在该方法上使用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@Select注解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指定查询的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SQL语句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@Results注解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定义查询的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结果集映射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@Many注解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select属性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关联查询的方法指定为selectOrdersByMemberId()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，从而实现关联查询。修改后MemberMapper接口如文件10-3所示。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434068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44955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文件10-3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MemberMapper.java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77265" y="10775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下面通过案例演示，使用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注解实现查询会员信息时，关联查询对应的订单信息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。</a:t>
            </a:r>
            <a:endParaRPr lang="zh-CN" altLang="it-IT" sz="1800" b="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40902020509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24968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95516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MapperTest.java中的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collectionTest()方法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，测试查询id为1的会员信息，效果如下图所示。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3952" y="2853690"/>
            <a:ext cx="10142744" cy="27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多对多查询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，能够基于注解实现多对多查询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77265" y="1364615"/>
            <a:ext cx="1029589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多对多关联关系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是数据库设计中一种常见的实体关系类型，表示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两个实体之间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存在着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多个实例之间的多重关联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。为了有效地表示这种关系，我们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通常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中间表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（也称为关联表或桥接表）来进行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维护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。以学生和课程为例，一个学生可以选择多门课程，同时一门课程也可以被多个学生选择，这种典型的多对多关系就需要通过中间表来实现。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中间表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通常包含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两个外键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，分别指向学生和课程表的主键，从而建立起两者之间的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关联关系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。通过这种方式，我们可以方便地查询某个学生选择的所有课程，或者某门课程的所有选课学生，实现数据的高效管理和查询。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18249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1.数据库数据准备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74447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mybatis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的数据库中，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学生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数据表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student、课程数据表course、学生课程关联表student_course，并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插入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若干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测试数据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，具体代码如下文件10-4所示。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91015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01902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文件10-4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manyToMany.sql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977265" y="107759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MyBatis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没有直接提供多对多关联查询的注解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，通常根据需求由2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个一对多关联查询实现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多对多关联查询。下面基于注解实现学生和课程的多对多查询。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2.创建实体类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在项目的com.itheima.entity包中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与数据表student、course对应的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实体类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Student和Course，用于存储图书信息，具体如文件10-5和文件10-6所示。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04909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15796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文件10-5</a:t>
                </a:r>
                <a:r>
                  <a:rPr lang="en-US" sz="1800">
                    <a:sym typeface="+mn-ea"/>
                  </a:rPr>
                  <a:t>    </a:t>
                </a:r>
                <a:r>
                  <a:rPr sz="1800">
                    <a:sym typeface="+mn-ea"/>
                    <a:hlinkClick r:id="rId8"/>
                  </a:rPr>
                  <a:t>Student.java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文件10-6</a:t>
                </a:r>
                <a:r>
                  <a:rPr lang="en-US" sz="1800">
                    <a:sym typeface="+mn-ea"/>
                  </a:rPr>
                  <a:t>   </a:t>
                </a:r>
                <a:r>
                  <a:rPr lang="en-US" sz="1800">
                    <a:sym typeface="+mn-ea"/>
                    <a:hlinkClick r:id="rId9"/>
                  </a:rPr>
                  <a:t> </a:t>
                </a:r>
                <a:r>
                  <a:rPr sz="1800">
                    <a:sym typeface="+mn-ea"/>
                    <a:hlinkClick r:id="rId9"/>
                  </a:rPr>
                  <a:t>Course.java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3.创建Mapper接口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在项目的com.itheima.mapper包中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操作Student与数据库数据映射的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Mapper接口StudentMapper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，在该接口中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定义findById()方法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用于根据学生id查找学生信息，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定义findByCourseId()方法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用于根据课程id查找选择了该课程的学生信息，具体如文件10-7所示。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文件10-7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StudentMapper.java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3.创建Mapper接口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在项目的com.itheima.mapper包中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操作Course对象与数据库数据映射的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Mapper接口CourseMapper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，在该接口中定义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findById()方法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用于根据学生id查找课程信息，定义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findByStudentId()方法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用于根据学生id查找该学生选择的课程信息，具体如文件10-8所示。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264358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373232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文件10-8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CourseMapper.java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4.定义测试方法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MapperTest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类中定义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测试manyToManyTest()方法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，在测试方法中通过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SqlSession对象获取StudentMapper对象和CourseMapper对象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调用对应的findById方法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查询学生信息和课程信息，其中查询出的学生信息包括其选择的课程信息，查询出的课程信息包括课程信息和选择该课程的学生信息，具体如下所示。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  <a:hlinkClick r:id="rId8"/>
                  </a:rPr>
                  <a:t>manyToManyTest()方法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10.2.3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多对多查询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90204" pitchFamily="34" charset="0"/>
                  <a:ea typeface="思源黑体 CN Normal" panose="020B0400000000000000" pitchFamily="34" charset="-122"/>
                  <a:sym typeface="Arial" panose="020B0604020202090204" pitchFamily="34" charset="0"/>
                </a:rPr>
                <a:t>5.测试效果</a:t>
              </a:r>
              <a:endParaRPr sz="1700" dirty="0">
                <a:latin typeface="Arial" panose="020B0604020202090204" pitchFamily="34" charset="0"/>
                <a:ea typeface="思源黑体 CN Normal" panose="020B0400000000000000" pitchFamily="34" charset="-122"/>
                <a:sym typeface="Arial" panose="020B060402020209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409020205090404" pitchFamily="49" charset="0"/>
              </a:rPr>
              <a:t>运行manyToManyTest()方法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，运行效果如下图所示。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442" y="2709545"/>
            <a:ext cx="9948624" cy="295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MyBatis的注解开发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。首先讲解了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基于注解的单表增删改查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；然后讲解了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基于注解的关联查询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，包括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一对一查询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一对多查询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多对多查询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。通过本章的学习，读者可以了解MyBatis中常用注解的主要作用，并能够掌握这些注解在实际开发中的应用。在MyBatis框架中，这些注解十分重要，熟练地掌握它们能够极大地提高开发效率。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7253</Words>
  <Application>WPS 演示</Application>
  <PresentationFormat>自定义</PresentationFormat>
  <Paragraphs>363</Paragraphs>
  <Slides>44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汉仪旗黑</vt:lpstr>
      <vt:lpstr>汉仪书宋二KW</vt:lpstr>
      <vt:lpstr>思源黑体 CN Medium</vt:lpstr>
      <vt:lpstr>字魂58号-创中黑</vt:lpstr>
      <vt:lpstr>Source Han Sans K Bold</vt:lpstr>
      <vt:lpstr>Calibri</vt:lpstr>
      <vt:lpstr>U.S. 101</vt:lpstr>
      <vt:lpstr>苹方-简</vt:lpstr>
      <vt:lpstr>Roboto</vt:lpstr>
      <vt:lpstr>Open Sans Light</vt:lpstr>
      <vt:lpstr>Courier New</vt:lpstr>
      <vt:lpstr>思源黑体 CN Normal</vt:lpstr>
      <vt:lpstr>宋体</vt:lpstr>
      <vt:lpstr>Arial Unicode MS</vt:lpstr>
      <vt:lpstr>Helvetica Neue</vt:lpstr>
      <vt:lpstr>汉仪中黑KW</vt:lpstr>
      <vt:lpstr>冬青黑体简体中文</vt:lpstr>
      <vt:lpstr>Source Han Sans K Bold</vt:lpstr>
      <vt:lpstr>字魂58号-创中黑</vt:lpstr>
      <vt:lpstr>微软雅黑</vt:lpstr>
      <vt:lpstr>思源黑体 CN Medium</vt:lpstr>
      <vt:lpstr>思源黑体 CN Normal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1843</cp:revision>
  <dcterms:created xsi:type="dcterms:W3CDTF">2026-04-24T04:16:01Z</dcterms:created>
  <dcterms:modified xsi:type="dcterms:W3CDTF">2026-04-24T04:16:01Z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69DB4B6826B6494390E926BE37E6C64D</vt:lpwstr>
  </property>
</Properties>
</file>