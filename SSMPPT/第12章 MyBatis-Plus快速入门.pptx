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9"/>
  </p:handoutMasterIdLst>
  <p:sldIdLst>
    <p:sldId id="583" r:id="rId4"/>
    <p:sldId id="1124" r:id="rId6"/>
    <p:sldId id="586" r:id="rId7"/>
    <p:sldId id="587" r:id="rId8"/>
    <p:sldId id="309" r:id="rId9"/>
    <p:sldId id="1323" r:id="rId10"/>
    <p:sldId id="899" r:id="rId11"/>
    <p:sldId id="1796" r:id="rId12"/>
    <p:sldId id="1985" r:id="rId13"/>
    <p:sldId id="1986" r:id="rId14"/>
    <p:sldId id="1989" r:id="rId15"/>
    <p:sldId id="1987" r:id="rId16"/>
    <p:sldId id="1988" r:id="rId17"/>
    <p:sldId id="1990" r:id="rId18"/>
    <p:sldId id="1992" r:id="rId19"/>
    <p:sldId id="1993" r:id="rId20"/>
    <p:sldId id="1994" r:id="rId21"/>
    <p:sldId id="1995" r:id="rId22"/>
    <p:sldId id="1996" r:id="rId23"/>
    <p:sldId id="1997" r:id="rId24"/>
    <p:sldId id="1998" r:id="rId25"/>
    <p:sldId id="1798" r:id="rId26"/>
    <p:sldId id="1800" r:id="rId27"/>
    <p:sldId id="2101" r:id="rId28"/>
    <p:sldId id="2100" r:id="rId29"/>
    <p:sldId id="2102" r:id="rId30"/>
    <p:sldId id="2103" r:id="rId31"/>
    <p:sldId id="2104" r:id="rId32"/>
    <p:sldId id="2106" r:id="rId33"/>
    <p:sldId id="2107" r:id="rId34"/>
    <p:sldId id="2108" r:id="rId35"/>
    <p:sldId id="2109" r:id="rId36"/>
    <p:sldId id="2110" r:id="rId37"/>
    <p:sldId id="2112" r:id="rId38"/>
    <p:sldId id="2113" r:id="rId39"/>
    <p:sldId id="2114" r:id="rId40"/>
    <p:sldId id="2115" r:id="rId41"/>
    <p:sldId id="2116" r:id="rId42"/>
    <p:sldId id="2117" r:id="rId43"/>
    <p:sldId id="2118" r:id="rId44"/>
    <p:sldId id="2111" r:id="rId45"/>
    <p:sldId id="2119" r:id="rId46"/>
    <p:sldId id="2120" r:id="rId47"/>
    <p:sldId id="2121" r:id="rId48"/>
    <p:sldId id="1801" r:id="rId49"/>
    <p:sldId id="2122" r:id="rId50"/>
    <p:sldId id="2123" r:id="rId51"/>
    <p:sldId id="2124" r:id="rId52"/>
    <p:sldId id="2125" r:id="rId53"/>
    <p:sldId id="2126" r:id="rId54"/>
    <p:sldId id="1802" r:id="rId55"/>
    <p:sldId id="2128" r:id="rId56"/>
    <p:sldId id="2129" r:id="rId57"/>
    <p:sldId id="2130" r:id="rId58"/>
    <p:sldId id="2131" r:id="rId59"/>
    <p:sldId id="2132" r:id="rId60"/>
    <p:sldId id="2133" r:id="rId61"/>
    <p:sldId id="2134" r:id="rId62"/>
    <p:sldId id="2135" r:id="rId63"/>
    <p:sldId id="2136" r:id="rId64"/>
    <p:sldId id="2137" r:id="rId65"/>
    <p:sldId id="2138" r:id="rId66"/>
    <p:sldId id="889" r:id="rId67"/>
    <p:sldId id="617" r:id="rId68"/>
  </p:sldIdLst>
  <p:sldSz cx="12190095" cy="6859270"/>
  <p:notesSz cx="6858000" cy="9144000"/>
  <p:custDataLst>
    <p:tags r:id="rId7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4" userDrawn="1">
          <p15:clr>
            <a:srgbClr val="A4A3A4"/>
          </p15:clr>
        </p15:guide>
        <p15:guide id="2" pos="591" userDrawn="1">
          <p15:clr>
            <a:srgbClr val="A4A3A4"/>
          </p15:clr>
        </p15:guide>
        <p15:guide id="3" pos="701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1004"/>
        <p:guide pos="591"/>
        <p:guide pos="70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22"/>
        <p:guide pos="221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4" Type="http://schemas.openxmlformats.org/officeDocument/2006/relationships/tags" Target="tags/tag328.xml"/><Relationship Id="rId73" Type="http://schemas.openxmlformats.org/officeDocument/2006/relationships/commentAuthors" Target="commentAuthors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3.xml"/><Relationship Id="rId69" Type="http://schemas.openxmlformats.org/officeDocument/2006/relationships/handoutMaster" Target="handoutMasters/handoutMaster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3.png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image" Target="../media/image3.png"/><Relationship Id="rId1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hyperlink" Target="http://stu.ityxb.com/ebookview/b03637f3efd2a27ecd8b99304670230b" TargetMode="External"/><Relationship Id="rId7" Type="http://schemas.openxmlformats.org/officeDocument/2006/relationships/tags" Target="../tags/tag45.xml"/><Relationship Id="rId6" Type="http://schemas.openxmlformats.org/officeDocument/2006/relationships/image" Target="../media/image5.png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4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hyperlink" Target="http://stu.ityxb.com/ebookview/dc184947817571b1cb9a2395954e61b4" TargetMode="External"/><Relationship Id="rId7" Type="http://schemas.openxmlformats.org/officeDocument/2006/relationships/tags" Target="../tags/tag54.xml"/><Relationship Id="rId6" Type="http://schemas.openxmlformats.org/officeDocument/2006/relationships/image" Target="../media/image5.png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hyperlink" Target="http://stu.ityxb.com/ebookview/3e4f9efb56adb1e2105ffa2b91b77162" TargetMode="External"/><Relationship Id="rId7" Type="http://schemas.openxmlformats.org/officeDocument/2006/relationships/tags" Target="../tags/tag68.xml"/><Relationship Id="rId6" Type="http://schemas.openxmlformats.org/officeDocument/2006/relationships/image" Target="../media/image5.pn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6" Type="http://schemas.openxmlformats.org/officeDocument/2006/relationships/notesSlide" Target="../notesSlides/notesSlide18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2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hyperlink" Target="http://stu.ityxb.com/ebookview/dcb7b8a9fde8c1bd1ea352d032aa68a1" TargetMode="External"/><Relationship Id="rId7" Type="http://schemas.openxmlformats.org/officeDocument/2006/relationships/tags" Target="../tags/tag78.xml"/><Relationship Id="rId6" Type="http://schemas.openxmlformats.org/officeDocument/2006/relationships/image" Target="../media/image5.png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hyperlink" Target="http://stu.ityxb.com/ebookview/ca37a8df1bf15a1cb59d7a3ac9a093de" TargetMode="External"/><Relationship Id="rId8" Type="http://schemas.openxmlformats.org/officeDocument/2006/relationships/hyperlink" Target="http://stu.ityxb.com/ebookview/a1494f2ac1e2132b6f9ec3d10356b6e3" TargetMode="External"/><Relationship Id="rId7" Type="http://schemas.openxmlformats.org/officeDocument/2006/relationships/tags" Target="../tags/tag87.xml"/><Relationship Id="rId6" Type="http://schemas.openxmlformats.org/officeDocument/2006/relationships/image" Target="../media/image5.png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10.xml"/><Relationship Id="rId14" Type="http://schemas.openxmlformats.org/officeDocument/2006/relationships/image" Target="../media/image7.svg"/><Relationship Id="rId13" Type="http://schemas.openxmlformats.org/officeDocument/2006/relationships/image" Target="../media/image6.png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8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hyperlink" Target="http://stu.ityxb.com/ebookview/1a1d463c0557b1d384c403c75d86c05c" TargetMode="External"/><Relationship Id="rId7" Type="http://schemas.openxmlformats.org/officeDocument/2006/relationships/tags" Target="../tags/tag96.xml"/><Relationship Id="rId6" Type="http://schemas.openxmlformats.org/officeDocument/2006/relationships/image" Target="../media/image5.png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9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image" Target="../media/image3.png"/><Relationship Id="rId1" Type="http://schemas.openxmlformats.org/officeDocument/2006/relationships/tags" Target="../tags/tag10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image" Target="../media/image3.png"/><Relationship Id="rId1" Type="http://schemas.openxmlformats.org/officeDocument/2006/relationships/tags" Target="../tags/tag17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6" Type="http://schemas.openxmlformats.org/officeDocument/2006/relationships/notesSlide" Target="../notesSlides/notesSlide40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0" Type="http://schemas.openxmlformats.org/officeDocument/2006/relationships/notesSlide" Target="../notesSlides/notesSlide41.xml"/><Relationship Id="rId1" Type="http://schemas.openxmlformats.org/officeDocument/2006/relationships/tags" Target="../tags/tag192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2" Type="http://schemas.openxmlformats.org/officeDocument/2006/relationships/notesSlide" Target="../notesSlides/notesSlide42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209.xml"/><Relationship Id="rId1" Type="http://schemas.openxmlformats.org/officeDocument/2006/relationships/tags" Target="../tags/tag200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2" Type="http://schemas.openxmlformats.org/officeDocument/2006/relationships/notesSlide" Target="../notesSlides/notesSlide43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219.xml"/><Relationship Id="rId1" Type="http://schemas.openxmlformats.org/officeDocument/2006/relationships/tags" Target="../tags/tag210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4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tags" Target="../tags/tag23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image" Target="../media/image3.png"/><Relationship Id="rId1" Type="http://schemas.openxmlformats.org/officeDocument/2006/relationships/tags" Target="../tags/tag243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hyperlink" Target="http://stu.ityxb.com/ebookview/d7da20fbdece2c6a12786d638d5171bb" TargetMode="External"/><Relationship Id="rId7" Type="http://schemas.openxmlformats.org/officeDocument/2006/relationships/tags" Target="../tags/tag253.xml"/><Relationship Id="rId6" Type="http://schemas.openxmlformats.org/officeDocument/2006/relationships/image" Target="../media/image5.png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6" Type="http://schemas.openxmlformats.org/officeDocument/2006/relationships/notesSlide" Target="../notesSlides/notesSlide51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257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tags" Target="../tags/tag248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hyperlink" Target="http://stu.ityxb.com/ebookview/fd6902a5c808aaaf666c4ec24fa1d3b3" TargetMode="External"/><Relationship Id="rId7" Type="http://schemas.openxmlformats.org/officeDocument/2006/relationships/tags" Target="../tags/tag263.xml"/><Relationship Id="rId6" Type="http://schemas.openxmlformats.org/officeDocument/2006/relationships/image" Target="../media/image5.png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5" Type="http://schemas.openxmlformats.org/officeDocument/2006/relationships/notesSlide" Target="../notesSlides/notesSlide5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266.xml"/><Relationship Id="rId10" Type="http://schemas.openxmlformats.org/officeDocument/2006/relationships/tags" Target="../tags/tag265.xml"/><Relationship Id="rId1" Type="http://schemas.openxmlformats.org/officeDocument/2006/relationships/tags" Target="../tags/tag258.xml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tags" Target="../tags/tag26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hyperlink" Target="http://stu.ityxb.com/ebookview/3d3557256c5358e8fc1c6f209b9772d7" TargetMode="External"/><Relationship Id="rId7" Type="http://schemas.openxmlformats.org/officeDocument/2006/relationships/tags" Target="../tags/tag281.xml"/><Relationship Id="rId6" Type="http://schemas.openxmlformats.org/officeDocument/2006/relationships/image" Target="../media/image5.png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5" Type="http://schemas.openxmlformats.org/officeDocument/2006/relationships/notesSlide" Target="../notesSlides/notesSlide55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tags" Target="../tags/tag276.xml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6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hyperlink" Target="http://stu.ityxb.com/ebookview/05aa2f8358df5e3522f5de657c24c789" TargetMode="External"/><Relationship Id="rId7" Type="http://schemas.openxmlformats.org/officeDocument/2006/relationships/tags" Target="../tags/tag294.xml"/><Relationship Id="rId6" Type="http://schemas.openxmlformats.org/officeDocument/2006/relationships/image" Target="../media/image5.png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5" Type="http://schemas.openxmlformats.org/officeDocument/2006/relationships/notesSlide" Target="../notesSlides/notesSlide57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89.xml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8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hyperlink" Target="http://stu.ityxb.com/ebookview/6f88f913e81a5ed94215e87c94fb850d" TargetMode="External"/><Relationship Id="rId7" Type="http://schemas.openxmlformats.org/officeDocument/2006/relationships/tags" Target="../tags/tag307.xml"/><Relationship Id="rId6" Type="http://schemas.openxmlformats.org/officeDocument/2006/relationships/image" Target="../media/image5.png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5" Type="http://schemas.openxmlformats.org/officeDocument/2006/relationships/notesSlide" Target="../notesSlides/notesSlide59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tags" Target="../tags/tag302.xml"/></Relationships>
</file>

<file path=ppt/slides/_rels/slide6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0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tags" Target="../tags/tag314.xml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tags" Target="../tags/tag311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hyperlink" Target="http://stu.ityxb.com/ebookview/df646ffb068e2925e6bdc4fce8c471d2" TargetMode="External"/><Relationship Id="rId7" Type="http://schemas.openxmlformats.org/officeDocument/2006/relationships/tags" Target="../tags/tag320.xml"/><Relationship Id="rId6" Type="http://schemas.openxmlformats.org/officeDocument/2006/relationships/image" Target="../media/image5.png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5" Type="http://schemas.openxmlformats.org/officeDocument/2006/relationships/notesSlide" Target="../notesSlides/notesSlide61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tags" Target="../tags/tag315.xml"/></Relationships>
</file>

<file path=ppt/slides/_rels/slide6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2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tags" Target="../tags/tag3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51710" y="2606040"/>
            <a:ext cx="80289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第12章 MyBatis-Plus快速入门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644513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3641725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掌握MyBatis-Plus的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通用接口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，能够简述MyBatis-Plus的通用接口提供的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常用方法</a:t>
              </a:r>
              <a:endPara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67779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MyBatis-Plus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代码生成器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，能够参照MyBatis-Plus官网的示例使用MyBatis-Plus的代码生成器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生成代码</a:t>
              </a:r>
              <a:endPara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1715135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MyBatis-Plus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是什么，能够简述MyBatis-Plus的特性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57655" y="4598670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MyBatis-Plus的条件构造器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，能够简述MyBatis-Plus条件构造器的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作用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常见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条件构造器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、条件构造器常用的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方法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57655" y="5586730"/>
            <a:ext cx="9006205" cy="689610"/>
            <a:chOff x="978872" y="2570437"/>
            <a:chExt cx="5437064" cy="517208"/>
          </a:xfrm>
        </p:grpSpPr>
        <p:sp>
          <p:nvSpPr>
            <p:cNvPr id="6" name="Pentagon 5"/>
            <p:cNvSpPr/>
            <p:nvPr>
              <p:custDataLst>
                <p:tags r:id="rId3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MyBatis-Plus基本使用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，能够在程序中使用MyBatis-Plus通用接口的方法和条件构造器实现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增删改查操作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7" name="MH_Others_1"/>
            <p:cNvSpPr/>
            <p:nvPr>
              <p:custDataLst>
                <p:tags r:id="rId4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2630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是一款备受Java开发者青睐的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持久层框架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，然而，随着项目规模和复杂度的增长，开发者在应用MyBatis时可能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面临诸多问题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，如大量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的增删改查操作编写、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复杂查询条件构造的难度大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等问题。这些问题往往会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降低开发效率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，增加代码冗余。为了进一步提升MyBatis的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易用性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减少样板代码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，一个强大的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MyBatis增强工具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MyBatis-Plus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应运而生。本章将对MyBatis-Plus的入门知识进行讲解。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26765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444373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299230"/>
            <a:ext cx="1120435" cy="612775"/>
            <a:chOff x="2215144" y="982844"/>
            <a:chExt cx="1169813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18158" y="1005670"/>
              <a:ext cx="1066799" cy="717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12.1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496564"/>
            <a:ext cx="1120435" cy="612775"/>
            <a:chOff x="2215144" y="2026500"/>
            <a:chExt cx="1169813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12.2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290351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MyBatis-Plus概述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47973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MyBatis-Plus核心功能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699889"/>
            <a:ext cx="1120435" cy="612775"/>
            <a:chOff x="2215144" y="2026500"/>
            <a:chExt cx="1169813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12.3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683063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MyBatis-Plus基本使用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MyBatis-Plus概述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12.1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了解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MyBatis-Plus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是什么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，能够简述MyBatis-Plus的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特性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诸多优点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，但也存在一些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不足之处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，例如MyBatis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烦琐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、在编写业务逻辑时需要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手动创建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Mapper的方法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，以及对应的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映射文件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SQL语句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针对MyBatis的这些不足，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MyBatis-Plus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应运而生。MyBatis-Plus在MyBatis的基础上进行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，旨在简化开发、提高效率而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不改变MyBatis原生特性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，它支持MyBatis的所有原生特性，同时提供了诸如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简化增删改查操作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、强大的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查询构造器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自动填充功能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以及便捷的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分页查询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等功能，极大地提升了开发效率和代码质量。因此，MyBatis-Plus逐渐成为Java开发人员项目开发备受推崇的框架，帮助开发者更轻松地应对复杂的数据访问需求。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783780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MyBatis-Plus除了解决了MyBatis的些许不足外，还具有如下特性。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无侵入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损耗小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　强大的增删改查操作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　支持Lambda形式调用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　支持主键自动生成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　支持ActiveRecord模式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48095" y="1229995"/>
            <a:ext cx="484822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⑦　支持自定义全局通用操作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⑧　内置代码生成器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⑨　内置分页插件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⑩　分页插件支持多种数据库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⑪　内置性能分析插件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⑫　内置全局拦截插件</a:t>
            </a:r>
            <a:endParaRPr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MyBatis-Plus概述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7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99920" y="1197610"/>
            <a:ext cx="8391142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3555047" y="625919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66700" indent="-266700" algn="ctr"/>
            <a:r>
              <a:rPr 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MyBatis-Plus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的框架结构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MyBatis-Plus核心功能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12.2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MyBatis-Plus核心功能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035810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MyBatis-Plus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作为MyBatis框架的优秀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增强工具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应运而生，以其一系字段精心设计的核心功能，极大地简化了Java应用程序与数据库的交互过程，提升了开发团队的生产力。下面分别对其常见的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228155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358267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MyBatis-Plus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代码生成器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，能够参照MyBatis-Plus官网的示例使用MyBatis-Plus的代码生成器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生成代码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427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MyBatis-Plus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代码生成器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堪称提升开发效率的利器。只需简单配置，即可基于数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据表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全套基础代码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实体类、Mapper接口、Mapper的映射文件、Service接口和对应实现类、Controller类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，完美契合常见的分层架构设计。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与MyBatis Generator相比，MyBatis-Plus的代码生成器除了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具备MyBatis Generator的基本功能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外，还针对MyBatis-Plus的特性进行了专门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优化和扩展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集成了MyBatis-Plus的实体映射注解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，自动为生成的实体类添加这些注解，实现元数据驱动；支持MyBatis-Plus的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特殊字段处理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逻辑删除字段、版本控制字段等，确保生成的实体类与MyBatis-Plus的内置功能无缝对接。这不仅极大地减少了重复劳动，确保代码规范统一，更能让开发者迅速专注于业务逻辑的实现，而非底层基础设施的搭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MyBatis-Plus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官方文档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社区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中提供了大量的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示例和教程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，帮助开发者理解和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使用代码生成器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，并提供了各种配置选项的说明。开发者只需在项目中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参照对应的示例编写代码运行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即可，同时通过调整配置参数和修改模板，开发者可以实现对代码生成细节的自定义，以满足项目的特定需求。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MyBatis-Plus提供了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新旧两套代码生成器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，分别适用于MyBatis-Plus 3.5.1及以上版本和MyBatis-Plus 3.5.1以下的版本，其中新版本的代码生成器对历史版本不兼容。下面基于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新版本的代码生成器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演示使用代码生成器生成图书表对应的基础代码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1.创建项目和引入依赖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一个名称为chapter12的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Maven项目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pom.xml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MyBatis-Plus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自动生成代码所需的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相关依赖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，具体如文件12-1所示。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pom.xml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2.设置代码生成器的配置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在项目的src/test/java目录下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创建自动生成代码的类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创建代码生成器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对，并指定其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生成代码时的配置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，具体如文件12-2所示。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MyBatisPlusGenerator.java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3.测试代码生成效果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5569585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文件12-2中的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创建代码生成器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，并根据设置的配置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生成代码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项目的目录结构如图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536815" y="909003"/>
            <a:ext cx="2813648" cy="57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89547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（1）实体类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45745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本次生成实体类时指定启用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Lombok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MyBatis-Plus的表字段注解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，生成的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实体类Book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的代码如文件12-3所示。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1049020" y="93408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下面依次对MyBatis-Plus代码生成器</a:t>
            </a:r>
            <a:r>
              <a:rPr lang="en-US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·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基础代码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进行简单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说明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53670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（2）Mapper接口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操作Book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的Mapper接口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的代码如文件12-4所示。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12084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22972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536700"/>
            <a:ext cx="362331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（3）Service接口和对应实现类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生成操作Book的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Service接口BookService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和对应实现类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BookServiceImpl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的代码如文件12-5和文件12-6所示。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12084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22972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504623" y="4173967"/>
                <a:ext cx="392239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文件12-5</a:t>
                </a:r>
                <a:r>
                  <a:rPr lang="en-US" sz="1800">
                    <a:sym typeface="+mn-ea"/>
                  </a:rPr>
                  <a:t>   </a:t>
                </a:r>
                <a:r>
                  <a:rPr lang="en-US" sz="1800">
                    <a:sym typeface="+mn-ea"/>
                    <a:hlinkClick r:id="rId8"/>
                  </a:rPr>
                  <a:t> </a:t>
                </a:r>
                <a:r>
                  <a:rPr sz="1800">
                    <a:sym typeface="+mn-ea"/>
                    <a:hlinkClick r:id="rId8"/>
                  </a:rPr>
                  <a:t>BookService.java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</a:rPr>
                  <a:t>文件12-6</a:t>
                </a:r>
                <a:r>
                  <a:rPr lang="en-US" sz="1800">
                    <a:sym typeface="+mn-ea"/>
                  </a:rPr>
                  <a:t>    </a:t>
                </a:r>
                <a:r>
                  <a:rPr sz="1800">
                    <a:sym typeface="+mn-ea"/>
                    <a:hlinkClick r:id="rId9"/>
                  </a:rPr>
                  <a:t>BookServiceImpl.java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代码生成器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536700"/>
            <a:ext cx="362331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（4）Controller类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09867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生成的操作Book的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Controller类BookController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的代码如文件12-7所示。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12084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22972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504623" y="4389232"/>
                <a:ext cx="392239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文件12-7</a:t>
                </a:r>
                <a:r>
                  <a:rPr lang="en-US" sz="1800">
                    <a:sym typeface="+mn-ea"/>
                  </a:rPr>
                  <a:t>    </a:t>
                </a:r>
                <a:endParaRPr lang="en-US"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MyBatis-Plus的通用接口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，能够简述MyBatis-Plus的通用接口提供的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常用方法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524635"/>
            <a:ext cx="1029589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MyBatis-Plus为了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减少重复性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代码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编写，提高开发效率，提供了更为便捷的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通用接口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BaseMapper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和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IService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，这两个接口提供了一套统一的、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通用的数据库操作方法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，适用于各种实体类的操作，基于这两个接口可以简化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Mapper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Service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的开发。下面分别对这两个通用接口的基本功能进行讲解。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itle 1"/>
          <p:cNvSpPr txBox="1"/>
          <p:nvPr>
            <p:custDataLst>
              <p:tags r:id="rId2"/>
            </p:custDataLst>
          </p:nvPr>
        </p:nvSpPr>
        <p:spPr>
          <a:xfrm>
            <a:off x="1127125" y="1183005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1.BaseMapper接口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049020" y="1723390"/>
            <a:ext cx="1029589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BaseMapper接口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是MyBatis-Plus中定义的一个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基础映射器接口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，它提供了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与数据表进行交互的基本方法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，例如插入、删除、更新、查询等常用的数据库操作方法，并提供了对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实体类与数据表之间的映射关系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的支持。通过继承BaseMapper接口，开发者可以轻松地实现与数据表的交互，无需手动编写SQL语句或进行繁琐的映射配置。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下面对BaseMapper接口中封装的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基本增删改查方法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进行说明。</a:t>
            </a:r>
            <a:endParaRPr lang="en-US" altLang="zh-CN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42633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4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（1）插入方法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967740" y="5143500"/>
            <a:ext cx="10337800" cy="685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489710" y="5078095"/>
            <a:ext cx="9533890" cy="82994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int insert(T entity);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（2）删除方法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198880" y="1965960"/>
          <a:ext cx="10126980" cy="3898900"/>
        </p:xfrm>
        <a:graphic>
          <a:graphicData uri="http://schemas.openxmlformats.org/drawingml/2006/table">
            <a:tbl>
              <a:tblPr/>
              <a:tblGrid>
                <a:gridCol w="4207510"/>
                <a:gridCol w="5919470"/>
              </a:tblGrid>
              <a:tr h="5149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734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deleteById(Serializable id)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用于根据参数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删除数据库中对应主键的记录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926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deleteById(T entity)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用于根据entity实体对象的主键Id删除数据库中的记录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412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delete(@Param(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Constants.WRAPPER)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Wrapper&lt;T&gt; 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用于根据wrapper条件构造器中的条件删除数据库中的记录。条件构造器允许开发者以链式调用的方式构建复杂的SQL条件。传入这个构造器后，MyBatis-Plus会根据构造器中的条件生成相应的DELETE语句并执行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（2）删除方法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198880" y="2223770"/>
          <a:ext cx="10126980" cy="3932555"/>
        </p:xfrm>
        <a:graphic>
          <a:graphicData uri="http://schemas.openxmlformats.org/drawingml/2006/table">
            <a:tbl>
              <a:tblPr/>
              <a:tblGrid>
                <a:gridCol w="4885055"/>
                <a:gridCol w="5241925"/>
              </a:tblGrid>
              <a:tr h="5314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5732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deleteBatchIds(@Param(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Constants.COLLECTION)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Collection&lt;? extends Serializable&gt; idList)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用于根据主键Id的集合批量删除数据库中的记录。传入参数是一个Id集合，集合中的每个元素都是待删除记录的主键Id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4373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deleteByMap(@Param(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Constants.COLUMN_MAP)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Map&lt;String, Object&gt; columnMap)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用于根据字段名和对应值的映射条件删除数据库中的记录。传入参数是一个Map集合，其中键是数据表的字段名，值是待匹配的值。MyBatis-Plus会根据这个映射生成相应的DELETE语句并执行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（3）更新方法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967740" y="2201545"/>
            <a:ext cx="10337800" cy="2366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489710" y="2136140"/>
            <a:ext cx="9533890" cy="23685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// 根据Id更新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int updateById(@Param("et") T entity);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// 根据实体对象和条件构造器更新记录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int update(@Param("et") T entity, @Param("ew") Wrapper&lt;T&gt; updateWrapper);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1053465" y="2018665"/>
          <a:ext cx="10337800" cy="4298315"/>
        </p:xfrm>
        <a:graphic>
          <a:graphicData uri="http://schemas.openxmlformats.org/drawingml/2006/table">
            <a:tbl>
              <a:tblPr/>
              <a:tblGrid>
                <a:gridCol w="4559300"/>
                <a:gridCol w="5778500"/>
              </a:tblGrid>
              <a:tr h="366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3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 selectById(Serializable id)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用于根据主键Id查询一条记录。传入参数是主键Id，返回与主键Id对应的实体对象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1064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List&lt;T&gt; selectBatchIds(@Param("coll") </a:t>
                      </a:r>
                      <a:endParaRPr lang="en-US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Collection&lt;? extends Serializable&gt;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用于根据多个主键Id查询多条记录。传入参数是一个包含主键Id的集合，返回一个包含查询结果的实体对象字段表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3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Long selectCount(@Param("ew")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用于根据查询条件构造器queryWrapper中的条件查询记录的总数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3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List&lt;T&gt; selectList(@Param("ew") </a:t>
                      </a:r>
                      <a:endParaRPr lang="en-US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用于根据查询条件构造器queryWrapper中的条件查询记录字段表。返回一个包含查询结果的实体对象字段表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1053465" y="1875155"/>
          <a:ext cx="10337800" cy="4968875"/>
        </p:xfrm>
        <a:graphic>
          <a:graphicData uri="http://schemas.openxmlformats.org/drawingml/2006/table">
            <a:tbl>
              <a:tblPr/>
              <a:tblGrid>
                <a:gridCol w="5264785"/>
                <a:gridCol w="5073015"/>
              </a:tblGrid>
              <a:tr h="366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3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List&lt;T&gt; selectList(IPage&lt;T&gt; page, @Param("ew") 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用于分页查询记录字段表，传入参数包括一个分页对象page和一个查询条件构造器queryWrapper。分页对象用于指定页码和每页的记录数，查询结果会按照分页要求返回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1064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List&lt;Map&lt;String, Object&gt;&gt; selectMaps(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@Param("ew") 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用于根据查询条件构造器queryWrapper中的条件查询记录字段表，但返回的是包含字段名和对应值的Map对象的集合，而不是实体对象的集合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3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List&lt;Map&lt;String, Object&gt;&gt; selectMaps(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IPage&lt;? extends Map&lt;String, Object&gt;&gt; page, @Param("ew") 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用于根据查询条件构造器queryWrapper中的条件分页查询记录，并将结果封装在Map集合中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1053465" y="1946910"/>
          <a:ext cx="10337800" cy="4557395"/>
        </p:xfrm>
        <a:graphic>
          <a:graphicData uri="http://schemas.openxmlformats.org/drawingml/2006/table">
            <a:tbl>
              <a:tblPr/>
              <a:tblGrid>
                <a:gridCol w="4262755"/>
                <a:gridCol w="6075045"/>
              </a:tblGrid>
              <a:tr h="366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3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&lt;E&gt; List&lt;E&gt; selectObjs(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@Param("ew") Wrapper&lt;T&gt;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queryWrapper);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用于根据查询条件构造器queryWrapper中的条件查询记录字段表，并返回任意类型的对象字段表，该方法通常用于查询不需要映射到实体类的数据，例如聚合查询的结果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1064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List&lt;T&gt; selectByMap(Map&lt;String, Object&gt; columnMap)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用于根据columnMap 集合中的键值对查询数据库中的记录，其中键匹配数据表中的字段名，值匹配字段的值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37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 selectOne(@Param("ew") Wrapper&lt;T&gt; queryWrapper)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用于根据条件构造器 queryWrapper 中的条件查询单条记录。与 selectList 方法不同，selectOne 方法预期查询结果只有一条记录。如果查询结果有多条记录，它通常会抛出一个异常。如果查询结果为空，则返回 null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itle 1"/>
          <p:cNvSpPr txBox="1"/>
          <p:nvPr>
            <p:custDataLst>
              <p:tags r:id="rId2"/>
            </p:custDataLst>
          </p:nvPr>
        </p:nvSpPr>
        <p:spPr>
          <a:xfrm>
            <a:off x="1127125" y="1039495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2.IService接口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049020" y="1508125"/>
            <a:ext cx="1029589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IService接口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在MyBatis-Plus中是一个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服务层的通用接口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，它封装了一些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常见的增删改查方法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，这使得开发者在编写服务层代码时，无需针对每一个实体类都编写一套完整的数据库操作方法，而是通过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继承IService接口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，直接调用其提供的方法，从而大大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减少了重复代码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的编写。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下面对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IService接口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常用方法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进行讲解。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397637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4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（1）保存方法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967740" y="4641215"/>
            <a:ext cx="10337800" cy="2003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489710" y="4575810"/>
            <a:ext cx="9533890" cy="16770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// 保存一条记录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boolean save(T entity);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// 批量保存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boolean saveBatch(Collection&lt;T&gt; entityList);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// 批量保存，并指定每批处理的个数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boolean saveBatch(Collection&lt;T&gt; entityList, int batchSize);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（2）删除方法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198880" y="2061210"/>
          <a:ext cx="10126980" cy="4058920"/>
        </p:xfrm>
        <a:graphic>
          <a:graphicData uri="http://schemas.openxmlformats.org/drawingml/2006/table">
            <a:tbl>
              <a:tblPr/>
              <a:tblGrid>
                <a:gridCol w="4032885"/>
                <a:gridCol w="6094095"/>
              </a:tblGrid>
              <a:tr h="353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5918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removeById(Serializable id)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用于根据主键Id删除数据库中的记录，传入参数是一个Serializable类型的Id，通常这个Id是实体类主键字段的值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removeById(T entity)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用于根据entity实体对象的主键Id删除数据库中的记录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5791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removeByMap(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Map&lt;String, Object&gt; columnMap)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用于根据columnMap集合中的键值对匹配数据表中对应字段和值，匹配到就删除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5918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remove(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Wrapper&lt;T&gt; queryWrapper)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用于根据wrapper条件构造器中的条件删除数据库中的记录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（3）更新方法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198880" y="2061210"/>
          <a:ext cx="10126980" cy="4389120"/>
        </p:xfrm>
        <a:graphic>
          <a:graphicData uri="http://schemas.openxmlformats.org/drawingml/2006/table">
            <a:tbl>
              <a:tblPr/>
              <a:tblGrid>
                <a:gridCol w="3919855"/>
                <a:gridCol w="6207125"/>
              </a:tblGrid>
              <a:tr h="3816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909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update(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Wrapper&lt;T&gt; updateWrapper)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用于根据条件构造器updateWrapper的条件更新数据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9027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update(T updateEntity, Wrapper&lt;T&gt; whereWrapper)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用于根据条件构造器whereWrapper的条件和实体类对象updateEntity更新数据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9027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updateById(T entity)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根据实体对象entity的Id更新数据，entity对象需要包含用于定位需要更新记录的Id、更新的字段和对应值的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3604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boolean updateBatchById(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Collection&lt;T&gt; entityList)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用于根据Id批量更新数据，其中entityList为包含多个实体对象的集合，每个实体对象包含需要更新的字段和对应值，以及用于定位需要更新记录的Id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（4）保存或更新方法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967740" y="2201545"/>
            <a:ext cx="10337800" cy="2759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489710" y="2136140"/>
            <a:ext cx="9533890" cy="23685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//根据实体对象保存或更新记录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boolean saveOrUpdate(T entity)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//根据实体对象和条件构造器保存或更新记录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boolean saveOrUpdate(T entity, Wrapper&lt;T&gt; updateWrapper)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//根据实体对象列表批量保存或更新记录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boolean saveOrUpdateBatch(Collection&lt;T&gt; entityList)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（5）查询方法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198880" y="2061210"/>
          <a:ext cx="10126980" cy="4034790"/>
        </p:xfrm>
        <a:graphic>
          <a:graphicData uri="http://schemas.openxmlformats.org/drawingml/2006/table">
            <a:tbl>
              <a:tblPr/>
              <a:tblGrid>
                <a:gridCol w="4229735"/>
                <a:gridCol w="5897245"/>
              </a:tblGrid>
              <a:tr h="4718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 getById(Serializable id)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根据给定的id，从数据库中查询对应主键的记录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179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 getOne(Wrapper&lt;T&gt;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根据条件构造器查询单个实体对象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1854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Map&lt;String, Object&gt; getMap(Wrapper&lt;T&gt;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根据Wrapper条件构造器查询并返回第一条记录，结果以Map形式表示，其中键为字段名，值为字段值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863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List&lt;T&gt; list()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查询所有记录并以List集合的形式返回所有实体对象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863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List&lt;T&gt; list(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根据Wrapper条件构造器查询并返回满足条件的所有实体对象列表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（5）查询方法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198880" y="2061210"/>
          <a:ext cx="10126980" cy="4154170"/>
        </p:xfrm>
        <a:graphic>
          <a:graphicData uri="http://schemas.openxmlformats.org/drawingml/2006/table">
            <a:tbl>
              <a:tblPr/>
              <a:tblGrid>
                <a:gridCol w="4427220"/>
                <a:gridCol w="5699760"/>
              </a:tblGrid>
              <a:tr h="4718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&lt;T&gt; listByIds(Collection&lt;? extends Serializable&gt; idList)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idList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集合中的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执行批量查询，将匹配的结果封装在实体对象的集合中返回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179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List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&lt;T&gt; listByMap(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Map&lt;String, Object&gt; columnMap)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columnMap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中的键值对执行查询，将匹配的结果封装在实体对象的集合中返回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1854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List&lt;Map&lt;String, Object&gt;&gt; listMaps()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不带条件查询所有记录，但结果以List&lt;Map&lt;String, Object&gt;&gt;形式返回，每条记录被转换为一个Map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0863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List&lt;Map&lt;String, Object&gt;&gt; listMaps(Wrapper&lt;T&gt;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根据Wrapper条件构造器查询所有记录，结果以List&lt;Map&lt;String, Object&gt;&gt;形式返回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通用接口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（5）查询方法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1198880" y="2061210"/>
          <a:ext cx="10126980" cy="4192905"/>
        </p:xfrm>
        <a:graphic>
          <a:graphicData uri="http://schemas.openxmlformats.org/drawingml/2006/table">
            <a:tbl>
              <a:tblPr/>
              <a:tblGrid>
                <a:gridCol w="4427220"/>
                <a:gridCol w="5699760"/>
              </a:tblGrid>
              <a:tr h="4997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4307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 extends IPage&lt;T&gt;&gt; E page(E page)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根据参数page对象执行分页查询，page对象需要设置好分页参数，如当前页码current和每页大小size。返回一个IPage&lt;T&gt;对象，包含了当前页的数据列表及分页信息，如总记录数、当前页码、每页大小等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7886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 extends IPage&lt;T&gt;&gt; E page(E page, Wrapper&lt;T&gt; queryWrapper)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在进行分页查询的同时通过queryWrapper条件构造器指定查询条件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122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&lt;E extends IPage&lt;Map&lt;String, Object&gt;&gt;&gt;E pageMaps(E page) 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根据参数page对象执行分页查询，但返回结果封装在Map集合中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233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MyBatis-Plus的条件构造器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，能够简述MyBatis-Plus条件构造器的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常见的条件构造器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、条件构造器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常用的方法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524635"/>
            <a:ext cx="102958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MyBatis-Plus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条件构造器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（Wrapper）是一个强大的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查询条件构建工具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，它允许开发者以链式调用的方式构建SQL查询条件，可以动态地添加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查询条件、排序规则、分组条件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等，从而简化了复杂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查询的构建过程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3795679" y="1673067"/>
            <a:ext cx="6803600" cy="1118845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>
            <p:custDataLst>
              <p:tags r:id="rId3"/>
            </p:custDataLst>
          </p:nvPr>
        </p:nvSpPr>
        <p:spPr>
          <a:xfrm>
            <a:off x="4871085" y="1379855"/>
            <a:ext cx="4686935" cy="5124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p>
            <a:pPr algn="ctr"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（1）AbstractWrapper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六边形 29"/>
          <p:cNvSpPr/>
          <p:nvPr>
            <p:custDataLst>
              <p:tags r:id="rId4"/>
            </p:custDataLst>
          </p:nvPr>
        </p:nvSpPr>
        <p:spPr>
          <a:xfrm>
            <a:off x="1204595" y="3259455"/>
            <a:ext cx="1721485" cy="1368425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p>
            <a:pPr algn="ctr"/>
            <a:r>
              <a:rPr lang="zh-CN" altLang="en-US" sz="266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常见的条件构造器</a:t>
            </a:r>
            <a:endParaRPr lang="zh-CN" altLang="en-US" sz="2665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" name="直接箭头连接符 1"/>
          <p:cNvCxnSpPr>
            <a:stCxn id="30" idx="5"/>
            <a:endCxn id="28" idx="1"/>
          </p:cNvCxnSpPr>
          <p:nvPr>
            <p:custDataLst>
              <p:tags r:id="rId5"/>
            </p:custDataLst>
          </p:nvPr>
        </p:nvCxnSpPr>
        <p:spPr>
          <a:xfrm flipV="1">
            <a:off x="2584048" y="2232446"/>
            <a:ext cx="1211580" cy="102679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30" idx="0"/>
            <a:endCxn id="35" idx="1"/>
          </p:cNvCxnSpPr>
          <p:nvPr>
            <p:custDataLst>
              <p:tags r:id="rId6"/>
            </p:custDataLst>
          </p:nvPr>
        </p:nvCxnSpPr>
        <p:spPr>
          <a:xfrm flipV="1">
            <a:off x="2926085" y="3940141"/>
            <a:ext cx="869315" cy="38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30" idx="1"/>
            <a:endCxn id="38" idx="1"/>
          </p:cNvCxnSpPr>
          <p:nvPr>
            <p:custDataLst>
              <p:tags r:id="rId7"/>
            </p:custDataLst>
          </p:nvPr>
        </p:nvCxnSpPr>
        <p:spPr>
          <a:xfrm>
            <a:off x="2584048" y="4628028"/>
            <a:ext cx="1211580" cy="104838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>
            <p:custDataLst>
              <p:tags r:id="rId8"/>
            </p:custDataLst>
          </p:nvPr>
        </p:nvSpPr>
        <p:spPr>
          <a:xfrm>
            <a:off x="4189733" y="1848892"/>
            <a:ext cx="6049460" cy="922020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所有条件构造器的基类，它定义了一系列条件构造器的通用方法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35" name="矩形 34"/>
          <p:cNvSpPr/>
          <p:nvPr>
            <p:custDataLst>
              <p:tags r:id="rId9"/>
            </p:custDataLst>
          </p:nvPr>
        </p:nvSpPr>
        <p:spPr>
          <a:xfrm>
            <a:off x="3795679" y="3381006"/>
            <a:ext cx="6803600" cy="1118845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10"/>
            </p:custDataLst>
          </p:nvPr>
        </p:nvSpPr>
        <p:spPr>
          <a:xfrm>
            <a:off x="4871085" y="3115310"/>
            <a:ext cx="4686935" cy="4953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5" tIns="45721" rIns="91445" bIns="45721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（2）QueryWrapper与UpdateWrapper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TextBox 36"/>
          <p:cNvSpPr txBox="1"/>
          <p:nvPr>
            <p:custDataLst>
              <p:tags r:id="rId11"/>
            </p:custDataLst>
          </p:nvPr>
        </p:nvSpPr>
        <p:spPr>
          <a:xfrm>
            <a:off x="4189733" y="3623831"/>
            <a:ext cx="6049460" cy="922020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AbstractWrapper的子类，分别用于构建查询条件和用于构建更新条件，扩展了特定于查询或更新的功能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38" name="矩形 37"/>
          <p:cNvSpPr/>
          <p:nvPr>
            <p:custDataLst>
              <p:tags r:id="rId12"/>
            </p:custDataLst>
          </p:nvPr>
        </p:nvSpPr>
        <p:spPr>
          <a:xfrm>
            <a:off x="3795679" y="5116865"/>
            <a:ext cx="6803600" cy="1118845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>
            <p:custDataLst>
              <p:tags r:id="rId13"/>
            </p:custDataLst>
          </p:nvPr>
        </p:nvSpPr>
        <p:spPr>
          <a:xfrm>
            <a:off x="4871085" y="4785360"/>
            <a:ext cx="4672330" cy="5613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5" tIns="45721" rIns="91445" bIns="45721" numCol="1" spcCol="0" rtlCol="0" fromWordArt="0" anchor="ctr" anchorCtr="0" forceAA="0" compatLnSpc="1">
            <a:noAutofit/>
          </a:bodyPr>
          <a:p>
            <a:pPr lvl="0" algn="ctr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（3）LambdaQueryWrapper与LambdaUpdateWrapper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TextBox 39"/>
          <p:cNvSpPr txBox="1"/>
          <p:nvPr>
            <p:custDataLst>
              <p:tags r:id="rId14"/>
            </p:custDataLst>
          </p:nvPr>
        </p:nvSpPr>
        <p:spPr>
          <a:xfrm>
            <a:off x="4189733" y="5258855"/>
            <a:ext cx="6049460" cy="922020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分别为QueryWrapper和UpdateWrapper 的子类，它们使用 Lambda 表达式代替字符串形式的字段名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94105"/>
            <a:ext cx="10295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条件构造器的常用方法。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049020" y="172339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（1）eq()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用于构建字段中值等于指定值的条件，方法签名如下。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967740" y="2764790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1489710" y="2797175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eq(R column, Object val)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032510" y="342900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（2）ne()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用于构建字段中值不等于指定值的条件，方法签名如下。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951230" y="4470400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473200" y="4502785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ne(R column, Object val)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49020" y="1077595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（3）gt()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用于构建字段中值大于指定值的条件，方法签名如下。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2118995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489710" y="2151380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gt(R column, Object val)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032510" y="271145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（4）ge()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用于构建字段中值大于或等于指定值的条件，方法签名如下。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951230" y="3752850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473200" y="3785235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ge(R column, Object val)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1032510" y="429006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（5）lt()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用于构建字段中值小于某个值的条件，方法签名如下。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9"/>
            </p:custDataLst>
          </p:nvPr>
        </p:nvSpPr>
        <p:spPr>
          <a:xfrm>
            <a:off x="951230" y="5403215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0"/>
            </p:custDataLst>
          </p:nvPr>
        </p:nvSpPr>
        <p:spPr>
          <a:xfrm>
            <a:off x="1473200" y="5435600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lt(R column, Object val)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49020" y="1077595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（6）le()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用于构建字段中值小于或等于某个值的条件，方法签名如下。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2118995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489710" y="2151380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le(R column, Object val)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032510" y="271145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（7）between()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用于构建字段中值在指定区间的条件，方法签名如下。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951230" y="3752850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473200" y="3785235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between(R column, Object val1, Object val2)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1032510" y="429006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（8）like()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用于构建字段中值包含指定字符串的模糊查询条件，方法签名如下。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9"/>
            </p:custDataLst>
          </p:nvPr>
        </p:nvSpPr>
        <p:spPr>
          <a:xfrm>
            <a:off x="951230" y="5403215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0"/>
            </p:custDataLst>
          </p:nvPr>
        </p:nvSpPr>
        <p:spPr>
          <a:xfrm>
            <a:off x="1473200" y="5435600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like(R column, Object val)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49020" y="1077595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（9）in()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用于构建字段的值在指定组合中的条件，方法签名如下。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2118995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489710" y="2151380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in(R column, Collection&lt;?&gt; value)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032510" y="2711450"/>
            <a:ext cx="10295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（10）groupBy()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用于构建根据指定字段进行分组的条件，方法签名如下。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951230" y="3752850"/>
            <a:ext cx="10191750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473200" y="3785235"/>
            <a:ext cx="9897745" cy="54673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groupBy(R... columns)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QueryWrapper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的使用示例如下。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951230" y="1887220"/>
            <a:ext cx="10191750" cy="2450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223010" y="1919605"/>
            <a:ext cx="10147935" cy="2321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QueryWrapper&lt;User&gt; queryWrapper = new QueryWrapper&lt;&gt;();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queryWrapper.eq("name", "张三")        // name字段的值等于张三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   .like("email", "qq")       // 模糊查询，email字段的值包含qq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   .gt("age", 18);            // age字段的值大于18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List&lt;User&gt; userList = userMapper.selectList(queryWrapper);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假设现在有一个User实体类，其中包含name、age和email属性，现在基于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LambdaQueryWrapper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查询数据表中User对象对应的记录，示例如下。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951230" y="2461260"/>
            <a:ext cx="10191750" cy="2450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223010" y="2493645"/>
            <a:ext cx="10147935" cy="2321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LambdaQueryWrapper&lt;User&gt; queryWrapper = new LambdaQueryWrapper&lt;&gt;();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queryWrapper.eq(User::getName,  "张三")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   .lt(User::getAge, 35)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   .like(User::getEmail, "qq")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List&lt;User&gt; userList = userMapper.selectList(queryWrapper);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UpdateWrapper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的使用示例如下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951230" y="1958975"/>
            <a:ext cx="10191750" cy="20751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223010" y="1991360"/>
            <a:ext cx="10147935" cy="2321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UpdateWrapper&lt;User&gt; updateWrapper = new UpdateWrapper&lt;&gt;();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updateWrapper.eq("id", 1)            // id字段字段的值等于1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     .set("name", "NewName") // 设置name字段的值为NewName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userMapper.update(updateWrapper); 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条件构造器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237615"/>
            <a:ext cx="1037653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假设现在有一个User实体类，其中包含id，name和 email 属性，现在基于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LambdaUpdateWrapper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更新数据表的数据，使用示例如下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951230" y="2461260"/>
            <a:ext cx="10191750" cy="2450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223010" y="2493645"/>
            <a:ext cx="10147935" cy="2321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LambdaUpdateWrapper&lt;User&gt; updateWrapper = new LambdaUpdateWrapper&lt;&gt;();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updateWrapper.eq(User::getId, 1)                           // 更新的Id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    .set(User::getName, "NewName")                // 设置新名字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     .set(User::getEmail, "newemail@example.com"); // 设置新邮箱  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userMapper.update(updateWrapper);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12.3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MyBatis-Plus基本使用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，能够在程序中使用MyBatis-Plus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通用接口的方法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条件构造器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增删改查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82372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1.引入依赖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3856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在项目chapter12的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pom.xml文件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中引入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Spring、Spring MVC、Lombok的依赖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8"/>
                  </a:rPr>
                  <a:t>引入的依赖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977265" y="10775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下面通过一个案例演示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MyBatis-Plus增删改查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基本使用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2.创建核心配置文件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在项目的src/main/resources目录下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mybatis-config.xml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的文件作为MyBatis-Plus的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核心配置文件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，在mybatis-config.xml配置文件中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配置数据库连接信息、映射器的相关信息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，如文件12-8所示。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</a:rPr>
                  <a:t>文件12-8</a:t>
                </a:r>
                <a:endParaRPr lang="zh-CN" sz="1800">
                  <a:sym typeface="+mn-ea"/>
                </a:endParaRPr>
              </a:p>
              <a:p>
                <a:pPr algn="ctr"/>
                <a:r>
                  <a:rPr lang="zh-CN" sz="1800">
                    <a:sym typeface="+mn-ea"/>
                    <a:hlinkClick r:id="rId8"/>
                  </a:rPr>
                  <a:t>mybatis-config.xml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3.Lombok环境设置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使用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Lombok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提供的功能，在运行项目代码时，除了在pom.xml文件中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引入Lombok对应的依赖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之外，还需要确保IDEA中有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安装Lombok的插件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。大部分版本的IDEA都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默认集成好了Lombok的插件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，读者无需重复安装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读者如果不确定自己的IDEA是否已经安装Lombok的插件，可以在IDEA的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Settings→Plugins→Installed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中查看。如果没有安装可以在Settings→Plugins→Marketplace中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搜索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Lombok插件进行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安装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即可，安装相对比较简单，在此就不再进行演示。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3.Lombok环境设置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50265" y="1668145"/>
            <a:ext cx="3977005" cy="3830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Lombok主要是通过注解在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编译时动态地生成代码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，对此为了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确保Lombok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解在编译阶段被正确处理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，可以在IDEA中开启注解处理器。在Settings→Build, Execution, Deployment→Compiler→Annotation Processors中勾选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Enable annotation processing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设置开启注解处理器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70132" y="1629093"/>
            <a:ext cx="7104279" cy="42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4.测试查询方法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在项目的src/test/java目录下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创建测试类MyBatisPlusTest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，在该类中定义查询图书信息的测试方法selectTest()，在测试方法中通过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MybatisSqlSessionFactoryBuilder对象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构建的SqlSessionFactory对象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获取SqlSession对象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，进而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获取BookMapper对象执行查询方法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，实现查询图书信息。具体如文件12-9所示。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文件12-9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MyBatisPlusTest.java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4.测试查询方法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运行selectTest()方法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，测试MyBatis-Plus中BaseMapper提供的查询方法，运行效果如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图所示。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840" y="2709545"/>
            <a:ext cx="7144385" cy="37712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5.测试插入方法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在文件12-9的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MyBatisPlusTest类中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定义插入图书信息的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测试方法insertTest()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，在测试方法中通过BookMapper对象执行插入方法实现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插入图书信息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。为了方便查看插入的效果，在插入图书信息后，查询所有图书信息，具体代码如下。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insertTest()</a:t>
                </a:r>
                <a:r>
                  <a:rPr lang="zh-CN" sz="1800">
                    <a:sym typeface="+mn-ea"/>
                    <a:hlinkClick r:id="rId8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5.测试插入方法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运行insertTest()方法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，测试MyBatis-Plus中BaseMapper提供的插入方法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运行效果如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图所示。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2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770" y="3070225"/>
            <a:ext cx="7937500" cy="30962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6.测试更新方法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在文件12-9的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MyBatisPlusTest类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中定义更新图书信息的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测试方法updateTest()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，在测试方法中通过BookMapper对象执行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更新方法实现图书信息的更新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。为了方便查看更新的效果，在更新图书信息后，查询所有图书信息，具体如下。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updateTest()</a:t>
                </a:r>
                <a:r>
                  <a:rPr lang="zh-CN" sz="1800">
                    <a:sym typeface="+mn-ea"/>
                    <a:hlinkClick r:id="rId8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6.测试更新方法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运行updateTest()方法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，测试MyBatis-Plus中BaseMapper提供的更新方法，运行效果如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图所示。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2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405" y="2997200"/>
            <a:ext cx="8608695" cy="33661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7.测试删除方法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在文件12-9的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MyBatisPlusTest类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中定义删除图书信息的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测试方法deleteTest()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，在测试方法中通过BookMapper对象执行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删除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方法实现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图书信息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的删除，为了方便查看删除的效果，在删除图书信息后，查询所有图书信息，具体如下。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en-US" altLang="zh-CN" sz="18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  <a:hlinkClick r:id="rId8"/>
                  </a:rPr>
                  <a:t>deleteTest(</a:t>
                </a:r>
                <a:r>
                  <a:rPr sz="1800">
                    <a:sym typeface="+mn-ea"/>
                    <a:hlinkClick r:id="rId8"/>
                  </a:rPr>
                  <a:t>)</a:t>
                </a:r>
                <a:r>
                  <a:rPr lang="zh-CN" sz="1800">
                    <a:sym typeface="+mn-ea"/>
                    <a:hlinkClick r:id="rId8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MyBatis-Plus基本使用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7.测试删除方法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运行deleteTest()方法</a:t>
            </a: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，测试MyBatis-Plus中BaseMapper提供的删除方法，运行效果如图所示。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2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870" y="2997200"/>
            <a:ext cx="8562975" cy="3074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本章主要讲解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MyBatis-Plus快速入门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的相关知识。首先讲解了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MyBatis-Plus概述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；然后讲解了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MyBatis-Plus核心功能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；最后讲解了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MyBatis-Plus基本使用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。通过本章的学习，读者可以了解MyBatis-Plus的核心功能，并能够掌握MyBatis-Plus的基本使用，为后续的企业级开发奠定基础。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  <p:tag name="KSO_WM_UNIT_PLACING_PICTURE_USER_VIEWPORT" val="{&quot;height&quot;:4732,&quot;width&quot;:8293}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UNIT_TABLE_BEAUTIFY" val="smartTable{0fd7f485-69b2-49e9-a49c-327155d02af6}"/>
  <p:tag name="TABLE_ENDDRAG_ORIGIN_RECT" val="797*341"/>
  <p:tag name="TABLE_ENDDRAG_RECT" val="94*154*797*341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UNIT_TABLE_BEAUTIFY" val="smartTable{0ec79d2d-e85f-42d8-9f55-1af52d03cb6c}"/>
  <p:tag name="TABLE_ENDDRAG_ORIGIN_RECT" val="797*278"/>
  <p:tag name="TABLE_ENDDRAG_RECT" val="94*173*797*278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UNIT_TABLE_BEAUTIFY" val="smartTable{fe690dcd-26c5-40d3-8908-a3c622d0668e}"/>
  <p:tag name="TABLE_ENDDRAG_ORIGIN_RECT" val="814*338"/>
  <p:tag name="TABLE_ENDDRAG_RECT" val="82*164*814*338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UNIT_TABLE_BEAUTIFY" val="smartTable{fe690dcd-26c5-40d3-8908-a3c622d0668e}"/>
  <p:tag name="TABLE_ENDDRAG_ORIGIN_RECT" val="814*338"/>
  <p:tag name="TABLE_ENDDRAG_RECT" val="82*164*814*338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UNIT_TABLE_BEAUTIFY" val="smartTable{fe690dcd-26c5-40d3-8908-a3c622d0668e}"/>
  <p:tag name="TABLE_ENDDRAG_ORIGIN_RECT" val="814*338"/>
  <p:tag name="TABLE_ENDDRAG_RECT" val="82*164*814*338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UNIT_TABLE_BEAUTIFY" val="smartTable{0ec79d2d-e85f-42d8-9f55-1af52d03cb6c}"/>
  <p:tag name="TABLE_ENDDRAG_ORIGIN_RECT" val="797*319"/>
  <p:tag name="TABLE_ENDDRAG_RECT" val="94*162*797*319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UNIT_TABLE_BEAUTIFY" val="smartTable{0ec79d2d-e85f-42d8-9f55-1af52d03cb6c}"/>
  <p:tag name="TABLE_ENDDRAG_ORIGIN_RECT" val="797*334"/>
  <p:tag name="TABLE_ENDDRAG_RECT" val="94*162*797*334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UNIT_TABLE_BEAUTIFY" val="smartTable{0ec79d2d-e85f-42d8-9f55-1af52d03cb6c}"/>
  <p:tag name="TABLE_ENDDRAG_ORIGIN_RECT" val="797*277"/>
  <p:tag name="TABLE_ENDDRAG_RECT" val="94*162*797*277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TABLE_BEAUTIFY" val="smartTable{614e8c28-d500-455c-9499-267969090092}"/>
  <p:tag name="TABLE_ENDDRAG_ORIGIN_RECT" val="797*277"/>
  <p:tag name="TABLE_ENDDRAG_RECT" val="94*162*797*277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UNIT_TABLE_BEAUTIFY" val="smartTable{0ec79d2d-e85f-42d8-9f55-1af52d03cb6c}"/>
  <p:tag name="TABLE_ENDDRAG_ORIGIN_RECT" val="797*330"/>
  <p:tag name="TABLE_ENDDRAG_RECT" val="94*162*797*330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12708</Words>
  <Application>WPS 演示</Application>
  <PresentationFormat>自定义</PresentationFormat>
  <Paragraphs>732</Paragraphs>
  <Slides>64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84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Arial Unicode MS</vt:lpstr>
      <vt:lpstr>思源黑体 CN Normal</vt:lpstr>
      <vt:lpstr>Courier New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</cp:lastModifiedBy>
  <cp:revision>1807</cp:revision>
  <dcterms:created xsi:type="dcterms:W3CDTF">2020-11-11T09:29:00Z</dcterms:created>
  <dcterms:modified xsi:type="dcterms:W3CDTF">2025-08-18T08:44:16Z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69DB4B6826B6494390E926BE37E6C64D</vt:lpwstr>
  </property>
</Properties>
</file>