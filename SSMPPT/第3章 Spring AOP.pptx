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56"/>
  </p:handoutMasterIdLst>
  <p:sldIdLst>
    <p:sldId id="583" r:id="rId4"/>
    <p:sldId id="1124" r:id="rId6"/>
    <p:sldId id="586" r:id="rId7"/>
    <p:sldId id="587" r:id="rId8"/>
    <p:sldId id="309" r:id="rId9"/>
    <p:sldId id="899" r:id="rId10"/>
    <p:sldId id="776" r:id="rId11"/>
    <p:sldId id="1274" r:id="rId12"/>
    <p:sldId id="1276" r:id="rId13"/>
    <p:sldId id="1277" r:id="rId14"/>
    <p:sldId id="1278" r:id="rId15"/>
    <p:sldId id="1280" r:id="rId16"/>
    <p:sldId id="1279" r:id="rId17"/>
    <p:sldId id="1281" r:id="rId18"/>
    <p:sldId id="1283" r:id="rId19"/>
    <p:sldId id="1284" r:id="rId20"/>
    <p:sldId id="1285" r:id="rId21"/>
    <p:sldId id="1286" r:id="rId22"/>
    <p:sldId id="1287" r:id="rId23"/>
    <p:sldId id="1288" r:id="rId24"/>
    <p:sldId id="1289" r:id="rId25"/>
    <p:sldId id="1292" r:id="rId26"/>
    <p:sldId id="1290" r:id="rId27"/>
    <p:sldId id="1291" r:id="rId28"/>
    <p:sldId id="1293" r:id="rId29"/>
    <p:sldId id="1294" r:id="rId30"/>
    <p:sldId id="1295" r:id="rId31"/>
    <p:sldId id="1296" r:id="rId32"/>
    <p:sldId id="1297" r:id="rId33"/>
    <p:sldId id="1298" r:id="rId34"/>
    <p:sldId id="1299" r:id="rId35"/>
    <p:sldId id="1300" r:id="rId36"/>
    <p:sldId id="1301" r:id="rId37"/>
    <p:sldId id="1302" r:id="rId38"/>
    <p:sldId id="1275" r:id="rId39"/>
    <p:sldId id="1303" r:id="rId40"/>
    <p:sldId id="1304" r:id="rId41"/>
    <p:sldId id="995" r:id="rId42"/>
    <p:sldId id="1305" r:id="rId43"/>
    <p:sldId id="1306" r:id="rId44"/>
    <p:sldId id="1308" r:id="rId45"/>
    <p:sldId id="1309" r:id="rId46"/>
    <p:sldId id="1310" r:id="rId47"/>
    <p:sldId id="1311" r:id="rId48"/>
    <p:sldId id="1312" r:id="rId49"/>
    <p:sldId id="1126" r:id="rId50"/>
    <p:sldId id="1313" r:id="rId51"/>
    <p:sldId id="1314" r:id="rId52"/>
    <p:sldId id="1315" r:id="rId53"/>
    <p:sldId id="1316" r:id="rId54"/>
    <p:sldId id="889" r:id="rId55"/>
  </p:sldIdLst>
  <p:sldSz cx="12190095" cy="6859270"/>
  <p:notesSz cx="6858000" cy="9144000"/>
  <p:custDataLst>
    <p:tags r:id="rId61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2" userDrawn="1">
          <p15:clr>
            <a:srgbClr val="A4A3A4"/>
          </p15:clr>
        </p15:guide>
        <p15:guide id="2" pos="668" userDrawn="1">
          <p15:clr>
            <a:srgbClr val="A4A3A4"/>
          </p15:clr>
        </p15:guide>
        <p15:guide id="3" pos="699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  <p:cmAuthor id="4" name="tk" initials="t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1042"/>
        <p:guide pos="668"/>
        <p:guide pos="69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741"/>
        <p:guide pos="21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1" Type="http://schemas.openxmlformats.org/officeDocument/2006/relationships/tags" Target="tags/tag269.xml"/><Relationship Id="rId60" Type="http://schemas.openxmlformats.org/officeDocument/2006/relationships/commentAuthors" Target="commentAuthors.xml"/><Relationship Id="rId6" Type="http://schemas.openxmlformats.org/officeDocument/2006/relationships/slide" Target="slides/slide2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9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1.png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1" Type="http://schemas.openxmlformats.org/officeDocument/2006/relationships/tags" Target="../tags/tag2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image" Target="../media/image1.png"/><Relationship Id="rId1" Type="http://schemas.openxmlformats.org/officeDocument/2006/relationships/tags" Target="../tags/tag3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hyperlink" Target="http://stu.ityxb.com/ebookview/8b8976de57947dcd557d3fb511e59522" TargetMode="External"/><Relationship Id="rId7" Type="http://schemas.openxmlformats.org/officeDocument/2006/relationships/hyperlink" Target="http://stu.ityxb.com/ebookview/8480ecf447497db677210cc291368609" TargetMode="External"/><Relationship Id="rId6" Type="http://schemas.openxmlformats.org/officeDocument/2006/relationships/tags" Target="../tags/tag50.xml"/><Relationship Id="rId5" Type="http://schemas.openxmlformats.org/officeDocument/2006/relationships/image" Target="../media/image3.png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6" Type="http://schemas.openxmlformats.org/officeDocument/2006/relationships/notesSlide" Target="../notesSlides/notesSlide15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54.xml"/><Relationship Id="rId13" Type="http://schemas.openxmlformats.org/officeDocument/2006/relationships/image" Target="../media/image5.svg"/><Relationship Id="rId12" Type="http://schemas.openxmlformats.org/officeDocument/2006/relationships/image" Target="../media/image4.png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hyperlink" Target="http://stu.ityxb.com/ebookview/07696736707c2d3ed49cca9193497035" TargetMode="External"/><Relationship Id="rId6" Type="http://schemas.openxmlformats.org/officeDocument/2006/relationships/tags" Target="../tags/tag59.xml"/><Relationship Id="rId5" Type="http://schemas.openxmlformats.org/officeDocument/2006/relationships/image" Target="../media/image3.png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63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62.xml"/><Relationship Id="rId1" Type="http://schemas.openxmlformats.org/officeDocument/2006/relationships/tags" Target="../tags/tag5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hyperlink" Target="http://stu.ityxb.com/ebookview/a994a5bf1174eade709573aa4f873470" TargetMode="External"/><Relationship Id="rId6" Type="http://schemas.openxmlformats.org/officeDocument/2006/relationships/tags" Target="../tags/tag68.xml"/><Relationship Id="rId5" Type="http://schemas.openxmlformats.org/officeDocument/2006/relationships/image" Target="../media/image3.png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72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71.xml"/><Relationship Id="rId1" Type="http://schemas.openxmlformats.org/officeDocument/2006/relationships/tags" Target="../tags/tag6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hyperlink" Target="http://stu.ityxb.com/ebookview/ba0e72a78fb40e9a0b452549a48e5d56" TargetMode="External"/><Relationship Id="rId6" Type="http://schemas.openxmlformats.org/officeDocument/2006/relationships/tags" Target="../tags/tag77.xml"/><Relationship Id="rId5" Type="http://schemas.openxmlformats.org/officeDocument/2006/relationships/image" Target="../media/image3.png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81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80.xml"/><Relationship Id="rId1" Type="http://schemas.openxmlformats.org/officeDocument/2006/relationships/tags" Target="../tags/tag7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image" Target="../media/image1.png"/><Relationship Id="rId1" Type="http://schemas.openxmlformats.org/officeDocument/2006/relationships/tags" Target="../tags/tag8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hyperlink" Target="http://stu.ityxb.com/ebookview/07a51d2bd489fe3bf75332563db066b9" TargetMode="External"/><Relationship Id="rId7" Type="http://schemas.openxmlformats.org/officeDocument/2006/relationships/tags" Target="../tags/tag101.xml"/><Relationship Id="rId6" Type="http://schemas.openxmlformats.org/officeDocument/2006/relationships/image" Target="../media/image3.png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6" Type="http://schemas.openxmlformats.org/officeDocument/2006/relationships/notesSlide" Target="../notesSlides/notesSlide23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105.xml"/><Relationship Id="rId13" Type="http://schemas.openxmlformats.org/officeDocument/2006/relationships/image" Target="../media/image5.svg"/><Relationship Id="rId12" Type="http://schemas.openxmlformats.org/officeDocument/2006/relationships/image" Target="../media/image4.png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6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hyperlink" Target="http://stu.ityxb.com/ebookview/0a2676571c4e3fe76900587a119e9d31" TargetMode="External"/><Relationship Id="rId6" Type="http://schemas.openxmlformats.org/officeDocument/2006/relationships/tags" Target="../tags/tag110.xml"/><Relationship Id="rId5" Type="http://schemas.openxmlformats.org/officeDocument/2006/relationships/image" Target="../media/image3.png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5" Type="http://schemas.openxmlformats.org/officeDocument/2006/relationships/notesSlide" Target="../notesSlides/notesSlide24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14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113.xml"/><Relationship Id="rId1" Type="http://schemas.openxmlformats.org/officeDocument/2006/relationships/tags" Target="../tags/tag106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hyperlink" Target="http://stu.ityxb.com/ebookview/199e256c5d573fb00d1196ec14855dd6" TargetMode="External"/><Relationship Id="rId6" Type="http://schemas.openxmlformats.org/officeDocument/2006/relationships/tags" Target="../tags/tag119.xml"/><Relationship Id="rId5" Type="http://schemas.openxmlformats.org/officeDocument/2006/relationships/image" Target="../media/image3.png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5" Type="http://schemas.openxmlformats.org/officeDocument/2006/relationships/notesSlide" Target="../notesSlides/notesSlide25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23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122.xml"/><Relationship Id="rId1" Type="http://schemas.openxmlformats.org/officeDocument/2006/relationships/tags" Target="../tags/tag11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image" Target="../media/image1.png"/><Relationship Id="rId1" Type="http://schemas.openxmlformats.org/officeDocument/2006/relationships/tags" Target="../tags/tag133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6" Type="http://schemas.openxmlformats.org/officeDocument/2006/relationships/notesSlide" Target="../notesSlides/notesSlide35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7.xm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6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hyperlink" Target="http://stu.ityxb.com/ebookview/13449182e9641148c3bfcc56ad9e9759" TargetMode="External"/><Relationship Id="rId7" Type="http://schemas.openxmlformats.org/officeDocument/2006/relationships/tags" Target="../tags/tag184.xml"/><Relationship Id="rId6" Type="http://schemas.openxmlformats.org/officeDocument/2006/relationships/image" Target="../media/image3.png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6" Type="http://schemas.openxmlformats.org/officeDocument/2006/relationships/notesSlide" Target="../notesSlides/notesSlide38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188.xml"/><Relationship Id="rId13" Type="http://schemas.openxmlformats.org/officeDocument/2006/relationships/image" Target="../media/image5.svg"/><Relationship Id="rId12" Type="http://schemas.openxmlformats.org/officeDocument/2006/relationships/image" Target="../media/image4.png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79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hyperlink" Target="http://stu.ityxb.com/ebookview/59db0f2a1f7d55c18f750b61cbeed3f6" TargetMode="External"/><Relationship Id="rId6" Type="http://schemas.openxmlformats.org/officeDocument/2006/relationships/tags" Target="../tags/tag193.xml"/><Relationship Id="rId5" Type="http://schemas.openxmlformats.org/officeDocument/2006/relationships/image" Target="../media/image3.png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5" Type="http://schemas.openxmlformats.org/officeDocument/2006/relationships/notesSlide" Target="../notesSlides/notesSlide39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97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196.xml"/><Relationship Id="rId1" Type="http://schemas.openxmlformats.org/officeDocument/2006/relationships/tags" Target="../tags/tag189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hyperlink" Target="http://stu.ityxb.com/ebookview/e0a8a4e4d926a19730e367dd1ffedfd3" TargetMode="External"/><Relationship Id="rId6" Type="http://schemas.openxmlformats.org/officeDocument/2006/relationships/tags" Target="../tags/tag202.xml"/><Relationship Id="rId5" Type="http://schemas.openxmlformats.org/officeDocument/2006/relationships/image" Target="../media/image3.png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5" Type="http://schemas.openxmlformats.org/officeDocument/2006/relationships/notesSlide" Target="../notesSlides/notesSlide40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206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205.xml"/><Relationship Id="rId1" Type="http://schemas.openxmlformats.org/officeDocument/2006/relationships/tags" Target="../tags/tag198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hyperlink" Target="http://stu.ityxb.com/ebookview/7ccbe5b4a63a725985ee09155ea18e15" TargetMode="External"/><Relationship Id="rId6" Type="http://schemas.openxmlformats.org/officeDocument/2006/relationships/tags" Target="../tags/tag211.xml"/><Relationship Id="rId5" Type="http://schemas.openxmlformats.org/officeDocument/2006/relationships/image" Target="../media/image3.png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5" Type="http://schemas.openxmlformats.org/officeDocument/2006/relationships/notesSlide" Target="../notesSlides/notesSlide41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215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214.xml"/><Relationship Id="rId1" Type="http://schemas.openxmlformats.org/officeDocument/2006/relationships/tags" Target="../tags/tag20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3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tags" Target="../tags/tag22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4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image" Target="../media/image1.png"/><Relationship Id="rId1" Type="http://schemas.openxmlformats.org/officeDocument/2006/relationships/tags" Target="../tags/tag226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hyperlink" Target="http://stu.ityxb.com/ebookview/7045b0a5e77d2b606406ab0485cc49a3" TargetMode="External"/><Relationship Id="rId7" Type="http://schemas.openxmlformats.org/officeDocument/2006/relationships/tags" Target="../tags/tag241.xml"/><Relationship Id="rId6" Type="http://schemas.openxmlformats.org/officeDocument/2006/relationships/image" Target="../media/image3.png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6" Type="http://schemas.openxmlformats.org/officeDocument/2006/relationships/notesSlide" Target="../notesSlides/notesSlide47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245.xml"/><Relationship Id="rId13" Type="http://schemas.openxmlformats.org/officeDocument/2006/relationships/image" Target="../media/image5.svg"/><Relationship Id="rId12" Type="http://schemas.openxmlformats.org/officeDocument/2006/relationships/image" Target="../media/image4.png"/><Relationship Id="rId11" Type="http://schemas.openxmlformats.org/officeDocument/2006/relationships/tags" Target="../tags/tag244.xml"/><Relationship Id="rId10" Type="http://schemas.openxmlformats.org/officeDocument/2006/relationships/tags" Target="../tags/tag243.xml"/><Relationship Id="rId1" Type="http://schemas.openxmlformats.org/officeDocument/2006/relationships/tags" Target="../tags/tag236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252.xml"/><Relationship Id="rId8" Type="http://schemas.openxmlformats.org/officeDocument/2006/relationships/tags" Target="../tags/tag251.xml"/><Relationship Id="rId7" Type="http://schemas.openxmlformats.org/officeDocument/2006/relationships/hyperlink" Target="http://stu.ityxb.com/ebookview/ccfc5a160af9bf2c279f42cb394cdc00" TargetMode="External"/><Relationship Id="rId6" Type="http://schemas.openxmlformats.org/officeDocument/2006/relationships/tags" Target="../tags/tag250.xml"/><Relationship Id="rId5" Type="http://schemas.openxmlformats.org/officeDocument/2006/relationships/image" Target="../media/image3.png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5" Type="http://schemas.openxmlformats.org/officeDocument/2006/relationships/notesSlide" Target="../notesSlides/notesSlide48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254.xml"/><Relationship Id="rId12" Type="http://schemas.openxmlformats.org/officeDocument/2006/relationships/image" Target="../media/image5.svg"/><Relationship Id="rId11" Type="http://schemas.openxmlformats.org/officeDocument/2006/relationships/image" Target="../media/image4.png"/><Relationship Id="rId10" Type="http://schemas.openxmlformats.org/officeDocument/2006/relationships/tags" Target="../tags/tag253.xml"/><Relationship Id="rId1" Type="http://schemas.openxmlformats.org/officeDocument/2006/relationships/tags" Target="../tags/tag246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image" Target="../media/image3.png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4" Type="http://schemas.openxmlformats.org/officeDocument/2006/relationships/notesSlide" Target="../notesSlides/notesSlide49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263.xml"/><Relationship Id="rId11" Type="http://schemas.openxmlformats.org/officeDocument/2006/relationships/image" Target="../media/image5.svg"/><Relationship Id="rId10" Type="http://schemas.openxmlformats.org/officeDocument/2006/relationships/image" Target="../media/image4.png"/><Relationship Id="rId1" Type="http://schemas.openxmlformats.org/officeDocument/2006/relationships/tags" Target="../tags/tag255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tags" Target="../tags/tag26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04662" y="2534497"/>
            <a:ext cx="7406544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第3章 Spring AOP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7655" y="1704340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AOP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的概念，能够简述AOP的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优点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2677795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JDK动态代理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，并实现JDK动态代理的案例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3652520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CGLIB动态代理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，并实现CGLIB动态代理的案例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57655" y="4598670"/>
            <a:ext cx="9006205" cy="689610"/>
            <a:chOff x="978872" y="2570437"/>
            <a:chExt cx="5437064" cy="517208"/>
          </a:xfrm>
        </p:grpSpPr>
        <p:sp>
          <p:nvSpPr>
            <p:cNvPr id="3" name="Pentagon 5"/>
            <p:cNvSpPr/>
            <p:nvPr>
              <p:custDataLst>
                <p:tags r:id="rId1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基于XML的AOP实现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2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57655" y="5573395"/>
            <a:ext cx="9006205" cy="685800"/>
            <a:chOff x="978872" y="2570437"/>
            <a:chExt cx="5437064" cy="514351"/>
          </a:xfrm>
        </p:grpSpPr>
        <p:sp>
          <p:nvSpPr>
            <p:cNvPr id="6" name="Pentagon 5"/>
            <p:cNvSpPr/>
            <p:nvPr>
              <p:custDataLst>
                <p:tags r:id="rId3"/>
              </p:custDataLst>
            </p:nvPr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基于注解的AOP实现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7" name="MH_Others_1"/>
            <p:cNvSpPr/>
            <p:nvPr>
              <p:custDataLst>
                <p:tags r:id="rId4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466340"/>
            <a:ext cx="1033589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Java EE 应用程序开发中，经常需要处理横跨多个模块的功能需求，这些需求并非业务逻辑，而是涉及应用程序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运行环境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共性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方面的问题，如日志记录、安全控制、事务管理和性能监控等。如果在每个模块中都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重复实现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这些功能，会导致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代码冗余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维护性降低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等问题。为了解决这些问题，开发者可以利用Spring框架的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AOP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管理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通用的横切关注点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，从而提高代码的可重用性和可维护性。本章将对Spring AOP的相关知识进行讲解。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322135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135360" y="501777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370985"/>
            <a:ext cx="1192190" cy="612775"/>
            <a:chOff x="2215144" y="982844"/>
            <a:chExt cx="1244730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93075" y="1005670"/>
              <a:ext cx="1066799" cy="802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640074"/>
            <a:ext cx="1192190" cy="612775"/>
            <a:chOff x="2215144" y="2026500"/>
            <a:chExt cx="1244730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362106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AOP概述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62324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 AOP的实现机制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2982696" y="4915154"/>
            <a:ext cx="1192190" cy="612775"/>
            <a:chOff x="2215144" y="2026500"/>
            <a:chExt cx="1244730" cy="850129"/>
          </a:xfrm>
        </p:grpSpPr>
        <p:sp>
          <p:nvSpPr>
            <p:cNvPr id="118" name="平行四边形 117"/>
            <p:cNvSpPr/>
            <p:nvPr>
              <p:custDataLst>
                <p:tags r:id="rId9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2393075" y="2026500"/>
              <a:ext cx="1066799" cy="809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3.</a:t>
              </a:r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888248" y="4898328"/>
            <a:ext cx="5496560" cy="612775"/>
            <a:chOff x="4315150" y="1647579"/>
            <a:chExt cx="4122956" cy="539804"/>
          </a:xfrm>
        </p:grpSpPr>
        <p:sp>
          <p:nvSpPr>
            <p:cNvPr id="121" name="矩形 120"/>
            <p:cNvSpPr/>
            <p:nvPr>
              <p:custDataLst>
                <p:tags r:id="rId11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 AOP集成AspectJ的实现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2" name="平行四边形 121"/>
            <p:cNvSpPr/>
            <p:nvPr>
              <p:custDataLst>
                <p:tags r:id="rId12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AOP概述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AOP概述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AOP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的概念，能够简述AOP的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优点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>
            <p:custDataLst>
              <p:tags r:id="rId1"/>
            </p:custDataLst>
          </p:nvPr>
        </p:nvSpPr>
        <p:spPr>
          <a:xfrm>
            <a:off x="1015365" y="1917065"/>
            <a:ext cx="10306050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AOP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的全称是Aspect Oriented Programming，即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面向切面编程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，它是一种编程方法论，是OOP（Object Oriented Programming，面向对象编程）的一种补充。AOP可以通过将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业务逻辑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与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横切关注点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（如安全控制、日志记录等在多个模块或组件中共同存在的功能）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，从而实现更好的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代码模块化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可维护性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和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可复用性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在Spring AOP中，开发者可以通过定义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切面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（Aspect）来实现这种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分离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，并通过在运行时动态地将切面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织入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（Weave）到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业务逻辑中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，实现将横切关注点应用于多个组件、对象或方法中，避免了代码的重复和低效性。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AOP概述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AOP概述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584065" y="5916930"/>
            <a:ext cx="209359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类与切面的关系</a:t>
            </a:r>
            <a:endParaRPr lang="zh-CN" altLang="en-US" sz="1800" b="0">
              <a:ea typeface="宋体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915" y="1413510"/>
            <a:ext cx="7050405" cy="42570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AOP概述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981075" y="1120140"/>
            <a:ext cx="10293350" cy="52444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AOP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的常用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术语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如下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9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1.切面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切面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（Aspect）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是用于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横向划分关注点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的模块化单元，通常用于封装横向插入系统的功能。</a:t>
            </a:r>
            <a:endParaRPr lang="en-US" altLang="zh-CN" sz="19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2.连接点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连接点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（Joinpoint）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是程序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执行过程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中的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特定节点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，一个连接点通常代表一个方法的执行。</a:t>
            </a:r>
            <a:endParaRPr lang="en-US" altLang="zh-CN" sz="19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3.切点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切点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（Pointcut）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是指程序执行过程中满足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预先指定条件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连接点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9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4.通知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通知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（Advice）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是切面中的实际代码，用于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实现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切面的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具体功能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9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5.目标对象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目标对象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（Target Object）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指的是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被切面增强的原始对象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9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6.织入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织入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（Weaving）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是指将切面代码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插入到目标对象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上，从而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生成代理对象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的过程。</a:t>
            </a:r>
            <a:endParaRPr lang="en-US" altLang="zh-CN" sz="19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7.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代理对象：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代理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对象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Proxy Object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）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织入切面后创建的对象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，用于应用通知到目标对象。</a:t>
            </a:r>
            <a:endParaRPr lang="en-US" altLang="zh-CN" sz="19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8.引介</a:t>
            </a:r>
            <a:r>
              <a:rPr lang="zh-CN" altLang="en-US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引介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（Introduction）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是一种特殊的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通知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，用于为目标对象</a:t>
            </a:r>
            <a:r>
              <a:rPr lang="zh-CN" altLang="en-US" sz="19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添加新的属性和方法</a:t>
            </a:r>
            <a:r>
              <a:rPr lang="en-US" altLang="zh-CN" sz="19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19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740" y="3014345"/>
            <a:ext cx="627380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AOP的实现机制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AOP的实现机制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2466340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实现AOP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时，应用程序在运行期会为目标对象生成一个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动态代理对象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，并在代理对象中实现对目标对象的增强。根据代理对象的创建方式，可以将AOP实现机制分为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JDK动态代理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CG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动态代理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，本节将针对这两种实现机制进行讲解。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1031240" y="2238375"/>
            <a:ext cx="10427335" cy="20358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379793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JDK动态代理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，并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实现JDK动态代理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的案例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>
            <p:custDataLst>
              <p:tags r:id="rId1"/>
            </p:custDataLst>
          </p:nvPr>
        </p:nvSpPr>
        <p:spPr>
          <a:xfrm>
            <a:off x="1015365" y="1917065"/>
            <a:ext cx="10306050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AOP中的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JDK动态代理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是一种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基于接口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的代理方式，即只能为接口创建代理实例。JDK动态代理是Spring AOP的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默认的动态代理机制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，它利用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Java反射机制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在运行时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动态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地创建目标对象的代理对象，并将通知与代理对象关联起来，从而实现对目标对象的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增强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JDK动态代理使用Java中的java.lang.reflect.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Proxy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类和java.lang.reflect.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InvocationHandler接口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来创建代理对象。首先需要定义一个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InvocationHandler实现类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，它包含一个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invoke()方法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，该方法中定义了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增强的逻辑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。然后通过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Proxy类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newProxyInstance()方法创建代理对象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，该方法通过接收类加载器、代理实现的接口以及InvocationHandler对象来生成代理对象。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66914" y="2469239"/>
            <a:ext cx="2780020" cy="476905"/>
            <a:chOff x="852276" y="1797999"/>
            <a:chExt cx="2780020" cy="476905"/>
          </a:xfrm>
        </p:grpSpPr>
        <p:sp>
          <p:nvSpPr>
            <p:cNvPr id="8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（1）创建项目并依赖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93775" y="32467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在IDEA中创建一个名为chapter03的Maven项目，然后在项目的pom.xml文件中引入Spring的核心依赖。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82980" y="112522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下面通过一个案例演示Spring中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JDK动态代理的实现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过程。</a:t>
            </a:r>
            <a:endParaRPr lang="en-US" altLang="zh-CN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（2）创建接口和实现类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文件3-1</a:t>
                </a:r>
                <a:r>
                  <a:rPr lang="en-US" sz="1800">
                    <a:sym typeface="+mn-ea"/>
                  </a:rPr>
                  <a:t>    </a:t>
                </a:r>
                <a:r>
                  <a:rPr sz="1800">
                    <a:sym typeface="+mn-ea"/>
                    <a:hlinkClick r:id="rId7"/>
                  </a:rPr>
                  <a:t>UserDao.java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</a:rPr>
                  <a:t>文件3-2</a:t>
                </a:r>
                <a:r>
                  <a:rPr lang="en-US" sz="1800">
                    <a:sym typeface="+mn-ea"/>
                  </a:rPr>
                  <a:t>    </a:t>
                </a:r>
                <a:r>
                  <a:rPr sz="1800">
                    <a:sym typeface="+mn-ea"/>
                    <a:hlinkClick r:id="rId8"/>
                  </a:rPr>
                  <a:t>UserDaoImpl.java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在chapter03项目下创建com.itheima.dao包，在该包下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创建接口UserDao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，在该接口中编写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添加和删除的方法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。在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com.itheima.dao包下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创建UserDao接口的实现类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UserDaoImpl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，在重写接口的方法中添加一条输出语句，具体如文件3-1和文件</a:t>
            </a:r>
            <a:r>
              <a:rPr lang="en-US" alt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3-2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（3）创建切面类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文件3-3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MyAspect.java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在chapter03项目下创建一个com.itheima.aspect包，并在该包下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创建切面类MyAspect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，在该类中定义一个模拟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权限检查的方法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和一个模拟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记录日志的方法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切面中的通知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，如文件3-3所示。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（4）创建代理类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JdkProxy.java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在chapter03项目下创建com.itheima.proxy包，在该包下创建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实现InvocationHandler接口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代理类JdkProxy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，并在代理类中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编写代理方法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，在代理方法中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通过Proxy类实现动态代理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，如文件3-4所示。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（5）创建测试类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文件3-5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JdkTest.java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在项目的com.itheima包中创建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测试类JdkTest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。在该类中的main()方法中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创建代理类对象和目标对象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，然后获得对目标对象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userDao增强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后的代理对象，最后调用该对象中的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添加用户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删除用户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方法，如文件3-5所示。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（6）测试效果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运行文件3-5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-21474826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42130" y="2723198"/>
            <a:ext cx="3873913" cy="356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CGLIB动态代理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CGLIB动态代理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，并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实现CGLIB动态代理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的案例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>
            <p:custDataLst>
              <p:tags r:id="rId1"/>
            </p:custDataLst>
          </p:nvPr>
        </p:nvSpPr>
        <p:spPr>
          <a:xfrm>
            <a:off x="1015365" y="1917065"/>
            <a:ext cx="10306050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JDK动态代理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的使用非常简单，但它还有一定的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局限性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——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使用动态代理的对象必须实现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一个或多个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接口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。如果要对没有实现接口的类进行代理，那么可以使用CGLIB动态代理。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 CGLIB（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Code Generation Library，代码生成库）是一个高性能开源的代码生成包，它可以在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运行时扩展Java类和实现接口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。CGLIB 动态代理的原理是通过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继承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来创建一个目标对象的子类，并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重写其方法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，从而实现拦截器对目标方法的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增强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。CGLIB 代理类的创建速度相对 JDK 动态代理要慢一些，但是在运行时的执行效率比 JDK 动态代理快，且不需要目标对象实现接口。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CGLIB动态代理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>
            <p:custDataLst>
              <p:tags r:id="rId1"/>
            </p:custDataLst>
          </p:nvPr>
        </p:nvSpPr>
        <p:spPr>
          <a:xfrm>
            <a:off x="1015365" y="1917065"/>
            <a:ext cx="10306050" cy="2013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CGLIB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提供了一个拦截器接口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MethodInterceptor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，MethodInterceptor中定义了一个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intercept()方法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用于拦截目标对象方法的调用。使用CGLIB动态代理时，代理类需要实现MethodInterceptor接口,并在重写的intercept ()方法中编写自定义的逻辑来实现对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目标方法的增强或拦截处理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CGLIB动态代理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CGLIB动态代理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82980" y="112522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下面通过一个案例来演示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CGLIB动态代理的实现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过程，具体如下。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751689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（1）创建目标类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文件3-6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OrderDao.java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993775" y="231394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在项目的com.itheima.dao包中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创建一个目标类OrderDao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，在该类中定义一个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添加订单的方法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删除订单的方法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，如文件3-6所示。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CGLIB动态代理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（2）创建代理类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文件3-7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CglibProxy.java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在com.itheima.proxy包中，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创建代理类CglibProxy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，该代理类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实现MethodInterceptor接口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重写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intercept()方法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中编写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增强的逻辑代码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，如文件3-7所示。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CGLIB动态代理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（3）创建测试类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文件3-8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CglibTest.java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在com.itheima包中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创建测试类CglibTest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。在该类的main()方法中首先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创建代理类对象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目标对象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获得增强目标对象后的代理对象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调用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代理对象的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添加订单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删除订单方法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，如文件3-8所示。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CGLIB动态代理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6914" y="1105894"/>
            <a:ext cx="2780020" cy="476905"/>
            <a:chOff x="852276" y="1797999"/>
            <a:chExt cx="2780020" cy="47690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（4）测试效果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运行文件3-8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-21474826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91928" y="2690495"/>
            <a:ext cx="4205719" cy="370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740" y="2727325"/>
            <a:ext cx="6625590" cy="144526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AOP集成AspectJ的实现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3.3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</a:t>
            </a:r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AOP集成AspectJ的实现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2466340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AOP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 Spring框架提供的一种简化版的AOP组件，提供了基本的AOP 功能，但在某些复杂的情况下可能会有一些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限制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。为了弥补这些限制，开发者通常会将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Spring AOP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与其他 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AOP 实现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 AspectJ）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结合使用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，以满足更高级别的AOP功能需求。在这种情况下，最常见的组合就是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AOP集成AspectJ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使用。Spring AOP集成AspectJ实现AOP时可以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基于XML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两种方式，下面这两种AOP的实现进行讲解。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1031240" y="2238375"/>
            <a:ext cx="10427335" cy="281559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458724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基于XML的AOP实现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>
            <p:custDataLst>
              <p:tags r:id="rId1"/>
            </p:custDataLst>
          </p:nvPr>
        </p:nvSpPr>
        <p:spPr>
          <a:xfrm>
            <a:off x="1015365" y="1199515"/>
            <a:ext cx="10306050" cy="1102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AOP集成AspectJ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时，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的AOP实现需要在XML文件中定义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切面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切点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及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通知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等信息，Spring提供了一系列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用于实现XML文件中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切面、切点及通知等信息的配置</a:t>
            </a: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zh-CN" altLang="en-US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979487" y="2569845"/>
          <a:ext cx="10379075" cy="3259455"/>
        </p:xfrm>
        <a:graphic>
          <a:graphicData uri="http://schemas.openxmlformats.org/drawingml/2006/table">
            <a:tbl>
              <a:tblPr/>
              <a:tblGrid>
                <a:gridCol w="3455670"/>
                <a:gridCol w="6923405"/>
              </a:tblGrid>
              <a:tr h="5162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标签</a:t>
                      </a:r>
                      <a:endParaRPr lang="en-US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描述</a:t>
                      </a:r>
                      <a:endParaRPr lang="en-US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&lt;aop:config&gt;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Spring AOP配置的根标签，用于包含其他AOP相关的配置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&lt;aop:aspect&gt;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用于配置切面，可以定义切面类和切面相关的通知类型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&lt;aop:advisor&gt;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用于配置通知器，可以将切面和切点组合起来，并将其应用到目标对象上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&lt;aop:pointcut&gt;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用于配置切点，可以指定切面在哪些连接点处起作用，即定义切点表达式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1044892" y="1202690"/>
          <a:ext cx="10083165" cy="5087620"/>
        </p:xfrm>
        <a:graphic>
          <a:graphicData uri="http://schemas.openxmlformats.org/drawingml/2006/table">
            <a:tbl>
              <a:tblPr/>
              <a:tblGrid>
                <a:gridCol w="3611245"/>
                <a:gridCol w="6471920"/>
              </a:tblGrid>
              <a:tr h="5156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标签</a:t>
                      </a:r>
                      <a:endParaRPr 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描述</a:t>
                      </a:r>
                      <a:endParaRPr 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&lt;aop:before&gt;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用于配置前置通知，在目标方法执行前实施增强，通常应用于权限管理功能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&lt;aop:after&gt;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用于配置后置通知，在目标方法执行后实施增强，通常应用于关闭流、上传文件、删除临时文件等功能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&lt;aop:around&gt;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用于配置环绕方式，在目标方法执行前后实施增强，通常应用于日志、事务管理等功能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&lt;aop:after-returning&gt;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用于配置返回通知，在目标方法成功执行之后调用通知，通常应用于处理返回值、日志记录等功能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&lt;aop:after-throwing&gt;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用于配置</a:t>
                      </a:r>
                      <a:r>
                        <a:rPr lang="zh-CN" altLang="en-US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抛出异常通知</a:t>
                      </a: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，在方法抛出异常后实施增强，通常应用于处理异常记录日志等功能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2"/>
            </p:custDataLst>
          </p:nvPr>
        </p:nvSpPr>
        <p:spPr>
          <a:xfrm>
            <a:off x="1002665" y="1805305"/>
            <a:ext cx="10163810" cy="347281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571625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621155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1．配置切面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5"/>
            </p:custDataLst>
          </p:nvPr>
        </p:nvSpPr>
        <p:spPr>
          <a:xfrm>
            <a:off x="1336040" y="219646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在 Spring 的配置文件中，如果要定义一个切面，可以使用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&lt;aop:aspect&gt;标签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，这个标签会将一个已定义好的 Spring Bean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转换成切面Bean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，并将其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织入到目标对象的方法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上面去。因此，在使用&lt;aop:aspect&gt;标签之前，需要在配置文件中先定义一个普通的Spring Bean。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&lt;aop:aspect&gt; 标签提供了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id属性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ref属性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，分别用于为该切面指定一个在Spring 应用上下文中的唯一ID，以及用于引用一个现有的切面Bean。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2"/>
            </p:custDataLst>
          </p:nvPr>
        </p:nvSpPr>
        <p:spPr>
          <a:xfrm>
            <a:off x="1002665" y="1805305"/>
            <a:ext cx="10163810" cy="347281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571625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621155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2．配置切点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5"/>
            </p:custDataLst>
          </p:nvPr>
        </p:nvSpPr>
        <p:spPr>
          <a:xfrm>
            <a:off x="1336040" y="219646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在Spring的配置文件中，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切点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是通过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&lt;aop:pointcut&gt;标签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来定义的。当 &lt;aop:pointcut&gt; 标签作为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&lt;aop:config&gt; 标签的子标签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定义时，定义的切点可以被多个切面共享，从而成为全局切点；而当 &lt;aop:pointcut&gt; 标签作为 &lt;aop:aspect&gt; 标签的子标签时，该切点仅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对当前切面有效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，而不会成为全局切点。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1054735" y="910590"/>
            <a:ext cx="1024191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在定义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&lt;aop:pointcut&gt;标签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时，通常会指定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expression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，其中，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id属性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用于为切点指定一个在配置文件中的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唯一标识符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expression属性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定义切点的表达式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，切点表达式的基本格式如下。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967740" y="2621280"/>
            <a:ext cx="10337800" cy="1104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977900" y="2653665"/>
            <a:ext cx="10318750" cy="119697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execution(modifiers-pattern? return-type-pattern declaring-type-pattern?</a:t>
            </a:r>
            <a:endParaRPr lang="en-US"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lang="en-US" sz="1800">
                <a:latin typeface="Courier New" panose="02070409020205090404" pitchFamily="49" charset="0"/>
                <a:sym typeface="+mn-ea"/>
              </a:rPr>
              <a:t>    name-pattern(param-pattern) throws-pattern?)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55370" y="3745865"/>
            <a:ext cx="10240645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　modifiers-pattern: 用于指定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方法访问修饰符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的模式。②　return-type-pattern: 用于指定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方法返回值类型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的模式。③　declaring-type-pattern: 用于指定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声明方法的类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的模式。④　name-pattern: 用于指定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方法名称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模式。⑤　parameter-pattern: 用于指定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方法参数列表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的模式。⑥　throws-pattern: 用于指定</a:t>
            </a:r>
            <a:r>
              <a:rPr lang="zh-CN" altLang="en-US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方法抛出的异常类型</a:t>
            </a:r>
            <a:r>
              <a:rPr lang="zh-CN" altLang="en-US" sz="20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的模式。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>
            <p:custDataLst>
              <p:tags r:id="rId2"/>
            </p:custDataLst>
          </p:nvPr>
        </p:nvSpPr>
        <p:spPr>
          <a:xfrm>
            <a:off x="1006475" y="984250"/>
            <a:ext cx="10241915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061085" y="1113155"/>
            <a:ext cx="10337800" cy="555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1071245" y="1145540"/>
            <a:ext cx="10318750" cy="57721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execution(* com.example.myapp.MyClass.myMethod(..))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050925" y="2824480"/>
            <a:ext cx="10337800" cy="555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061085" y="2785110"/>
            <a:ext cx="10318750" cy="57721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execution(public * *(..))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071245" y="3983355"/>
            <a:ext cx="10337800" cy="555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1081405" y="4015740"/>
            <a:ext cx="10318750" cy="57721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execution(* set*(..))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1081405" y="5213985"/>
            <a:ext cx="10337800" cy="555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1091565" y="5246370"/>
            <a:ext cx="10318750" cy="57721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execution(* com.example..*.*(..))</a:t>
            </a:r>
            <a:endParaRPr lang="en-US" sz="1800">
              <a:latin typeface="Courier New" panose="02070409020205090404" pitchFamily="49" charset="0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1054735" y="1719580"/>
            <a:ext cx="102419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匹配com.example.myapp.MyClass类中所有myMethod()方法的执行。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1055370" y="3397885"/>
            <a:ext cx="102419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匹配所有公共方法的执行，无论返回类型、类名和方法名是什么。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1091565" y="4594225"/>
            <a:ext cx="102419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匹配所有set开头的方法的执行。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1091565" y="5862320"/>
            <a:ext cx="102419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匹配 com.example包和子包中所有类的所有方法的执行。</a:t>
            </a:r>
            <a:endParaRPr lang="zh-CN" altLang="en-US" sz="2000" b="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2"/>
            </p:custDataLst>
          </p:nvPr>
        </p:nvSpPr>
        <p:spPr>
          <a:xfrm>
            <a:off x="1002665" y="1805305"/>
            <a:ext cx="10163810" cy="3057525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3"/>
            </p:custDataLst>
          </p:nvPr>
        </p:nvSpPr>
        <p:spPr>
          <a:xfrm>
            <a:off x="3984625" y="1571625"/>
            <a:ext cx="4335780" cy="4622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4"/>
            </p:custDataLst>
          </p:nvPr>
        </p:nvSpPr>
        <p:spPr>
          <a:xfrm>
            <a:off x="3984625" y="1621155"/>
            <a:ext cx="409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3．配置通知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5"/>
            </p:custDataLst>
          </p:nvPr>
        </p:nvSpPr>
        <p:spPr>
          <a:xfrm>
            <a:off x="1336040" y="219646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 AOP中的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通知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采用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"切面+连接点"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的方式来定义的。连接点是程序执行过程中的特定点，切面定义了通知要织入到哪些连接点上。Spring AOP 提供了五种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通知类型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，这些通知按照织入的时间点分类分别为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前置通知（Before）、后置通知（After）、返回通知（After-returning）、抛出异常通知（After-throwing）和环绕通知（Around）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983297" y="1859915"/>
          <a:ext cx="10466070" cy="4546600"/>
        </p:xfrm>
        <a:graphic>
          <a:graphicData uri="http://schemas.openxmlformats.org/drawingml/2006/table">
            <a:tbl>
              <a:tblPr/>
              <a:tblGrid>
                <a:gridCol w="2421255"/>
                <a:gridCol w="8044815"/>
              </a:tblGrid>
              <a:tr h="4318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属性</a:t>
                      </a:r>
                      <a:endParaRPr 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itchFamily="2" charset="-122"/>
                        </a:rPr>
                        <a:t>描述</a:t>
                      </a:r>
                      <a:endParaRPr 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pointcut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用于在切面内部定义切点表达式，Spring 将在匹配该表达式的连接点时织入该通知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pointcut-ref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用于指定一个已经存在的切点名称，通常 pointcut 和 pointcut-ref 两个属性只需要使用其中一个即可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method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用于指定具体的通知方法</a:t>
                      </a:r>
                      <a:endParaRPr lang="zh-CN" altLang="en-US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throwing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该属性只对&lt;after-throwing&gt;标签有效，它用于指定一个形参名，异常通知方法可以通过该形参访问目标方法所抛出的异常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returning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该属性只对&lt;after-returning&gt;标签有效，它用于指定一个形参名，</a:t>
                      </a:r>
                      <a:r>
                        <a:rPr lang="zh-CN" altLang="en-US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返回通知</a:t>
                      </a:r>
                      <a:r>
                        <a:rPr lang="en-US" altLang="zh-CN" sz="2000" b="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方法可以通过该形参访问目标方法的返回值</a:t>
                      </a:r>
                      <a:endParaRPr lang="en-US" altLang="zh-CN" sz="2000" b="0" dirty="0" err="1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4770755" y="1197610"/>
            <a:ext cx="264795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通知标签的常用属性</a:t>
            </a:r>
            <a:endParaRPr lang="zh-CN" altLang="en-US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82980" y="112522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下面通过一个案例演示如何在Spring中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基于XML实现AOP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。</a:t>
            </a: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6914" y="1751689"/>
            <a:ext cx="2780020" cy="476905"/>
            <a:chOff x="852276" y="1797999"/>
            <a:chExt cx="2780020" cy="476905"/>
          </a:xfrm>
        </p:grpSpPr>
        <p:sp>
          <p:nvSpPr>
            <p:cNvPr id="5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（1）引入依赖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9" name="图片 8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24572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en-US" sz="1800">
                    <a:sym typeface="+mn-ea"/>
                    <a:hlinkClick r:id="rId8"/>
                  </a:rPr>
                  <a:t>pom</a:t>
                </a:r>
                <a:r>
                  <a:rPr sz="1800">
                    <a:sym typeface="+mn-ea"/>
                    <a:hlinkClick r:id="rId8"/>
                  </a:rPr>
                  <a:t>.</a:t>
                </a:r>
                <a:r>
                  <a:rPr lang="en-US" sz="1800">
                    <a:sym typeface="+mn-ea"/>
                    <a:hlinkClick r:id="rId8"/>
                  </a:rPr>
                  <a:t>xml</a:t>
                </a:r>
                <a:endParaRPr lang="en-US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993775" y="231394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在chapter03项目的pom.xml文件中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AspectJ框架的相关依赖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，在pom.xml中添加的代码如下所示。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6914" y="1249404"/>
            <a:ext cx="2780020" cy="476905"/>
            <a:chOff x="852276" y="1797999"/>
            <a:chExt cx="2780020" cy="47690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（2）创建切面类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9" name="图片 8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文件3-9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XmlAdvice.java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93775" y="18116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在项目中创建com.itheima.advice包，并在该包下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创建切面类XmlAdvice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，并在该类中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定义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方法作为切面中的通知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，具体代码如文件3-9所示。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6914" y="1249404"/>
            <a:ext cx="3712210" cy="476885"/>
            <a:chOff x="852276" y="1797999"/>
            <a:chExt cx="3712210" cy="47688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358521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371221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（3）创建配置文件并配置AOP信息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9" name="图片 8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文件3-10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aplicationContext.xml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93775" y="181165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在chapter03项目的resource文件夹下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创建applicationContext.xml文件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，并在该配置文件中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定义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userDao和xmlAdvice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，同时将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userDao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切点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xmlAdvice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切面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进行设置，具体代码如文件3-10所示。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6775" y="1249680"/>
            <a:ext cx="2660650" cy="476885"/>
            <a:chOff x="852276" y="1797999"/>
            <a:chExt cx="3712210" cy="47688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358521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371221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（4）创建测试类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9" name="图片 8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文件3-11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XmlAOPTest.java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93775" y="18116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在com.itheima包中创建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测试类XmlAOPTest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获取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名称为userDao的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Bean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执行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添加用户和删除用户的方法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，具体代码如文件3-11所示。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6775" y="1249680"/>
            <a:ext cx="2660650" cy="476885"/>
            <a:chOff x="852276" y="1797999"/>
            <a:chExt cx="3712210" cy="47688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358521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371221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（5）测试效果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运行文件3-11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-21474826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94243" y="2493328"/>
            <a:ext cx="7800084" cy="370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基于XML的AOP实现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6775" y="1249680"/>
            <a:ext cx="2660650" cy="476885"/>
            <a:chOff x="852276" y="1797999"/>
            <a:chExt cx="3712210" cy="47688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358521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3712210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（5）测试效果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993775" y="181165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如果要查看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异常通知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的执行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效果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，可以在UserDaoImpl类的addUser()方法中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添加错误代码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，如“int i = 10/0;”，重新运行测试类，将可以看到异常通知的执行，此时控制台的输出结果如下图所示。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-214748260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13598" y="2997518"/>
            <a:ext cx="8403429" cy="327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基于注解的AOP实现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基于注解的AOP实现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>
            <p:custDataLst>
              <p:tags r:id="rId1"/>
            </p:custDataLst>
          </p:nvPr>
        </p:nvSpPr>
        <p:spPr>
          <a:xfrm>
            <a:off x="1015365" y="1199515"/>
            <a:ext cx="10306050" cy="1102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AspectJ提供了</a:t>
            </a:r>
            <a:r>
              <a:rPr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基于注解的方式实现AOP</a:t>
            </a: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，这样可以避免大量的 XML 配置，使得代码更加简洁、可读性更高，并且方便维护。</a:t>
            </a:r>
            <a:endParaRPr lang="zh-CN" altLang="en-US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1" name="Title 1"/>
          <p:cNvSpPr txBox="1"/>
          <p:nvPr>
            <p:custDataLst>
              <p:tags r:id="rId2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1031875" y="2569210"/>
          <a:ext cx="10225405" cy="6217920"/>
        </p:xfrm>
        <a:graphic>
          <a:graphicData uri="http://schemas.openxmlformats.org/drawingml/2006/table">
            <a:tbl>
              <a:tblPr/>
              <a:tblGrid>
                <a:gridCol w="2357755"/>
                <a:gridCol w="7867650"/>
              </a:tblGrid>
              <a:tr h="1397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charset="0"/>
                        </a:rPr>
                        <a:t>注解名称</a:t>
                      </a:r>
                      <a:endParaRPr lang="en-US" sz="17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charset="0"/>
                        </a:rPr>
                        <a:t>描述</a:t>
                      </a:r>
                      <a:endParaRPr lang="en-US" sz="17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@AspectJ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用于将一个类标记为切面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@Pointcut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用于定义切点表达式，可以通过一个方法签名来表示切点名称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772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@Before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用于定义前置通知，在使用时，使用value属性指定一个切点，可以是已有的切点，也可以直接定义切点表达式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1031875" y="1597025"/>
          <a:ext cx="10225405" cy="4069080"/>
        </p:xfrm>
        <a:graphic>
          <a:graphicData uri="http://schemas.openxmlformats.org/drawingml/2006/table">
            <a:tbl>
              <a:tblPr/>
              <a:tblGrid>
                <a:gridCol w="2231390"/>
                <a:gridCol w="7994015"/>
              </a:tblGrid>
              <a:tr h="5715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charset="0"/>
                        </a:rPr>
                        <a:t>注解名称</a:t>
                      </a:r>
                      <a:endParaRPr lang="en-US" sz="17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503050405090304" charset="0"/>
                        </a:rPr>
                        <a:t>描述</a:t>
                      </a:r>
                      <a:endParaRPr lang="en-US" sz="17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503050405090304" charset="0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@AfterReturning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定义后置通知，在使用时可以指定pointcut/value和returning属性，其中pointcut/value这两个属性的作用一样，都用于指定切点。returning属性值用于表示Advice方法中可定义与此同名的形参，该形参可用于访问目标方法的返回值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@Around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用于定义环绕通知，在使用时通过value属性指定一个切点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@AfterThrowing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定义异常通知，在使用时可指定pointcut/value和throwing属性。其中pointcut/value用于指定切点表达式，而throwing属性用于指定一个形参名来表示Advice方法中可定义与此同名的形参，该形参可用于访问目标方法抛出的异常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@After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7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用于定义后置通知，不管应用程序是否抛出异常，该通知都会执行。使用时通过value属性指定一个切点</a:t>
                      </a:r>
                      <a:endParaRPr lang="zh-CN" altLang="en-US" sz="17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>
                      <a:solidFill>
                        <a:schemeClr val="bg1"/>
                      </a:solidFill>
                      <a:prstDash val="solid"/>
                    </a:lnR>
                    <a:lnT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82980" y="112522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下面通过一个案例演示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基于注解的AOP实现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6914" y="1751689"/>
            <a:ext cx="2780020" cy="476905"/>
            <a:chOff x="852276" y="1797999"/>
            <a:chExt cx="2780020" cy="476905"/>
          </a:xfrm>
        </p:grpSpPr>
        <p:sp>
          <p:nvSpPr>
            <p:cNvPr id="5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852276" y="1797999"/>
              <a:ext cx="2767965" cy="443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（1）创建切面类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9" name="图片 8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文件3-12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AnnoAdvice.java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993775" y="231394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在项目的com.itheima.advice包下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面类AnnoAdvice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，在该类上使用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@AspectJ注解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标注当前类为切面，并使用相关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注解定义通知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，AnnoAdvice类具体代码如文件3-12所示。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6775" y="1177925"/>
            <a:ext cx="4474210" cy="796290"/>
            <a:chOff x="852276" y="1797999"/>
            <a:chExt cx="2780020" cy="796290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796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（2）创建配置文件并启动AspectJ注解支持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9" name="图片 8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文件3-13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7"/>
                  </a:rPr>
                  <a:t>applicationContext-Anno.xml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8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93775" y="173990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在项目的resource文件夹下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创建applicationContext-Anno.xml文件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，在该文件中使用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&lt;bean&gt;标签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Spring AOP的配置信息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，具体代码如文件</a:t>
            </a:r>
            <a:r>
              <a:rPr lang="en-US" alt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</a:t>
            </a:r>
            <a:r>
              <a:rPr lang="en-US" altLang="zh-CN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6775" y="1177925"/>
            <a:ext cx="2840355" cy="476885"/>
            <a:chOff x="852276" y="1797999"/>
            <a:chExt cx="2780020" cy="47690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（3）创建测试类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pic>
        <p:nvPicPr>
          <p:cNvPr id="9" name="图片 8" descr="图片包含 形状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文件3-14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</a:rPr>
                  <a:t>AnnoAOPTest 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993775" y="173990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在com.itheima.demo04包中创建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测试类AnnoAOPTest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加载applicationContext-Anno.xml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文件初始化容器，具体代码如文件3-14所示。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基于注解的AOP实现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6775" y="1177925"/>
            <a:ext cx="2840355" cy="476885"/>
            <a:chOff x="852276" y="1797999"/>
            <a:chExt cx="2780020" cy="476905"/>
          </a:xfrm>
        </p:grpSpPr>
        <p:sp>
          <p:nvSpPr>
            <p:cNvPr id="5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276" y="1813239"/>
              <a:ext cx="2653020" cy="46166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852276" y="1797999"/>
              <a:ext cx="2767965" cy="443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</a:t>
              </a:r>
              <a:r>
                <a:rPr lang="en-US"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4</a:t>
              </a:r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）测试效果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993775" y="173990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运行文件3-14</a:t>
            </a:r>
            <a:r>
              <a:rPr lang="zh-CN" altLang="en-US" sz="1800" b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，运行结果如下图所示。</a:t>
            </a:r>
            <a:endParaRPr lang="zh-CN" altLang="en-US" sz="18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-214748260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6625" y="2421890"/>
            <a:ext cx="8003740" cy="392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36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Spring中的AOP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。首先介绍了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AOP概述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；然后讲解了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 AOP的实现机制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，包括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JDK动态代理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CGLIB动态代理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；最后讲解了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 AOP集成AspectJ的实现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。通过本章的学习，读者可以对Spring AOP有基础的了解，为框架开发奠定基础。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UNIT_TABLE_BEAUTIFY" val="smartTable{38920c35-4936-43c8-947e-2b2f41bb17e5}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UNIT_TABLE_BEAUTIFY" val="smartTable{f6ef103d-2003-4e10-8de5-c016b477f37c}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UNIT_TABLE_BEAUTIFY" val="smartTable{124caea1-67d8-4f93-9d90-2600837c274a}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UNIT_TABLE_BEAUTIFY" val="smartTable{13353447-ded9-40fb-b1c7-211407512d6d}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UNIT_TABLE_BEAUTIFY" val="smartTable{fbc9bc39-df0c-4297-9a98-fad083e49536}"/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8301</Words>
  <Application>WPS 演示</Application>
  <PresentationFormat>自定义</PresentationFormat>
  <Paragraphs>528</Paragraphs>
  <Slides>51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80" baseType="lpstr">
      <vt:lpstr>Arial</vt:lpstr>
      <vt:lpstr>宋体</vt:lpstr>
      <vt:lpstr>Wingdings</vt:lpstr>
      <vt:lpstr>微软雅黑</vt:lpstr>
      <vt:lpstr>汉仪旗黑</vt:lpstr>
      <vt:lpstr>汉仪书宋二KW</vt:lpstr>
      <vt:lpstr>思源黑体 CN Medium</vt:lpstr>
      <vt:lpstr>字魂58号-创中黑</vt:lpstr>
      <vt:lpstr>Source Han Sans K Bold</vt:lpstr>
      <vt:lpstr>Calibri</vt:lpstr>
      <vt:lpstr>U.S. 101</vt:lpstr>
      <vt:lpstr>苹方-简</vt:lpstr>
      <vt:lpstr>Roboto</vt:lpstr>
      <vt:lpstr>Open Sans Light</vt:lpstr>
      <vt:lpstr>宋体</vt:lpstr>
      <vt:lpstr>Arial Unicode MS</vt:lpstr>
      <vt:lpstr>Helvetica Neue</vt:lpstr>
      <vt:lpstr>思源黑体 CN Normal</vt:lpstr>
      <vt:lpstr>Courier New</vt:lpstr>
      <vt:lpstr>Times New Roman</vt:lpstr>
      <vt:lpstr>汉仪中黑KW</vt:lpstr>
      <vt:lpstr>冬青黑体简体中文</vt:lpstr>
      <vt:lpstr>Source Han Sans K Bold</vt:lpstr>
      <vt:lpstr>字魂58号-创中黑</vt:lpstr>
      <vt:lpstr>微软雅黑</vt:lpstr>
      <vt:lpstr>思源黑体 CN Medium</vt:lpstr>
      <vt:lpstr>思源黑体 CN Normal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qzuser</cp:lastModifiedBy>
  <cp:revision>1129</cp:revision>
  <dcterms:created xsi:type="dcterms:W3CDTF">2026-04-06T14:58:53Z</dcterms:created>
  <dcterms:modified xsi:type="dcterms:W3CDTF">2026-04-06T14:58:53Z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69DB4B6826B6494390E926BE37E6C64D</vt:lpwstr>
  </property>
</Properties>
</file>