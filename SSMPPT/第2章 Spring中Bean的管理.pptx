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05"/>
  </p:handoutMasterIdLst>
  <p:sldIdLst>
    <p:sldId id="583" r:id="rId4"/>
    <p:sldId id="1124" r:id="rId6"/>
    <p:sldId id="584" r:id="rId7"/>
    <p:sldId id="586" r:id="rId8"/>
    <p:sldId id="587" r:id="rId9"/>
    <p:sldId id="1125" r:id="rId10"/>
    <p:sldId id="309" r:id="rId11"/>
    <p:sldId id="899" r:id="rId12"/>
    <p:sldId id="776" r:id="rId13"/>
    <p:sldId id="995" r:id="rId14"/>
    <p:sldId id="1126" r:id="rId15"/>
    <p:sldId id="1127" r:id="rId16"/>
    <p:sldId id="1128" r:id="rId17"/>
    <p:sldId id="1129" r:id="rId18"/>
    <p:sldId id="1130" r:id="rId19"/>
    <p:sldId id="1131" r:id="rId20"/>
    <p:sldId id="1096" r:id="rId21"/>
    <p:sldId id="1132" r:id="rId22"/>
    <p:sldId id="1097" r:id="rId23"/>
    <p:sldId id="1133" r:id="rId24"/>
    <p:sldId id="1134" r:id="rId25"/>
    <p:sldId id="1135" r:id="rId26"/>
    <p:sldId id="1136" r:id="rId27"/>
    <p:sldId id="1137" r:id="rId28"/>
    <p:sldId id="1138" r:id="rId29"/>
    <p:sldId id="1139" r:id="rId30"/>
    <p:sldId id="1140" r:id="rId31"/>
    <p:sldId id="1141" r:id="rId32"/>
    <p:sldId id="1142" r:id="rId33"/>
    <p:sldId id="1143" r:id="rId34"/>
    <p:sldId id="1144" r:id="rId35"/>
    <p:sldId id="1145" r:id="rId36"/>
    <p:sldId id="1098" r:id="rId37"/>
    <p:sldId id="1146" r:id="rId38"/>
    <p:sldId id="1099" r:id="rId39"/>
    <p:sldId id="1147" r:id="rId40"/>
    <p:sldId id="1148" r:id="rId41"/>
    <p:sldId id="1149" r:id="rId42"/>
    <p:sldId id="1150" r:id="rId43"/>
    <p:sldId id="1151" r:id="rId44"/>
    <p:sldId id="1152" r:id="rId45"/>
    <p:sldId id="1153" r:id="rId46"/>
    <p:sldId id="1155" r:id="rId47"/>
    <p:sldId id="1154" r:id="rId48"/>
    <p:sldId id="1156" r:id="rId49"/>
    <p:sldId id="1157" r:id="rId50"/>
    <p:sldId id="1193" r:id="rId51"/>
    <p:sldId id="1194" r:id="rId52"/>
    <p:sldId id="1195" r:id="rId53"/>
    <p:sldId id="1196" r:id="rId54"/>
    <p:sldId id="1197" r:id="rId55"/>
    <p:sldId id="1198" r:id="rId56"/>
    <p:sldId id="1199" r:id="rId57"/>
    <p:sldId id="1200" r:id="rId58"/>
    <p:sldId id="1201" r:id="rId59"/>
    <p:sldId id="1202" r:id="rId60"/>
    <p:sldId id="1203" r:id="rId61"/>
    <p:sldId id="1204" r:id="rId62"/>
    <p:sldId id="1205" r:id="rId63"/>
    <p:sldId id="1206" r:id="rId64"/>
    <p:sldId id="1207" r:id="rId65"/>
    <p:sldId id="1208" r:id="rId66"/>
    <p:sldId id="1209" r:id="rId67"/>
    <p:sldId id="1210" r:id="rId68"/>
    <p:sldId id="1235" r:id="rId69"/>
    <p:sldId id="1236" r:id="rId70"/>
    <p:sldId id="1238" r:id="rId71"/>
    <p:sldId id="1239" r:id="rId72"/>
    <p:sldId id="1240" r:id="rId73"/>
    <p:sldId id="1241" r:id="rId74"/>
    <p:sldId id="1242" r:id="rId75"/>
    <p:sldId id="1243" r:id="rId76"/>
    <p:sldId id="1244" r:id="rId77"/>
    <p:sldId id="1245" r:id="rId78"/>
    <p:sldId id="1246" r:id="rId79"/>
    <p:sldId id="1247" r:id="rId80"/>
    <p:sldId id="1248" r:id="rId81"/>
    <p:sldId id="1249" r:id="rId82"/>
    <p:sldId id="1250" r:id="rId83"/>
    <p:sldId id="1251" r:id="rId84"/>
    <p:sldId id="1252" r:id="rId85"/>
    <p:sldId id="1253" r:id="rId86"/>
    <p:sldId id="1254" r:id="rId87"/>
    <p:sldId id="1255" r:id="rId88"/>
    <p:sldId id="1257" r:id="rId89"/>
    <p:sldId id="1256" r:id="rId90"/>
    <p:sldId id="1258" r:id="rId91"/>
    <p:sldId id="1259" r:id="rId92"/>
    <p:sldId id="1260" r:id="rId93"/>
    <p:sldId id="1261" r:id="rId94"/>
    <p:sldId id="1262" r:id="rId95"/>
    <p:sldId id="1263" r:id="rId96"/>
    <p:sldId id="1264" r:id="rId97"/>
    <p:sldId id="1265" r:id="rId98"/>
    <p:sldId id="1266" r:id="rId99"/>
    <p:sldId id="1267" r:id="rId100"/>
    <p:sldId id="1268" r:id="rId101"/>
    <p:sldId id="1269" r:id="rId102"/>
    <p:sldId id="1270" r:id="rId103"/>
    <p:sldId id="889" r:id="rId104"/>
  </p:sldIdLst>
  <p:sldSz cx="12190095" cy="6859270"/>
  <p:notesSz cx="6858000" cy="9144000"/>
  <p:custDataLst>
    <p:tags r:id="rId110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2" userDrawn="1">
          <p15:clr>
            <a:srgbClr val="A4A3A4"/>
          </p15:clr>
        </p15:guide>
        <p15:guide id="2" pos="632" userDrawn="1">
          <p15:clr>
            <a:srgbClr val="A4A3A4"/>
          </p15:clr>
        </p15:guide>
        <p15:guide id="3" pos="69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982"/>
        <p:guide pos="632"/>
        <p:guide pos="69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685"/>
        <p:guide pos="221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0" Type="http://schemas.openxmlformats.org/officeDocument/2006/relationships/tags" Target="tags/tag490.xml"/><Relationship Id="rId11" Type="http://schemas.openxmlformats.org/officeDocument/2006/relationships/slide" Target="slides/slide7.xml"/><Relationship Id="rId109" Type="http://schemas.openxmlformats.org/officeDocument/2006/relationships/commentAuthors" Target="commentAuthors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handoutMaster" Target="handoutMasters/handoutMaster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image" Target="../media/image3.png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3" Type="http://schemas.openxmlformats.org/officeDocument/2006/relationships/notesSlide" Target="../notesSlides/notesSlide13.xml"/><Relationship Id="rId22" Type="http://schemas.openxmlformats.org/officeDocument/2006/relationships/slideLayout" Target="../slideLayouts/slideLayout10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3.png"/><Relationship Id="rId1" Type="http://schemas.openxmlformats.org/officeDocument/2006/relationships/tags" Target="../tags/tag7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tags" Target="../tags/tag12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5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1" Type="http://schemas.openxmlformats.org/officeDocument/2006/relationships/notesSlide" Target="../notesSlides/notesSlide35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136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hyperlink" Target="http://stu.ityxb.com/ebookview/636d352388afc23e51f0a6e8501cff14" TargetMode="External"/><Relationship Id="rId5" Type="http://schemas.openxmlformats.org/officeDocument/2006/relationships/tags" Target="../tags/tag153.xml"/><Relationship Id="rId4" Type="http://schemas.openxmlformats.org/officeDocument/2006/relationships/image" Target="../media/image4.png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5" Type="http://schemas.openxmlformats.org/officeDocument/2006/relationships/notesSlide" Target="../notesSlides/notesSlide3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50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hyperlink" Target="http://stu.ityxb.com/ebookview/4241daad6d2a43b6aea218ecf161b8d0" TargetMode="External"/><Relationship Id="rId5" Type="http://schemas.openxmlformats.org/officeDocument/2006/relationships/tags" Target="../tags/tag162.xml"/><Relationship Id="rId4" Type="http://schemas.openxmlformats.org/officeDocument/2006/relationships/image" Target="../media/image4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5" Type="http://schemas.openxmlformats.org/officeDocument/2006/relationships/notesSlide" Target="../notesSlides/notesSlide3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5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hyperlink" Target="http://stu.ityxb.com/ebookview/243d925dcf4c7e6d07c246ca80dc4bad" TargetMode="External"/><Relationship Id="rId5" Type="http://schemas.openxmlformats.org/officeDocument/2006/relationships/tags" Target="../tags/tag171.xml"/><Relationship Id="rId4" Type="http://schemas.openxmlformats.org/officeDocument/2006/relationships/image" Target="../media/image4.png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5" Type="http://schemas.openxmlformats.org/officeDocument/2006/relationships/notesSlide" Target="../notesSlides/notesSlide3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6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image" Target="../media/image3.png"/><Relationship Id="rId1" Type="http://schemas.openxmlformats.org/officeDocument/2006/relationships/tags" Target="../tags/tag19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hyperlink" Target="http://stu.ityxb.com/ebookview/435dab73769a2f0f6b8e0273cf61f044" TargetMode="External"/><Relationship Id="rId5" Type="http://schemas.openxmlformats.org/officeDocument/2006/relationships/tags" Target="../tags/tag202.xml"/><Relationship Id="rId4" Type="http://schemas.openxmlformats.org/officeDocument/2006/relationships/image" Target="../media/image4.png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6" Type="http://schemas.openxmlformats.org/officeDocument/2006/relationships/notesSlide" Target="../notesSlides/notesSlide46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99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hyperlink" Target="http://stu.ityxb.com/ebookview/7d10f38a4ed1f88c8791150be9002237" TargetMode="External"/><Relationship Id="rId5" Type="http://schemas.openxmlformats.org/officeDocument/2006/relationships/tags" Target="../tags/tag212.xml"/><Relationship Id="rId4" Type="http://schemas.openxmlformats.org/officeDocument/2006/relationships/image" Target="../media/image4.png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5" Type="http://schemas.openxmlformats.org/officeDocument/2006/relationships/notesSlide" Target="../notesSlides/notesSlide4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0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8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hyperlink" Target="http://stu.ityxb.com/ebookview/372f53f12ce7582778654857bba430e1" TargetMode="External"/><Relationship Id="rId5" Type="http://schemas.openxmlformats.org/officeDocument/2006/relationships/tags" Target="../tags/tag226.xml"/><Relationship Id="rId4" Type="http://schemas.openxmlformats.org/officeDocument/2006/relationships/image" Target="../media/image4.png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5" Type="http://schemas.openxmlformats.org/officeDocument/2006/relationships/notesSlide" Target="../notesSlides/notesSlide4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2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image" Target="../media/image3.png"/><Relationship Id="rId1" Type="http://schemas.openxmlformats.org/officeDocument/2006/relationships/tags" Target="../tags/tag237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hyperlink" Target="http://stu.ityxb.com/ebookview/d348de2d7e770824ef05414d5442a5b7" TargetMode="External"/><Relationship Id="rId5" Type="http://schemas.openxmlformats.org/officeDocument/2006/relationships/tags" Target="../tags/tag247.xml"/><Relationship Id="rId4" Type="http://schemas.openxmlformats.org/officeDocument/2006/relationships/image" Target="../media/image4.png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6" Type="http://schemas.openxmlformats.org/officeDocument/2006/relationships/notesSlide" Target="../notesSlides/notesSlide53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44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hyperlink" Target="http://stu.ityxb.com/ebookview/29071191f192652224bfe5b86f4d0497" TargetMode="External"/><Relationship Id="rId5" Type="http://schemas.openxmlformats.org/officeDocument/2006/relationships/tags" Target="../tags/tag257.xml"/><Relationship Id="rId4" Type="http://schemas.openxmlformats.org/officeDocument/2006/relationships/image" Target="../media/image4.png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5" Type="http://schemas.openxmlformats.org/officeDocument/2006/relationships/notesSlide" Target="../notesSlides/notesSlide54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5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5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tags" Target="../tags/tag26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image" Target="../media/image3.png"/><Relationship Id="rId1" Type="http://schemas.openxmlformats.org/officeDocument/2006/relationships/tags" Target="../tags/tag268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74.xml"/><Relationship Id="rId1" Type="http://schemas.openxmlformats.org/officeDocument/2006/relationships/tags" Target="../tags/tag273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hyperlink" Target="http://stu.ityxb.com/ebookview/d4ae3a1e58bfdc05b129502860704d4e" TargetMode="External"/><Relationship Id="rId5" Type="http://schemas.openxmlformats.org/officeDocument/2006/relationships/tags" Target="../tags/tag278.xml"/><Relationship Id="rId4" Type="http://schemas.openxmlformats.org/officeDocument/2006/relationships/image" Target="../media/image4.png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6" Type="http://schemas.openxmlformats.org/officeDocument/2006/relationships/notesSlide" Target="../notesSlides/notesSlide58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284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75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hyperlink" Target="http://stu.ityxb.com/ebookview/a9778bebb7c0e2a29db603a7b58db8e8" TargetMode="External"/><Relationship Id="rId5" Type="http://schemas.openxmlformats.org/officeDocument/2006/relationships/tags" Target="../tags/tag288.xml"/><Relationship Id="rId4" Type="http://schemas.openxmlformats.org/officeDocument/2006/relationships/image" Target="../media/image4.png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5" Type="http://schemas.openxmlformats.org/officeDocument/2006/relationships/notesSlide" Target="../notesSlides/notesSlide5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85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tags" Target="../tags/tag299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image" Target="../media/image3.png"/><Relationship Id="rId1" Type="http://schemas.openxmlformats.org/officeDocument/2006/relationships/tags" Target="../tags/tag304.xml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hyperlink" Target="http://stu.ityxb.com/ebookview/0116185c18c23dba9d12a6a491c3ae86" TargetMode="External"/><Relationship Id="rId6" Type="http://schemas.openxmlformats.org/officeDocument/2006/relationships/hyperlink" Target="http://stu.ityxb.com/ebookview/1542fb52765ed7ec29b1a5b3e7e54bf2" TargetMode="External"/><Relationship Id="rId5" Type="http://schemas.openxmlformats.org/officeDocument/2006/relationships/tags" Target="../tags/tag315.xml"/><Relationship Id="rId4" Type="http://schemas.openxmlformats.org/officeDocument/2006/relationships/image" Target="../media/image4.png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6" Type="http://schemas.openxmlformats.org/officeDocument/2006/relationships/notesSlide" Target="../notesSlides/notesSlide65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318.xml"/><Relationship Id="rId1" Type="http://schemas.openxmlformats.org/officeDocument/2006/relationships/tags" Target="../tags/tag312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hyperlink" Target="http://stu.ityxb.com/ebookview/dcc2691ddb650945b7620e2f4098f598" TargetMode="External"/><Relationship Id="rId5" Type="http://schemas.openxmlformats.org/officeDocument/2006/relationships/tags" Target="../tags/tag324.xml"/><Relationship Id="rId4" Type="http://schemas.openxmlformats.org/officeDocument/2006/relationships/image" Target="../media/image4.png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4" Type="http://schemas.openxmlformats.org/officeDocument/2006/relationships/notesSlide" Target="../notesSlides/notesSlide66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328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321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hyperlink" Target="http://stu.ityxb.com/ebookview/7e3dfbf479575c9b824a4de6675ce95b" TargetMode="External"/><Relationship Id="rId5" Type="http://schemas.openxmlformats.org/officeDocument/2006/relationships/tags" Target="../tags/tag332.xml"/><Relationship Id="rId4" Type="http://schemas.openxmlformats.org/officeDocument/2006/relationships/image" Target="../media/image4.png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4" Type="http://schemas.openxmlformats.org/officeDocument/2006/relationships/notesSlide" Target="../notesSlides/notesSlide67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336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329.xml"/></Relationships>
</file>

<file path=ppt/slides/_rels/slide6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8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tags" Target="../tags/tag337.xml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tags" Target="../tags/tag341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hyperlink" Target="http://stu.ityxb.com/ebookview/a2a509ac26cb6eb0dcc771e131c4409a" TargetMode="External"/><Relationship Id="rId5" Type="http://schemas.openxmlformats.org/officeDocument/2006/relationships/tags" Target="../tags/tag347.xml"/><Relationship Id="rId4" Type="http://schemas.openxmlformats.org/officeDocument/2006/relationships/image" Target="../media/image4.png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5" Type="http://schemas.openxmlformats.org/officeDocument/2006/relationships/notesSlide" Target="../notesSlides/notesSlide70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352.xml"/><Relationship Id="rId12" Type="http://schemas.openxmlformats.org/officeDocument/2006/relationships/tags" Target="../tags/tag351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344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hyperlink" Target="http://stu.ityxb.com/ebookview/81b64cc1227a6fdece692f0d9d78a29d" TargetMode="External"/><Relationship Id="rId5" Type="http://schemas.openxmlformats.org/officeDocument/2006/relationships/tags" Target="../tags/tag356.xml"/><Relationship Id="rId4" Type="http://schemas.openxmlformats.org/officeDocument/2006/relationships/image" Target="../media/image4.png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4" Type="http://schemas.openxmlformats.org/officeDocument/2006/relationships/notesSlide" Target="../notesSlides/notesSlide71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360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353.xml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2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image" Target="../media/image3.png"/><Relationship Id="rId1" Type="http://schemas.openxmlformats.org/officeDocument/2006/relationships/tags" Target="../tags/tag365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" Type="http://schemas.openxmlformats.org/officeDocument/2006/relationships/tags" Target="../tags/tag370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74.xml"/><Relationship Id="rId1" Type="http://schemas.openxmlformats.org/officeDocument/2006/relationships/tags" Target="../tags/tag37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5.xml"/></Relationships>
</file>

<file path=ppt/slides/_rels/slide7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tags" Target="../tags/tag376.xml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tags" Target="../tags/tag394.xml"/><Relationship Id="rId7" Type="http://schemas.openxmlformats.org/officeDocument/2006/relationships/hyperlink" Target="http://stu.ityxb.com/ebookview/3865c1d88ad196fb3bcfd13241b2d97b" TargetMode="External"/><Relationship Id="rId6" Type="http://schemas.openxmlformats.org/officeDocument/2006/relationships/tags" Target="../tags/tag393.xml"/><Relationship Id="rId5" Type="http://schemas.openxmlformats.org/officeDocument/2006/relationships/image" Target="../media/image4.png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5" Type="http://schemas.openxmlformats.org/officeDocument/2006/relationships/notesSlide" Target="../notesSlides/notesSlide80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397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396.xml"/><Relationship Id="rId1" Type="http://schemas.openxmlformats.org/officeDocument/2006/relationships/tags" Target="../tags/tag389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404.xml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hyperlink" Target="http://stu.ityxb.com/ebookview/4e7c2f41cf452e7bf589794c9fda90b0" TargetMode="External"/><Relationship Id="rId5" Type="http://schemas.openxmlformats.org/officeDocument/2006/relationships/tags" Target="../tags/tag401.xml"/><Relationship Id="rId4" Type="http://schemas.openxmlformats.org/officeDocument/2006/relationships/image" Target="../media/image4.png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4" Type="http://schemas.openxmlformats.org/officeDocument/2006/relationships/notesSlide" Target="../notesSlides/notesSlide81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405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398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tags" Target="../tags/tag412.xml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" Type="http://schemas.openxmlformats.org/officeDocument/2006/relationships/hyperlink" Target="http://stu.ityxb.com/ebookview/230f3c933d3c43ac0d75c4fcde162147" TargetMode="External"/><Relationship Id="rId5" Type="http://schemas.openxmlformats.org/officeDocument/2006/relationships/tags" Target="../tags/tag409.xml"/><Relationship Id="rId4" Type="http://schemas.openxmlformats.org/officeDocument/2006/relationships/image" Target="../media/image4.png"/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4" Type="http://schemas.openxmlformats.org/officeDocument/2006/relationships/notesSlide" Target="../notesSlides/notesSlide82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413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406.xml"/></Relationships>
</file>

<file path=ppt/slides/_rels/slide8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3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tags" Target="../tags/tag41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22.xml"/><Relationship Id="rId5" Type="http://schemas.openxmlformats.org/officeDocument/2006/relationships/tags" Target="../tags/tag421.xml"/><Relationship Id="rId4" Type="http://schemas.openxmlformats.org/officeDocument/2006/relationships/tags" Target="../tags/tag420.xml"/><Relationship Id="rId3" Type="http://schemas.openxmlformats.org/officeDocument/2006/relationships/tags" Target="../tags/tag419.xml"/><Relationship Id="rId2" Type="http://schemas.openxmlformats.org/officeDocument/2006/relationships/image" Target="../media/image3.png"/><Relationship Id="rId1" Type="http://schemas.openxmlformats.org/officeDocument/2006/relationships/tags" Target="../tags/tag418.xml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24.xml"/><Relationship Id="rId1" Type="http://schemas.openxmlformats.org/officeDocument/2006/relationships/tags" Target="../tags/tag423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26.xml"/><Relationship Id="rId1" Type="http://schemas.openxmlformats.org/officeDocument/2006/relationships/tags" Target="../tags/tag425.xml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8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433.xml"/><Relationship Id="rId6" Type="http://schemas.openxmlformats.org/officeDocument/2006/relationships/tags" Target="../tags/tag432.xml"/><Relationship Id="rId5" Type="http://schemas.openxmlformats.org/officeDocument/2006/relationships/tags" Target="../tags/tag431.xml"/><Relationship Id="rId4" Type="http://schemas.openxmlformats.org/officeDocument/2006/relationships/tags" Target="../tags/tag430.xml"/><Relationship Id="rId3" Type="http://schemas.openxmlformats.org/officeDocument/2006/relationships/tags" Target="../tags/tag429.xml"/><Relationship Id="rId2" Type="http://schemas.openxmlformats.org/officeDocument/2006/relationships/tags" Target="../tags/tag428.xml"/><Relationship Id="rId1" Type="http://schemas.openxmlformats.org/officeDocument/2006/relationships/tags" Target="../tags/tag427.xml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37.xml"/><Relationship Id="rId3" Type="http://schemas.openxmlformats.org/officeDocument/2006/relationships/tags" Target="../tags/tag436.xml"/><Relationship Id="rId2" Type="http://schemas.openxmlformats.org/officeDocument/2006/relationships/tags" Target="../tags/tag435.xml"/><Relationship Id="rId1" Type="http://schemas.openxmlformats.org/officeDocument/2006/relationships/tags" Target="../tags/tag434.xml"/></Relationships>
</file>

<file path=ppt/slides/_rels/slide9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41.xml"/><Relationship Id="rId3" Type="http://schemas.openxmlformats.org/officeDocument/2006/relationships/tags" Target="../tags/tag440.xml"/><Relationship Id="rId2" Type="http://schemas.openxmlformats.org/officeDocument/2006/relationships/tags" Target="../tags/tag439.xml"/><Relationship Id="rId1" Type="http://schemas.openxmlformats.org/officeDocument/2006/relationships/tags" Target="../tags/tag438.xml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" Type="http://schemas.openxmlformats.org/officeDocument/2006/relationships/tags" Target="../tags/tag44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tags" Target="../tags/tag446.xml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tags" Target="../tags/tag452.xml"/></Relationships>
</file>

<file path=ppt/slides/_rels/slide9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59.xml"/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" Type="http://schemas.openxmlformats.org/officeDocument/2006/relationships/tags" Target="../tags/tag456.xml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63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tags" Target="../tags/tag460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69.xml"/><Relationship Id="rId5" Type="http://schemas.openxmlformats.org/officeDocument/2006/relationships/tags" Target="../tags/tag468.xml"/><Relationship Id="rId4" Type="http://schemas.openxmlformats.org/officeDocument/2006/relationships/tags" Target="../tags/tag467.xml"/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tags" Target="../tags/tag464.xml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tags" Target="../tags/tag476.xml"/><Relationship Id="rId8" Type="http://schemas.openxmlformats.org/officeDocument/2006/relationships/tags" Target="../tags/tag475.xml"/><Relationship Id="rId7" Type="http://schemas.openxmlformats.org/officeDocument/2006/relationships/tags" Target="../tags/tag474.xml"/><Relationship Id="rId6" Type="http://schemas.openxmlformats.org/officeDocument/2006/relationships/hyperlink" Target="http://stu.ityxb.com/ebookview/463367c18ddac390757f0ba1995d9ba8" TargetMode="External"/><Relationship Id="rId5" Type="http://schemas.openxmlformats.org/officeDocument/2006/relationships/tags" Target="../tags/tag473.xml"/><Relationship Id="rId4" Type="http://schemas.openxmlformats.org/officeDocument/2006/relationships/image" Target="../media/image4.png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4" Type="http://schemas.openxmlformats.org/officeDocument/2006/relationships/notesSlide" Target="../notesSlides/notesSlide97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477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470.xml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hyperlink" Target="http://stu.ityxb.com/ebookview/116927560661b4c401fa0c27b7109689" TargetMode="External"/><Relationship Id="rId5" Type="http://schemas.openxmlformats.org/officeDocument/2006/relationships/tags" Target="../tags/tag481.xml"/><Relationship Id="rId4" Type="http://schemas.openxmlformats.org/officeDocument/2006/relationships/image" Target="../media/image4.png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4" Type="http://schemas.openxmlformats.org/officeDocument/2006/relationships/notesSlide" Target="../notesSlides/notesSlide98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485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478.xml"/></Relationships>
</file>

<file path=ppt/slides/_rels/slide9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9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tags" Target="../tags/tag489.xml"/><Relationship Id="rId3" Type="http://schemas.openxmlformats.org/officeDocument/2006/relationships/tags" Target="../tags/tag488.xml"/><Relationship Id="rId2" Type="http://schemas.openxmlformats.org/officeDocument/2006/relationships/tags" Target="../tags/tag487.xml"/><Relationship Id="rId1" Type="http://schemas.openxmlformats.org/officeDocument/2006/relationships/tags" Target="../tags/tag48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第2章 Spring中Bean的管理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8925" y="213487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Spring的IoC容器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，能够简述两个常见的IoC容器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339534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Bean的作用域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，能够简述Bean的5种作用域的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特点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，以及作用域的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配置方式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465709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Bean的配置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，能够基于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XML文件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、基于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注解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和基于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Java类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实现Bean的配置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8925" y="213487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Bean的实例化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构造方法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静态工厂、实例工厂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的方式实例化Bean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339534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Bean的装配方式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基于XML的装配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基于注解的装配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自动装配实现Bean的装配</a:t>
              </a:r>
              <a:endPara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465709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Bean的生命周期方法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的使用，能够定义Bean的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初始化方法和销毁方法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466340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在Spring框架中，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控制反转和依赖注入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基于Spring的Bean管理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。Spring的Bean管理是指Spring框架通过 IoC容器来管理应用程序中的Bean，主要包括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Bean的配置、实例化、注入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等。本章对Spring中Bean的管理进行详细讲解。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0358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379793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370985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64007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362106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Spring的IoC容器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62324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Bean的配置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915154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898328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Bean的作用域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370985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64007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362106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Bean的实例化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62324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Bean的装配方式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915154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898328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Bean的生命周期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了解Spring的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IoC容器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，能够简述两个常见的IoC容器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20872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347595"/>
            <a:ext cx="900112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Spring框架的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IoC容器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在Bean的管理中扮演着不可或缺的角色，IoC容器为应用程序提供了便利的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 管理机制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常见的IoC容器有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BeanFactory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ApplicationContext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下面将对这两个IoC容器进行讲解。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703560" y="385826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1805305"/>
            <a:ext cx="10163810" cy="232029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19646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BeanFactory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是Spring框架中最基础的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IoC容器之一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，BeanFactory采用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延迟加载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的方式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创建Bean的实例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，即只有在首次请求某个Bean时才会创建该Bean的实例。BeanFactory是一个接口，它定义了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管理和获取Bean对象的基本功能。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57162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62115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BeanFactory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214755" y="1986915"/>
          <a:ext cx="10036175" cy="4137660"/>
        </p:xfrm>
        <a:graphic>
          <a:graphicData uri="http://schemas.openxmlformats.org/drawingml/2006/table">
            <a:tbl>
              <a:tblPr/>
              <a:tblGrid>
                <a:gridCol w="4886960"/>
                <a:gridCol w="5149215"/>
              </a:tblGrid>
              <a:tr h="4140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charset="0"/>
                        </a:rPr>
                        <a:t>方法</a:t>
                      </a:r>
                      <a:endParaRPr 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charset="0"/>
                        </a:rPr>
                        <a:t>描述</a:t>
                      </a:r>
                      <a:endParaRPr 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Object getBean（String name）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根据指定的名称name获取Bean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&lt;T&gt; T getBean（String name,Class&lt;T&gt; type）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根据指定的名称name和类型type获取Bean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&lt;T&gt; T getBean（Class&lt;T&gt; requiredType）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根据指定的类型requiredType获取Bean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Object getBean（String name,Object... args）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根据指定的名称name和参数args获取Bean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274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booleanisTypeMatch（String name,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Resolvable </a:t>
                      </a:r>
                      <a:r>
                        <a:rPr lang="en-US" altLang="zh-CN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typeToMatch</a:t>
                      </a: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判断是否有与指定名称name和类型</a:t>
                      </a:r>
                      <a:r>
                        <a:rPr lang="en-US" altLang="zh-CN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typeToMatch</a:t>
                      </a: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相匹配的Bean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Class&lt;?&gt;getType（String name）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根据指定的名称name获取Bean的类型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 getAliases（String name）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根据指定的名称name获取与之对应的别名数组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containsBean（String name）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根据名称name判断Spring容器是否含有指定的Bean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4511040" y="1341120"/>
            <a:ext cx="313626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BeanFactory常用的方法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1805305"/>
            <a:ext cx="10163810" cy="389064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19646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ApplicationContext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是BeanFactory接口的子接口，它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继承了BeanFactory接口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的所有功能，并且提供了比BeanFactory更丰富的功能和扩展点，是Spring应用程序开发中经常使用的组件之一。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ApplicationContext在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启动时会自动加载和初始化所有定义的 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，这意味着在应用程序运行时，所有需要的Bean都已经准备就绪。Spring为了满足开发人员不同的需求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提供了多个ApplicationContext接口的实现类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，让开发人员可以根据项目的特点和需要选择合适的实现方式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zh-CN" altLang="en-US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57162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62115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ApplicationContext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Spring的IoC容器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4" name="直接连接符 41"/>
          <p:cNvCxnSpPr/>
          <p:nvPr>
            <p:custDataLst>
              <p:tags r:id="rId2"/>
            </p:custDataLst>
          </p:nvPr>
        </p:nvCxnSpPr>
        <p:spPr>
          <a:xfrm flipH="1">
            <a:off x="3689671" y="1851760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2"/>
          <p:cNvCxnSpPr/>
          <p:nvPr>
            <p:custDataLst>
              <p:tags r:id="rId3"/>
            </p:custDataLst>
          </p:nvPr>
        </p:nvCxnSpPr>
        <p:spPr>
          <a:xfrm flipH="1">
            <a:off x="3689671" y="3592538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43"/>
          <p:cNvCxnSpPr/>
          <p:nvPr>
            <p:custDataLst>
              <p:tags r:id="rId4"/>
            </p:custDataLst>
          </p:nvPr>
        </p:nvCxnSpPr>
        <p:spPr>
          <a:xfrm flipH="1">
            <a:off x="3689671" y="5305614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直接连接符 44"/>
          <p:cNvCxnSpPr/>
          <p:nvPr>
            <p:custDataLst>
              <p:tags r:id="rId5"/>
            </p:custDataLst>
          </p:nvPr>
        </p:nvCxnSpPr>
        <p:spPr>
          <a:xfrm>
            <a:off x="3689671" y="1851759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883204" y="1320077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4883204" y="303866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8"/>
            </p:custDataLst>
          </p:nvPr>
        </p:nvSpPr>
        <p:spPr>
          <a:xfrm>
            <a:off x="4883204" y="473208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>
            <p:custDataLst>
              <p:tags r:id="rId9"/>
            </p:custDataLst>
          </p:nvPr>
        </p:nvSpPr>
        <p:spPr>
          <a:xfrm>
            <a:off x="4965817" y="3130639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76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5160853" y="3345512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>
            <p:custDataLst>
              <p:tags r:id="rId11"/>
            </p:custDataLst>
          </p:nvPr>
        </p:nvSpPr>
        <p:spPr>
          <a:xfrm>
            <a:off x="4975178" y="1412051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>
            <p:custDataLst>
              <p:tags r:id="rId12"/>
            </p:custDataLst>
          </p:nvPr>
        </p:nvSpPr>
        <p:spPr>
          <a:xfrm>
            <a:off x="4965816" y="4843715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175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5190486" y="4970570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168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5160852" y="1543784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33"/>
          <p:cNvSpPr txBox="1"/>
          <p:nvPr>
            <p:custDataLst>
              <p:tags r:id="rId15"/>
            </p:custDataLst>
          </p:nvPr>
        </p:nvSpPr>
        <p:spPr>
          <a:xfrm>
            <a:off x="6290945" y="1834515"/>
            <a:ext cx="4483735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algn="l" defTabSz="1219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类路径下的XML文件加载Bean的定义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配置信息，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并解析配置文件中的信息初始化其中定义的 Bean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9"/>
          <p:cNvSpPr txBox="1"/>
          <p:nvPr>
            <p:custDataLst>
              <p:tags r:id="rId16"/>
            </p:custDataLst>
          </p:nvPr>
        </p:nvSpPr>
        <p:spPr>
          <a:xfrm>
            <a:off x="6302375" y="1412240"/>
            <a:ext cx="4288155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ClassPathXmlApplicationContext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33"/>
          <p:cNvSpPr txBox="1"/>
          <p:nvPr>
            <p:custDataLst>
              <p:tags r:id="rId17"/>
            </p:custDataLst>
          </p:nvPr>
        </p:nvSpPr>
        <p:spPr>
          <a:xfrm>
            <a:off x="6302375" y="3576320"/>
            <a:ext cx="4472305" cy="7188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l" defTabSz="1219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用于从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文件系统路径下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的XML文件加载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Bean定义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9"/>
          <p:cNvSpPr txBox="1"/>
          <p:nvPr>
            <p:custDataLst>
              <p:tags r:id="rId18"/>
            </p:custDataLst>
          </p:nvPr>
        </p:nvSpPr>
        <p:spPr>
          <a:xfrm>
            <a:off x="6313805" y="3153410"/>
            <a:ext cx="435229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FileSystemXmlApplicationContext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33"/>
          <p:cNvSpPr txBox="1"/>
          <p:nvPr>
            <p:custDataLst>
              <p:tags r:id="rId19"/>
            </p:custDataLst>
          </p:nvPr>
        </p:nvSpPr>
        <p:spPr>
          <a:xfrm>
            <a:off x="6313805" y="5274310"/>
            <a:ext cx="4460240" cy="359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l" defTabSz="1219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Java类和注解加载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定义的Bean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9"/>
          <p:cNvSpPr txBox="1"/>
          <p:nvPr>
            <p:custDataLst>
              <p:tags r:id="rId20"/>
            </p:custDataLst>
          </p:nvPr>
        </p:nvSpPr>
        <p:spPr>
          <a:xfrm>
            <a:off x="6325235" y="4852035"/>
            <a:ext cx="4877435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AnnotationConfigApplicationContext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9"/>
          <p:cNvSpPr txBox="1"/>
          <p:nvPr>
            <p:custDataLst>
              <p:tags r:id="rId21"/>
            </p:custDataLst>
          </p:nvPr>
        </p:nvSpPr>
        <p:spPr>
          <a:xfrm>
            <a:off x="325755" y="3139440"/>
            <a:ext cx="3246120" cy="9925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ApplicationContext常用的实现类</a:t>
            </a:r>
            <a:endParaRPr lang="zh-CN" altLang="en-US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Bean的配置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基于XML文件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、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基于注解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基于Java类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Bean的配置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20872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419350"/>
            <a:ext cx="9001125" cy="15589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在Spring中，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定义和配置应用程序中Bean的信息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，以便IoC容器能够管理这些 Bean。Spring中Bean的配置方式有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基于XML文件的配置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基于注解的配置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基于Java类的配置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。下面分别对这三种方式的配置进行讲解。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703560" y="385826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1.基于XML文件配置Bean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330325" y="2414270"/>
            <a:ext cx="940181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（Extensible Markup Language，可扩展标记语言）是一种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标准的数据传输和存储格式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，广泛应用于各种领域，包括配置文件、数据交换、Web服务等。在 Spring 中，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基于XML文件配置Bean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常见且传统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的方式，通过使用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&lt;bean&gt;标签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定义和配置应用程序中的Bean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。每个&lt;bean&gt;标签可以定义一个Bean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85900" y="2066290"/>
          <a:ext cx="9384030" cy="4198620"/>
        </p:xfrm>
        <a:graphic>
          <a:graphicData uri="http://schemas.openxmlformats.org/drawingml/2006/table">
            <a:tbl>
              <a:tblPr/>
              <a:tblGrid>
                <a:gridCol w="2468880"/>
                <a:gridCol w="6915150"/>
              </a:tblGrid>
              <a:tr h="541020">
                <a:tc>
                  <a:txBody>
                    <a:bodyPr/>
                    <a:p>
                      <a:pPr indent="0" algn="ctr" fontAlgn="t">
                        <a:lnSpc>
                          <a:spcPct val="110000"/>
                        </a:lnSpc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属性</a:t>
                      </a:r>
                      <a:endParaRPr lang="en-US" alt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t">
                        <a:lnSpc>
                          <a:spcPct val="110000"/>
                        </a:lnSpc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alt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用于指定Bean在容器中的唯一标注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用于指定Bean在容器中的名称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class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用于指定Bean的具体类型，即Bean的全限定类名，让IoC容器要实例化的类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scope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用于指定Bean的作用域，常见的值有singleton（单例）、prototype（原型）、request（请求）、session（会话）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init-method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指定Bean初始化时调用的方法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destroy-method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指定Bean销毁时调用的方法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693920" y="1412875"/>
            <a:ext cx="29679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&lt;bean&gt;标签的常用属性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_4"/>
          <p:cNvSpPr/>
          <p:nvPr>
            <p:custDataLst>
              <p:tags r:id="rId1"/>
            </p:custDataLst>
          </p:nvPr>
        </p:nvSpPr>
        <p:spPr>
          <a:xfrm>
            <a:off x="1336040" y="2052955"/>
            <a:ext cx="9486265" cy="402590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&lt;constructor-arg&gt;标签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设置Bean的构造方法参数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，当Bean的类有多个构造方法，或者构造方法需要参数时，可以使用此标签来明确指定要使用的构造方法及其参数。&lt;constructor-arg&gt;标签的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常用属性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如下。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①　index：用于指定构造方法的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参数索引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，参数索引从0开始依次递增1。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②　type：用于指定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构造方法的参数类型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③　name：用于指定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构造方法的参数名称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④　value：用于指定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要注入的常量值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⑤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ref：用于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引用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另一个Bean。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Title 1"/>
          <p:cNvSpPr txBox="1"/>
          <p:nvPr>
            <p:custDataLst>
              <p:tags r:id="rId2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775" y="1106170"/>
            <a:ext cx="3298825" cy="476905"/>
            <a:chOff x="852276" y="1797999"/>
            <a:chExt cx="2780020" cy="476905"/>
          </a:xfrm>
        </p:grpSpPr>
        <p:sp>
          <p:nvSpPr>
            <p:cNvPr id="7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4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（1）&lt;constructor-arg&gt;标签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>
            <p:custDataLst>
              <p:tags r:id="rId1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775" y="1106170"/>
            <a:ext cx="3298825" cy="476905"/>
            <a:chOff x="852276" y="1797999"/>
            <a:chExt cx="2780020" cy="476905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（1）&lt;constructor-arg&gt;标签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017270" y="1842135"/>
            <a:ext cx="821880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&lt;constructor-arg&gt;标签的使用示例如下。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967740" y="2549525"/>
            <a:ext cx="10337800" cy="27997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489710" y="2581910"/>
            <a:ext cx="8856345" cy="224790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&lt;bean id="person" class="com.itheima.Person"&gt;  </a:t>
            </a:r>
            <a:r>
              <a:rPr lang="en-US" sz="1800">
                <a:latin typeface="Courier New" panose="02070409020205090404" pitchFamily="49" charset="0"/>
                <a:cs typeface="Times New Roman" panose="02020503050405090304" charset="0"/>
                <a:sym typeface="+mn-ea"/>
              </a:rPr>
              <a:t>    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&lt;constructor-arg index="0" value="</a:t>
            </a:r>
            <a:r>
              <a:rPr lang="zh-CN" sz="1800">
                <a:latin typeface="Courier New" panose="02070409020205090404" pitchFamily="49" charset="0"/>
                <a:ea typeface="宋体" pitchFamily="2" charset="-122"/>
                <a:sym typeface="+mn-ea"/>
              </a:rPr>
              <a:t>张三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"/&gt;  </a:t>
            </a:r>
            <a:r>
              <a:rPr lang="en-US" sz="1800">
                <a:latin typeface="Courier New" panose="02070409020205090404" pitchFamily="49" charset="0"/>
                <a:cs typeface="Times New Roman" panose="02020503050405090304" charset="0"/>
                <a:sym typeface="+mn-ea"/>
              </a:rPr>
              <a:t>    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&lt;constructor-arg index="1" value="</a:t>
            </a:r>
            <a:r>
              <a:rPr lang="zh-CN" sz="1800">
                <a:latin typeface="Courier New" panose="02070409020205090404" pitchFamily="49" charset="0"/>
                <a:ea typeface="宋体" pitchFamily="2" charset="-122"/>
                <a:sym typeface="+mn-ea"/>
              </a:rPr>
              <a:t>男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"/&gt;  </a:t>
            </a:r>
            <a:r>
              <a:rPr lang="en-US" sz="1800">
                <a:latin typeface="Courier New" panose="02070409020205090404" pitchFamily="49" charset="0"/>
                <a:cs typeface="Times New Roman" panose="02020503050405090304" charset="0"/>
                <a:sym typeface="+mn-ea"/>
              </a:rPr>
              <a:t>    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&lt;constructor-arg name="age" value="30"/&gt;  </a:t>
            </a:r>
            <a:r>
              <a:rPr lang="en-US" sz="1800">
                <a:latin typeface="Courier New" panose="02070409020205090404" pitchFamily="49" charset="0"/>
                <a:cs typeface="Times New Roman" panose="02020503050405090304" charset="0"/>
                <a:sym typeface="+mn-ea"/>
              </a:rPr>
              <a:t>    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&lt;constructor-arg name="address"</a:t>
            </a:r>
            <a:r>
              <a:rPr lang="en-US" sz="1800">
                <a:latin typeface="Courier New" panose="02070409020205090404" pitchFamily="49" charset="0"/>
                <a:cs typeface="Times New Roman" panose="02020503050405090304" charset="0"/>
                <a:sym typeface="+mn-ea"/>
              </a:rPr>
              <a:t> </a:t>
            </a:r>
            <a:r>
              <a:rPr lang="en-US" sz="1800">
                <a:latin typeface="Courier New" panose="02070409020205090404" pitchFamily="49" charset="0"/>
                <a:sym typeface="+mn-ea"/>
              </a:rPr>
              <a:t>ref="addressBean"/&gt;  &lt;/bean&gt;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_4"/>
          <p:cNvSpPr/>
          <p:nvPr>
            <p:custDataLst>
              <p:tags r:id="rId1"/>
            </p:custDataLst>
          </p:nvPr>
        </p:nvSpPr>
        <p:spPr>
          <a:xfrm>
            <a:off x="1336040" y="2052955"/>
            <a:ext cx="9486265" cy="265430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&lt;property&gt;标签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设置Bean的属性值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，对应的Bean需要具有属性相应的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getter方法和 setter方法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。&lt;property&gt;标签的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常用属性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如下。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①　name: 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属性的名称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②　value: 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要注入的常量值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③  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ref: 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引用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的另一个Bean。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Title 1"/>
          <p:cNvSpPr txBox="1"/>
          <p:nvPr>
            <p:custDataLst>
              <p:tags r:id="rId2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775" y="1106170"/>
            <a:ext cx="3298825" cy="476905"/>
            <a:chOff x="852276" y="1797999"/>
            <a:chExt cx="2780020" cy="476905"/>
          </a:xfrm>
        </p:grpSpPr>
        <p:sp>
          <p:nvSpPr>
            <p:cNvPr id="7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4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（2）&lt;property&gt;标签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>
            <p:custDataLst>
              <p:tags r:id="rId1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775" y="1106170"/>
            <a:ext cx="3298825" cy="476905"/>
            <a:chOff x="852276" y="1797999"/>
            <a:chExt cx="2780020" cy="476905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（2）&lt;property&gt;标签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017270" y="1842135"/>
            <a:ext cx="821880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&lt;property&gt;标签的使用示例如下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967740" y="2549525"/>
            <a:ext cx="10337800" cy="1938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489710" y="2581910"/>
            <a:ext cx="8856345" cy="18732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&lt;bean id="person" class="com.itheima.Person"&gt;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&lt;property name="name" value="张三"/&gt;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&lt;property name="address" ref="addressBean"/&gt;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&lt;/bean&gt;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>
            <p:custDataLst>
              <p:tags r:id="rId1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775" y="1106170"/>
            <a:ext cx="3298825" cy="476905"/>
            <a:chOff x="852276" y="1797999"/>
            <a:chExt cx="2780020" cy="476905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（3）&lt;list&gt;标签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017270" y="1842135"/>
            <a:ext cx="102717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&lt;list&gt;标签用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于设置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Bean中List类型的属性值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，通常嵌套在&lt;property&gt;标签中使用， &lt;list&gt;标签中可以包含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&lt;value&gt;标签或&lt;ref&gt;标签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指定List集合中的元素值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，示例如下。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967740" y="3051810"/>
            <a:ext cx="10337800" cy="3467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489710" y="3084195"/>
            <a:ext cx="8856345" cy="18732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&lt;bean id="person" class="com.itheima.Person"&gt;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&lt;property name="hobbies"&gt;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&lt;list&gt;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    &lt;value&gt;Reading&lt;/value&gt;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    &lt;value&gt;Writing&lt;/value&gt;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    &lt;ref bean="hobbyBean"/&gt;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&lt;/list&gt;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&lt;/property&gt;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&lt;/bean&gt;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>
            <p:custDataLst>
              <p:tags r:id="rId1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775" y="1106170"/>
            <a:ext cx="3298825" cy="476905"/>
            <a:chOff x="852276" y="1797999"/>
            <a:chExt cx="2780020" cy="476905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（4）&lt;set&gt;标签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017270" y="1913890"/>
            <a:ext cx="1027176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&lt;set&gt;标签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用于设置Bean中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Set类型的属性值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，其使用方式与&lt;list&gt;类似。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>
            <p:custDataLst>
              <p:tags r:id="rId1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04240" y="1167130"/>
            <a:ext cx="3298825" cy="476905"/>
            <a:chOff x="852276" y="1797999"/>
            <a:chExt cx="2780020" cy="476905"/>
          </a:xfrm>
        </p:grpSpPr>
        <p:sp>
          <p:nvSpPr>
            <p:cNvPr id="4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（5）&lt;map&gt;标签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054735" y="1903095"/>
            <a:ext cx="102717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&lt;map&gt;标签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设置Bean中Map类型的属性值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，Map中每个键值对通过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&lt;entry&gt;标签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设置，示例如下。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967740" y="2908300"/>
            <a:ext cx="10337800" cy="3175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1489710" y="2940685"/>
            <a:ext cx="8856345" cy="18732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&lt;bean id="person" class="com.itheima.Person"&gt;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&lt;property name="OrderInfo"&gt;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&lt;map&gt;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    &lt;entry key="id" value="1"/&gt;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    &lt;entry key="amount" value="100"/&gt;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    &lt;/map&gt;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&lt;/property&gt;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&lt;/bean&gt;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2.基于注解配置Bean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330325" y="2414270"/>
            <a:ext cx="940181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基于XML配置Bean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时，需要手动编写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大量的XML代码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来定义和配置Bean，这使得配置过程变得</a:t>
            </a:r>
            <a:r>
              <a:rPr lang="zh-CN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烦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琐且容易出错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。同时XML配置文件与代码分离，使得配置信息与代码逻辑不紧密耦合，随着项目规模的扩大，XML配置文件的数量和复杂度也会增加，导致代码的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可读性差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维护变得困难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。为了解决上述问题，Spring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引入了基于注解的方式配置Bean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89965" y="1266190"/>
            <a:ext cx="1025525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从Spring 2.5开始，开发者可以在Bean的实现类上使用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@Component注解或其派生注解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（如@Service、@Repository、@Controller等）来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这些类作为Spring容器管理的Bean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。被这些注解标注的类会被视为Spring容器中的一个组件，并由Spring进行管理。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当使用注解配置Bean的时候，通常需要在Spring程序的配置文件中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配置组件扫描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。组件扫描可以指定Spring在什么位置进行扫描，扫描的过程如果发现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标记了@Component注解或其派生注解的类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后，会将这些类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注册为Spring的Bean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。在Spring配置文件中，开发者可以通过 &lt;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context:component-scan&gt;标签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指定组件扫描的路径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967740" y="5204460"/>
            <a:ext cx="10337800" cy="597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489710" y="5236845"/>
            <a:ext cx="8856345" cy="4673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&lt;context:component-scan base-package="com.itheima" /&gt;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3.基于Java类配置Bean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330325" y="2414270"/>
            <a:ext cx="940181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基于注解的方式配置Bean可以实现简洁的声明式配置Bean，当如果需要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在Bean的初始化过程中调用其他Bean的方法、执行额外的设置步骤等操作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的配置方式则显得有些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局限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。对此，Spring提供了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基于Java类的方式配置Bean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。基于Java类配置Bean是指通过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编写Java类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使用特定的注解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定义和注册Bean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，这种方式提供了更加灵活、明确和强大的配置能力，尤其适用于需要复杂逻辑或条件判断的场景。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3.基于Java类配置Bean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330325" y="2414270"/>
            <a:ext cx="940181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在Spring中提供了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@Configuration注解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用于将一个Java类标记为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配置类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，在配置类中定义用于创建和初始化Bean的方法可以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实现Bean的定义和配置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。配置类中创建和初始化Bean的方法需要返回一个实例对象并在方法上添加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@Bean注解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标注，这样配置类加载成功后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方法返回的实例对象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将会由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Spring容器管理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，Bean的名称默认为方法名。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Bean的配置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3.基于Java类配置Bean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993775" y="198374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配置类上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@ComponentScan注解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指定加载该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配置类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时需要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扫描的包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，示例如下。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967740" y="3051810"/>
            <a:ext cx="10337800" cy="3175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489710" y="3084195"/>
            <a:ext cx="8856345" cy="18732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@Configuration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@ComponentScan("com.itheima")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public class AppConfig {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@Bean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public MyBean myBean()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        return new MyBean();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7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8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Bean的作用域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，能够简述Bean的5种作用域的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特点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，以及作用域的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配置方式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>
            <p:custDataLst>
              <p:tags r:id="rId1"/>
            </p:custDataLst>
          </p:nvPr>
        </p:nvSpPr>
        <p:spPr>
          <a:xfrm>
            <a:off x="993775" y="1194435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Spring容器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Bean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时，还可以为该Bean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指定作用域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，Bean的作用域就是指Bean的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有效范围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。Spring容器为Bean指定了5种作用域，具体如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表所示。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547495" y="2642870"/>
          <a:ext cx="9271000" cy="2981325"/>
        </p:xfrm>
        <a:graphic>
          <a:graphicData uri="http://schemas.openxmlformats.org/drawingml/2006/table">
            <a:tbl>
              <a:tblPr/>
              <a:tblGrid>
                <a:gridCol w="1779905"/>
                <a:gridCol w="7491095"/>
              </a:tblGrid>
              <a:tr h="512445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作用域</a:t>
                      </a:r>
                      <a:endParaRPr lang="en-US" alt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说明</a:t>
                      </a:r>
                      <a:endParaRPr lang="en-US" alt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singleton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singleton（单例）是Spring框架的默认作用域，当将Bean的作用域设置为singleton 时，在Spring容器中只会创建一个Bean，该单一的Bean将在整个应用程序的生命周期内被共享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prototype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当将Bean的作用域设置为prototype（原型）时，每次从容器中请求Bean都会创建一个新的Bean。这意味着每个请求都有自己的Bean，Bean的状态不会在不同的请求之间共享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025" y="1548765"/>
          <a:ext cx="9475470" cy="4227830"/>
        </p:xfrm>
        <a:graphic>
          <a:graphicData uri="http://schemas.openxmlformats.org/drawingml/2006/table">
            <a:tbl>
              <a:tblPr/>
              <a:tblGrid>
                <a:gridCol w="2238375"/>
                <a:gridCol w="7237095"/>
              </a:tblGrid>
              <a:tr h="449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作用域</a:t>
                      </a:r>
                      <a:endParaRPr lang="en-US" altLang="en-US" sz="1800" b="1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itchFamily="2" charset="-122"/>
                          <a:ea typeface="宋体" pitchFamily="2" charset="-122"/>
                          <a:cs typeface="宋体" pitchFamily="2" charset="-122"/>
                        </a:rPr>
                        <a:t>说明</a:t>
                      </a:r>
                      <a:endParaRPr lang="en-US" altLang="en-US" sz="1800" b="1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5920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当将Bean的作用域设置为request（请求）时，在Web应用中，每个HTTP请求都有其自己的Bean，并且该实例仅在当前HTTP请求内有效，这意味着Bean的生命周期与单个HTTP请求的生命周期相同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598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session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当将Bean的作用域设置为session（会话）时，在Web应用中，每个HTTP会话都有其自己的Bean，并且该实例仅在当前HTTP会话内有效，这意味着Bean的生命周期与单个HTTP会话的生命周期相同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5920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application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当将Bean的作用域设置为application（应用）时，在Web应用中，整个Web应用的生命周期内只存在一个Bean，该 Bean在整个Web应用中都有效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原创设计师QQ598969553          _6"/>
          <p:cNvSpPr/>
          <p:nvPr>
            <p:custDataLst>
              <p:tags r:id="rId1"/>
            </p:custDataLst>
          </p:nvPr>
        </p:nvSpPr>
        <p:spPr>
          <a:xfrm>
            <a:off x="1270000" y="1341120"/>
            <a:ext cx="516255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2"/>
            </p:custDataLst>
          </p:nvPr>
        </p:nvSpPr>
        <p:spPr>
          <a:xfrm>
            <a:off x="982980" y="1390650"/>
            <a:ext cx="5448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）通过XML 配置文件设置Bean的作用域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itle 1"/>
          <p:cNvSpPr txBox="1"/>
          <p:nvPr>
            <p:custDataLst>
              <p:tags r:id="rId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原创设计师QQ598969553          _6"/>
          <p:cNvSpPr/>
          <p:nvPr>
            <p:custDataLst>
              <p:tags r:id="rId4"/>
            </p:custDataLst>
          </p:nvPr>
        </p:nvSpPr>
        <p:spPr>
          <a:xfrm>
            <a:off x="1297305" y="3523615"/>
            <a:ext cx="516255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原创设计师QQ598969553          _7"/>
          <p:cNvSpPr txBox="1"/>
          <p:nvPr>
            <p:custDataLst>
              <p:tags r:id="rId5"/>
            </p:custDataLst>
          </p:nvPr>
        </p:nvSpPr>
        <p:spPr>
          <a:xfrm>
            <a:off x="1153795" y="3573145"/>
            <a:ext cx="5448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defTabSz="1216660">
              <a:spcBef>
                <a:spcPct val="20000"/>
              </a:spcBef>
              <a:defRPr/>
            </a:pPr>
            <a:r>
              <a:rPr 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通过注解设置Bean的作用域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967740" y="2118995"/>
            <a:ext cx="10337800" cy="927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879475" y="2151380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&lt;bean id="userService" class="com.itheima.UserService" scope="singleton"&gt;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&lt;/bean&gt;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019810" y="4220845"/>
            <a:ext cx="10337800" cy="1744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931545" y="4253230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@Component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@Scope("prototype")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public class MyBean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2469239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（1）创建项目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32467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名称为chapter02的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Maven项目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pom.xml文件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引入Spring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框架相关的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82980" y="112522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基于注解的方式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设置Bean的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singleton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作用域和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prototype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作用域为例，演示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Bean作用域的设置和效果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（2）自定义类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在chapter02项目的src/main/java目录下创建com.itheima.pojo包，并在该包下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自定义User类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,具体代码如文件2-1所示。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（3）创建配置类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AppConfig.java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在chapter02项目的src/main/java目录下创建com.itheima.config包，并在该包下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创建配置类AppConfig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，在该配置类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定义方法注册Bean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，具体代码如文件2-2所示。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（4）定义测试类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SpringApp.java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在chapter02项目的com.itheima文件夹下创建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测试类SpringApp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，在测试类中定义main()方法，在main()方法中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加载AppConfig配置文件初始化IoC容器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，并在容器中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获取2次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User实例进行输出和比较，具体代码如文件2-3所示。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运行文件2-3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136265" y="2709863"/>
            <a:ext cx="5917127" cy="252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将文件2-2第8行的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 @Scope("singleton")修改为 @Scope("prototype")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再次运行运行文件2-3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Bean的作用域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-214748260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99105" y="2925128"/>
            <a:ext cx="5487887" cy="275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Bean的实例化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2.4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212280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347595"/>
            <a:ext cx="900112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在面向对象程序中，如要使用某个对象，就需要先实例化出这个对象。同样地，在Spring中，要想使用容器中的Bean对象，也需要实例化Bean。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实例化Bean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有3种方式，分别是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静态工厂实例化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实例工厂实例化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。本节将这3种Bean的实例化的方式进行讲解。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703560" y="385826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构造方法实例化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构造方法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的方式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实例化Bean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8"/>
          <p:cNvSpPr txBox="1"/>
          <p:nvPr>
            <p:custDataLst>
              <p:tags r:id="rId2"/>
            </p:custDataLst>
          </p:nvPr>
        </p:nvSpPr>
        <p:spPr>
          <a:xfrm>
            <a:off x="1043305" y="2132330"/>
            <a:ext cx="1006284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Spring的构造方法实例化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是指在Spring容器启动时，通过调用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Bean对应类的构造方法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创建和实例化Bean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的过程。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默认情况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Spring会调用类的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无参构造方法实例化Bean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，开发者也可以在配置Bean的时候，指定使用类的哪个构造方法实例化Bean。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（1）创建配置文件并定义Bean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 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52920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在chapter02项目的src/main/resources目录下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创建applicationContext.xml配置文件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，并在applicationContext.xml配置文件中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，具体代码如文件2-4所示。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下面使用XML配置文件的方式演示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基于构造方法实例化Bean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249404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（2）定义测试类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InstantiationTest.java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02692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在chapter02项目的com.itheima文件夹下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创建测试类InstantiationTest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，在测试类中定义main()方法，在main()方法中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加载applicationContext.xml配置文件初始化IoC容器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，并在容器中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获取User实例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进行输出，具体代码如文件2-5所示。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249404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20269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运行文件2-5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-214748260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70543" y="2866708"/>
            <a:ext cx="6008419" cy="289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249404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（4）指定Bean的构造方法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02692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User类中包含2个构造方法，下面对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指定构造方法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的方式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配置Bean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修改文件2-4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中&lt;bean&gt;标签中Bean的信息，修改后如文件2-6所示。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51649" y="1249404"/>
            <a:ext cx="4237990" cy="476885"/>
            <a:chOff x="637011" y="1797999"/>
            <a:chExt cx="423799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62045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637011" y="1797999"/>
              <a:ext cx="423799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（5）测试指定构造方法实例化的效果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20269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运行文件2-5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-21474826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72765" y="2867025"/>
            <a:ext cx="6044850" cy="2908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静态工厂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实例化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静态工厂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的方式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实例化Bean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静态工厂实例化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8"/>
          <p:cNvSpPr txBox="1"/>
          <p:nvPr>
            <p:custDataLst>
              <p:tags r:id="rId2"/>
            </p:custDataLst>
          </p:nvPr>
        </p:nvSpPr>
        <p:spPr>
          <a:xfrm>
            <a:off x="1043305" y="1558290"/>
            <a:ext cx="10062845" cy="4210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是一种创建对象实例的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设计模式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，它通过在一个类中定义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生成对象实例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。在静态工厂中，用户可以根据需要在方法内部进行逻辑判断，实现定制化的对象创建方式，从而具有更大的灵活性和控制力。另外，静态工厂的设计还能够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隐藏对象的具体实现细节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，使外部调用者只需要关注如何获取对象实例，而无需了解实现细节。这种封装的特性有助于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降低耦合度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，提高代码的可维护性和可读性。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使用静态工厂方式实例化Bean时，需要开发者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定义一个静态工厂类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，并在其中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编写静态方法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 Bean的实例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。Bean配置文件中的 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&lt;bean&gt;标签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应该指定的是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，使用 &lt;bean&gt;标签的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factory-method 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指定静态工厂类中用于创建Bean的具体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（1）定义工厂类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UserStaticFactory.java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52920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在chapter02项目下创建com.itheima.factory包，在该包中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静态工厂类UserStaticFactory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静态方法createUser()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创建User的实例并返回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。UserStaticFactory类的代码如文件2-7所示。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下面通过案例演示如何使用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静态工厂方式实例化Bean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（2）配置静态工厂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8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09867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applicationContext.xml文件中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&lt;bean&gt;标签配置实例化Bean的静态工厂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，具体如文件2-8所示。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运行文件2-5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-214748259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32368" y="2905760"/>
            <a:ext cx="7324427" cy="304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实例工厂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实例化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，能够使用实例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静态工厂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的方式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实例化Bean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实例工厂实例化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8"/>
          <p:cNvSpPr txBox="1"/>
          <p:nvPr>
            <p:custDataLst>
              <p:tags r:id="rId2"/>
            </p:custDataLst>
          </p:nvPr>
        </p:nvSpPr>
        <p:spPr>
          <a:xfrm>
            <a:off x="1043305" y="1558290"/>
            <a:ext cx="10062845" cy="4210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是一种创建对象实例的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设计模式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，特指在工厂模式中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使用实例方法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（非静态方法）来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的工厂。在实例工厂中，需要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先创建工厂实例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，然后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调用实例方法来动态创建所需的对象实例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。与静态工厂相比，实例工厂更加灵活，能够根据具体情况动态创建对象实例。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实例工厂创建Bean的过程是通过实例工厂的方法直接实例化Bean，在XML配置文件中，除了使用class属性指定Bean所属的类外，还需要通过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factory-bean属性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指定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配置的实例工厂Bean的名字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factory-method属性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指定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调用实例工厂中的方法来创建Bean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（1）定义工厂类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9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UserInstanceFactory.java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52920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在chapter02项目的com.itheima.factory包中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实例工厂类UserInstanceFactory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方法createUser()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用于创建User的实例并返回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。UserInstanceFactory类的代码如文件2-9所示。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下面通过案例演示如何使用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实例工厂方式实例化Bean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249404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（2）配置实例工厂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10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202692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applicationContext.xml文件中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&lt;bean&gt;标签配置实例化Bean的静态工厂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，具体如文件2-10所示。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13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404" y="1249404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20269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运行文件2-5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>
            <p:custDataLst>
              <p:tags r:id="rId4"/>
            </p:custDataLst>
          </p:nvPr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实例工厂实例化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-214748259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11718" y="2833688"/>
            <a:ext cx="7659367" cy="2995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Bean的装配方式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2.5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26320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347595"/>
            <a:ext cx="900112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Bean的装配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是指将应用程序中的各个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Bean之间的依赖关系进行正确配置和管理的过程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，依赖注入是一种常见的实现Bean装配的方法，通过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依赖注入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，Spring容器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将所需的依赖对象注入Bean中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，从而实现Bean之间的解耦和灵活组装。Spring框架常用的Bean装配方式包括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自动装配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。本节将对这三种Bean的装配方式进行讲解。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703560" y="443230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Bean的装配方式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基于XML的装配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，能够基于XML的装配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实现Bean的装配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7764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1.属性的setter方法注入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>
            <p:custDataLst>
              <p:tags r:id="rId3"/>
            </p:custDataLst>
          </p:nvPr>
        </p:nvSpPr>
        <p:spPr>
          <a:xfrm>
            <a:off x="993140" y="2127250"/>
            <a:ext cx="10324465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（Extensible Markup Language，可扩展标记语言）是一种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标准的数据传输和存储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在Spring实例化Bean的过程中，Spring首先会调用Bean对应类的无参构造方法来实例化Bean，然后通过反射的方式调用setter方法来注入属性值。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属性setter方法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注入要求一个Bean必须满足以下两点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要求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Bean对应的类必须提供一个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默认的无参构造方法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Bean对应的类必须为需要注入的属性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提供对应的setter方法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使用属性的setter方法注入时，在Spring配置文件中需要使用在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&lt;bean&gt;标签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中嵌套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&lt;property&gt;标签来为属性注入值</a:t>
            </a:r>
            <a:endParaRPr sz="20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（1）自定义类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</a:t>
                </a:r>
                <a:r>
                  <a:rPr lang="en-US" sz="1800">
                    <a:sym typeface="+mn-ea"/>
                  </a:rPr>
                  <a:t>2</a:t>
                </a:r>
                <a:r>
                  <a:rPr sz="1800">
                    <a:sym typeface="+mn-ea"/>
                  </a:rPr>
                  <a:t>-</a:t>
                </a:r>
                <a:r>
                  <a:rPr lang="en-US" sz="1800">
                    <a:sym typeface="+mn-ea"/>
                  </a:rPr>
                  <a:t>11    </a:t>
                </a:r>
                <a:r>
                  <a:rPr sz="1800">
                    <a:sym typeface="+mn-ea"/>
                    <a:hlinkClick r:id="rId6"/>
                  </a:rPr>
                  <a:t>UserDao.java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文件2-12 </a:t>
                </a:r>
                <a:r>
                  <a:rPr lang="en-US" sz="1800">
                    <a:sym typeface="+mn-ea"/>
                  </a:rPr>
                  <a:t>   </a:t>
                </a:r>
                <a:r>
                  <a:rPr sz="1800">
                    <a:sym typeface="+mn-ea"/>
                    <a:hlinkClick r:id="rId7"/>
                  </a:rPr>
                  <a:t>UserService.java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>
            <p:custDataLst>
              <p:tags r:id="rId13"/>
            </p:custDataLst>
          </p:nvPr>
        </p:nvSpPr>
        <p:spPr>
          <a:xfrm>
            <a:off x="993775" y="252920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在chapter02项目创建com.itheima.dao包和com.itheima.service包，并在这两个包中依次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自定义类UserDao和UserService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，具体如文件2-11和文件2-12所示。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基于XML装配Bean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属性的setter方法注入。</a:t>
            </a:r>
            <a:endParaRPr lang="it-IT" altLang="zh-CN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（2）编写配置文件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993775" y="209867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applicationContext.xml文件中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&lt;property&gt;标签配置Bean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属性注入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的信息，具体如文件2-13所示。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（3）编写测试类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31747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文件2-14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DITest.java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在chapter02项目的com.itheima文件夹下创建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测试类DITest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，在测试类中定义main()方法，在main()方法中加载applicationContext.xml配置文件初始化IoC容器，在容器中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获取UserService实例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并执行其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saveUser()方法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，具体代码如文件2-14所示。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运行文件2-14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59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15565" y="2709545"/>
            <a:ext cx="6959094" cy="319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7764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2.构造方法注入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>
            <p:custDataLst>
              <p:tags r:id="rId3"/>
            </p:custDataLst>
          </p:nvPr>
        </p:nvSpPr>
        <p:spPr>
          <a:xfrm>
            <a:off x="993140" y="2127250"/>
            <a:ext cx="1032446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在使用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构造方法注入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时，在XML配置文件中需要在&lt;bean&gt;标签中使用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&lt;constructor-arg&gt;标签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指定构造方法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参数。同时，在被注入的类中需要定义包含被注入Bean的参数的构造方法。这样，在Spring容器实例化Bean时，会根据配置文件中的&lt;constructor-arg&gt;标签设置对应构造方法的参数值，并调用相应的构造方法实例化Bean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（1）修改UserService类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31747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UserService.java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993775" y="252920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在UserService类中注释UserDao的setter方法，并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添加包含UserDao参数的UserService构造方法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，具体如文件2-15所示。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基于XML装配Bean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时，使用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构造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方法注入。</a:t>
            </a:r>
            <a:endParaRPr lang="it-IT" altLang="zh-CN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（2）修改配置文件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31747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993775" y="209867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applicationContext.xml文件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&lt;constructor-arg&gt;标签配置Bean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的信息，具体如文件2-16所示。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运行文件2-14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59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62555" y="2853055"/>
            <a:ext cx="6959094" cy="319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基于注解的装配和自动装配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，能够基于注解的装配和自动装配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实现Bean的装配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7764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1.属性的setter方法注入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0" name="文本框 99"/>
          <p:cNvSpPr txBox="1"/>
          <p:nvPr>
            <p:custDataLst>
              <p:tags r:id="rId3"/>
            </p:custDataLst>
          </p:nvPr>
        </p:nvSpPr>
        <p:spPr>
          <a:xfrm>
            <a:off x="993140" y="1983740"/>
            <a:ext cx="1032446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在实际开发中，如果应用程序中存在大量的Bean，通过传统的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XML配置方式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来进行Bean的装配工作将会导致XML文件变得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臃肿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不易维护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。为了解决这个问题，Spring提供了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基于注解的装配方式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。通过使用注解，可以在类和属性上直接标注所需的装配信息，使得配置更加简洁和直观。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基于注解的装配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是一种依赖注入和Bean配置的方式，通过在类定义和属性上使用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特定注解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，告诉Spring容器如何实例化这些类为管理的Bean。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自动装配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是Spring容器根据规则</a:t>
            </a:r>
            <a:r>
              <a:rPr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自动识别并注入 Bean之间的依赖关系</a:t>
            </a: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，无需显式声明依赖。基于注解的装配让Spring容器知道如何处理特定类，而自动装配则让Spring容器自动解决Bean之间的依赖关系。两者在功能上有所不同，但通常在实际使用中会结合起来。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>
            <p:custDataLst>
              <p:tags r:id="rId1"/>
            </p:custDataLst>
          </p:nvPr>
        </p:nvSpPr>
        <p:spPr>
          <a:xfrm>
            <a:off x="4267200" y="1341120"/>
            <a:ext cx="345313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Spring用于装配的常见注解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48372" y="2089785"/>
          <a:ext cx="10068560" cy="4174490"/>
        </p:xfrm>
        <a:graphic>
          <a:graphicData uri="http://schemas.openxmlformats.org/drawingml/2006/table">
            <a:tbl>
              <a:tblPr/>
              <a:tblGrid>
                <a:gridCol w="2659380"/>
                <a:gridCol w="7409180"/>
              </a:tblGrid>
              <a:tr h="471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注解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@Component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用于标注类为Spring中的Bean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@Controller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指定一个控制器组件</a:t>
                      </a: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Bean</a:t>
                      </a: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，功能上等同于@Component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@Service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指定一个业务逻辑组件Bean，用于将业务逻辑层的类标注为Spring中的Bean，功能上等同于@Component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@Repository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指定一个数据访问组件Bean，用于将数据访问层的类标注为Spring 中的Bean，功能上等同于@Component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@Scope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指定Bean的作用域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@Value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指定Bean的注入值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48372" y="2117725"/>
          <a:ext cx="10068560" cy="2500630"/>
        </p:xfrm>
        <a:graphic>
          <a:graphicData uri="http://schemas.openxmlformats.org/drawingml/2006/table">
            <a:tbl>
              <a:tblPr/>
              <a:tblGrid>
                <a:gridCol w="2659380"/>
                <a:gridCol w="7409180"/>
              </a:tblGrid>
              <a:tr h="4432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注解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@Autowired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指定要自动装配的对象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@Resource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指定要注入的对象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@Qualifier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指定在自动装配时明确要注入的</a:t>
                      </a: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Bean</a:t>
                      </a: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，通常与@Autowired联合使用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@PostConstruct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指定Bean完成初始化后调用的方法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288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@PreDestroy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指定Bean销毁前调用的方法</a:t>
                      </a:r>
                      <a:endParaRPr lang="en-US" altLang="zh-CN" sz="18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2253974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（1）应用在成员</a:t>
              </a:r>
              <a:r>
                <a:rPr lang="zh-CN"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变量</a:t>
              </a:r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上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054735" y="105283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@Autowired注解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可以应用于类的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成员变量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setter方法或构造方法上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，以指示Spring容器在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初始化Bean时自动注入依赖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，示例如下所示。</a:t>
            </a:r>
            <a:endParaRPr lang="it-IT" altLang="zh-CN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1019810" y="3072765"/>
            <a:ext cx="10337800" cy="20110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931545" y="3105150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@Component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public class MyComponent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@Autowired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private MyService myService;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（2）应用在构造方法上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019810" y="2139950"/>
            <a:ext cx="10337800" cy="3100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172335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@Component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public class MyComponent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private MyService myService;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@Autowired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public MyComponent(MyService myService)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        this.myService = myService;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7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8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（3）应用在</a:t>
              </a:r>
              <a:r>
                <a:rPr lang="en-US"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s</a:t>
              </a:r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etter方法上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019810" y="2139950"/>
            <a:ext cx="10337800" cy="3100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172335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@Component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public class MyComponent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private MyService myService;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@Autowired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public void setMyService(MyService myService)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        this.myService = myService;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7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8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基于注解的装配和自动装配实现Bean的装配。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（1）使用注解标注UserDao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1" name="组合 10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UserDao.java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93775" y="252920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在项目chapter02的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UserDao类上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@Repository 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进行标记，让UserDao类在Spring应用程序启动并自动扫描时将其实例化为Bean，并加入Spring 容器中，具体代码如文件2-17所示。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249404"/>
            <a:ext cx="5592445" cy="476885"/>
            <a:chOff x="708766" y="1797999"/>
            <a:chExt cx="5592445" cy="47688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5174615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559244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（2）使用注解标注UserService并自动装配UserDao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1" name="组合 10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文件2-18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UserService.java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93775" y="202692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在项目chapter02的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UserService类上使用@Service 注解进行标记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，让UserService类在Spring应用程序启动并自动扫描时将其实例化为Bean，并注释userDao属性的setter方法，使用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@Autowired注解自动注入UserDao对象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，具体代码如文件2-18所示。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265" y="1249680"/>
            <a:ext cx="2845435" cy="476885"/>
            <a:chOff x="708766" y="1797999"/>
            <a:chExt cx="5592445" cy="47688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5174615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559244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（3）编写测试类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1" name="组合 10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文件2-19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AutowiredTest.java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93775" y="202692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在chapter02项目的com.itheima文件夹下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创建测试类AutowiredTest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，在测试类中定义main()方法，在main()方法中扫描com.itheima包及其子包初始化IoC容器，在容器中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获取UserService实例并执行其saveUser()方法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，具体代码如文件2-19所示。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基于注解的装配和自动装配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265" y="1249680"/>
            <a:ext cx="2845435" cy="476885"/>
            <a:chOff x="708766" y="1797999"/>
            <a:chExt cx="5592445" cy="47688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5174615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559244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993775" y="20269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运行文件2-19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58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37473" y="2834005"/>
            <a:ext cx="7008000" cy="315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2.6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Bean的生命周期方法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的使用，能够定义Bean的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初始化方法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销毁方法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73785" y="2204085"/>
            <a:ext cx="1022032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是指Bean从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创建到销毁的整个过程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。在 Spring中，作用域为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singleton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prototype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的Bean在生命周期管理上有明显的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差异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singleton作用域的Bean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Spring容器会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完全管理其生命周期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，包括创建、初始化和销毁。容器会在启动时创建Bean，并在容器关闭时销毁Bean，确保其生命周期完整。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prototype作用域的Bean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Spring容器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仅负责创建Bean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不会管理其完整的生命周期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，Bean的生命周期和销毁由调用方自行控制的，而不是由Spring容器来管理。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73785" y="2204085"/>
            <a:ext cx="1022032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下面对作用域为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singleton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的Bean的生命周期进行讲解。在Bean的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初始化阶段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，由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初始化方法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负责Bean的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初始配置和准备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工作；而在Bean的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销毁阶段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，由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销毁方法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负责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资源释放和清理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工作。通过这两个方法，开发人员可以插入自定义逻辑，实现特定的初始化和清理操作，确保Bean在整个生命周期中的正确性和稳定性。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初始化阶段中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初始化方法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的实现和销毁阶段中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销毁方法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的实现方式如下。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（1）初始化方法的实现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993775" y="252920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init-method属性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实现初始化。在Spring的XML配置文件中，开发者通过&lt;bean&gt;标签的init-method属性指定初始化方法的名称，Spring容器在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实例化并注入属性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后，会调用这个方法，示例如下。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019810" y="4077335"/>
            <a:ext cx="10337800" cy="592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931545" y="4109720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&lt;bean id="userDao" class="com.itheima.UserDao" init-method="init"/&gt;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@Bean注解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initMethod属性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实现初始化。当使用Java 配置类定义Bean时，开发者可以通过@Bean注解的initMethod属性指定初始化方法，示例如下。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019810" y="2498725"/>
            <a:ext cx="10337800" cy="2717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531110"/>
            <a:ext cx="10478135" cy="26854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@Configuration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public class AppConfig {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@Bean(initMethod = "init")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public MyBean myBean() {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    return new MyBean();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    }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7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重写InitializingBean接口的afterPropertiesSet()方法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实现。任何类实现 InitializingBean接口，并重写其中的 afterPropertiesSet()方法后，该方法会在Bean化完成后被调用，从而实现初始化逻辑，示例如下。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019810" y="2857500"/>
            <a:ext cx="10337800" cy="2416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889885"/>
            <a:ext cx="10478135" cy="25215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public class ExampleBean implements InitializingBean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    @Override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public void afterPropertiesSet() throws Exception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    // 初始化的逻辑代码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@PostConstruct注解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实现。@PostConstruct 注解是JSR 250（Java Specification Request 250，Java规范请求250）为Java预定义的注解之一，它是用于在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依赖注入完成后执行初始化方法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的一个注解，示例如下。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019810" y="2857500"/>
            <a:ext cx="10337800" cy="2416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889885"/>
            <a:ext cx="10478135" cy="25215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public class ExampleBean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    @PostConstruct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public void init()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    // 初始化的逻辑代码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392914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（2）销毁方法的实现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93775" y="217043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destroy-method属性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实现。在Spring的XML配置文件中，开发者通过&lt;bean&gt;标签的destroy-method属性指定销毁方法的名称，应用程序在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Bean销毁之前会调用这个方法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019810" y="3718560"/>
            <a:ext cx="10337800" cy="592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931545" y="3750945"/>
            <a:ext cx="10478135" cy="8947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&lt;bean id="userDao" class="com.itheima.UserDao" destroy-method="destroy"/&gt;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@Bean注解的destroyMethod属性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实现。当使用Java 配置类定义Bean时，开发者可以通过@Bean注解的destroyMethod属性指定销毁方法，示例如下。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019810" y="2426970"/>
            <a:ext cx="10337800" cy="2684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459355"/>
            <a:ext cx="10478135" cy="113855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@Configuration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public class AppConfig {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@Bean(destroyMethod = "destroy")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public MyBean myBean() {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    return new MyBean();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    } 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7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重写DisposableBean接口的destroy()方法实现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。Spring提供了一个名为DisposableBean的接口，该接口定义了一个名为destroy的方法。任何类实现DisposableBean接口，并重写其中的destroy()方法后，该方法会在Bean销毁被调用，示例如下。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019810" y="2929255"/>
            <a:ext cx="10337800" cy="238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961640"/>
            <a:ext cx="10478135" cy="113855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public class ExampleBean implements DisposableBean{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    @Override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public void destroy() throws Exception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    // 销毁前的逻辑代码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　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@PreDestroy注解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实现。@PreDestroy注解是 JSR 250（Java Specification Request 250，Java规范请求250）为Java预定义的注解之一，用于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标记 Bean的销毁方法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，被该注解标注的方法会在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Bean销毁之前执行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019810" y="2929255"/>
            <a:ext cx="10337800" cy="238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931545" y="2961640"/>
            <a:ext cx="10478135" cy="113855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 public class ExampleBean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     @PreDestroy 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     public void destroy() {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         // 销毁前的逻辑代码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     }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6 }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054735" y="105283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作用域为singleton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的Bean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初始化方法和销毁方法的使用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751689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（1）引入依赖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93775" y="238569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本案例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基于@PostConstruct注解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@PreDestroy注解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定义初始化方法和销毁方法，对此需要在项目的pom.xml文件中引入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Java注解的依赖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019810" y="3431540"/>
            <a:ext cx="10337800" cy="2025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931545" y="3463925"/>
            <a:ext cx="10478135" cy="113855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1&lt;dependency&gt;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2	&lt;groupId&gt;javax.annotation&lt;/groupId&gt;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3	&lt;artifactId&gt;javax.annotation-api&lt;/artifactId&gt;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4	&lt;version&gt;1.3.2&lt;/version&gt;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5&lt;/dependency&gt;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（2）创建自定义类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1" name="组合 10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文件2-20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DataInfo.java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93775" y="209867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在项目chapter02的com.itheima.pojo包下创建自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定义类DataInfo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，在该类上使用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@Component注解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标注当前类创建的Bean交于Spring容器管理，并在该类中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定义类的构造方法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Bean的初始化方法、Bean的销毁方法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，具体代码如文件2-20所示。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（3）编写测试类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1" name="组合 10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文件2-21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LifecycleTest.java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93775" y="209867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在chapter02项目的com.itheima文件夹下创建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测试类LifecycleTest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，在测试类中定义main()方法，在main()方法中扫描com.itheima包及其子包初始化IoC容器，在容器中获取DataInfo实例后，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使用AbstractApplicationContext的registerShutdownHook()方法关闭Spring应用程序上下文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，具体代码如文件2-21所示。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Bean的生命周期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404" y="1321159"/>
            <a:ext cx="3566160" cy="476885"/>
            <a:chOff x="708766" y="1797999"/>
            <a:chExt cx="3566160" cy="47688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29565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08766" y="1797999"/>
              <a:ext cx="355473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</a:t>
              </a:r>
              <a:r>
                <a:rPr lang="en-US"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4</a:t>
              </a:r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运行文件2-21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58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19195" y="2938780"/>
            <a:ext cx="4851660" cy="31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Spring对Bean的管理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。首先介绍了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Spring的 IoC容器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；接着讲解了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Bean的配置和Bean的作用域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Bean的实例化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Bean的装配方式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Bean的生命周期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。通过本章的学习，读者可以对Spring中Bean的管理有基本的了解，为以后框架开发奠定基础。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UNIT_TABLE_BEAUTIFY" val="smartTable{2126bdec-36ac-4601-9b35-787a267283da}"/>
  <p:tag name="TABLE_ENDDRAG_ORIGIN_RECT" val="790*325"/>
  <p:tag name="TABLE_ENDDRAG_RECT" val="101*156*790*325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TABLE_BEAUTIFY" val="smartTable{cba99a50-feec-4c56-8706-926856bd4a0b}"/>
  <p:tag name="TABLE_ENDDRAG_ORIGIN_RECT" val="568*244"/>
  <p:tag name="TABLE_ENDDRAG_RECT" val="120*216*568*244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UNIT_TABLE_BEAUTIFY" val="smartTable{fcc9e6c0-fb1c-49ea-861e-05e03c1f36b0}"/>
  <p:tag name="TABLE_ENDDRAG_ORIGIN_RECT" val="730*214"/>
  <p:tag name="TABLE_ENDDRAG_RECT" val="121*228*730*214"/>
</p:tagLst>
</file>

<file path=ppt/tags/tag135.xml><?xml version="1.0" encoding="utf-8"?>
<p:tagLst xmlns:p="http://schemas.openxmlformats.org/presentationml/2006/main">
  <p:tag name="KSO_WM_UNIT_TABLE_BEAUTIFY" val="smartTable{0980bacb-a10e-4278-a0c6-9dea97fb1f25}"/>
  <p:tag name="TABLE_ENDDRAG_ORIGIN_RECT" val="746*319"/>
  <p:tag name="TABLE_ENDDRAG_RECT" val="105*121*746*319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UNIT_TABLE_BEAUTIFY" val="smartTable{8a5f5f91-5336-48fa-82cf-53badf0ca79f}"/>
</p:tagLst>
</file>

<file path=ppt/tags/tag375.xml><?xml version="1.0" encoding="utf-8"?>
<p:tagLst xmlns:p="http://schemas.openxmlformats.org/presentationml/2006/main">
  <p:tag name="KSO_WM_UNIT_TABLE_BEAUTIFY" val="smartTable{1eaf68fe-937e-4743-a6b9-38faa4630a75}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17145</Words>
  <Application>WPS 演示</Application>
  <PresentationFormat>自定义</PresentationFormat>
  <Paragraphs>1016</Paragraphs>
  <Slides>100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100</vt:i4>
      </vt:variant>
    </vt:vector>
  </HeadingPairs>
  <TitlesOfParts>
    <vt:vector size="130" baseType="lpstr">
      <vt:lpstr>Arial</vt:lpstr>
      <vt:lpstr>宋体</vt:lpstr>
      <vt:lpstr>Wingdings</vt:lpstr>
      <vt:lpstr>微软雅黑</vt:lpstr>
      <vt:lpstr>汉仪旗黑</vt:lpstr>
      <vt:lpstr>汉仪书宋二KW</vt:lpstr>
      <vt:lpstr>思源黑体 CN Medium</vt:lpstr>
      <vt:lpstr>字魂58号-创中黑</vt:lpstr>
      <vt:lpstr>Source Han Sans K Bold</vt:lpstr>
      <vt:lpstr>Calibri</vt:lpstr>
      <vt:lpstr>U.S. 101</vt:lpstr>
      <vt:lpstr>苹方-简</vt:lpstr>
      <vt:lpstr>Roboto</vt:lpstr>
      <vt:lpstr>Open Sans Light</vt:lpstr>
      <vt:lpstr>宋体</vt:lpstr>
      <vt:lpstr>Arial Unicode MS</vt:lpstr>
      <vt:lpstr>Helvetica Neue</vt:lpstr>
      <vt:lpstr>Times New Roman</vt:lpstr>
      <vt:lpstr>微软雅黑 Light</vt:lpstr>
      <vt:lpstr>思源黑体 CN Normal</vt:lpstr>
      <vt:lpstr>Courier New</vt:lpstr>
      <vt:lpstr>汉仪中黑KW</vt:lpstr>
      <vt:lpstr>冬青黑体简体中文</vt:lpstr>
      <vt:lpstr>Source Han Sans K Bold</vt:lpstr>
      <vt:lpstr>字魂58号-创中黑</vt:lpstr>
      <vt:lpstr>微软雅黑</vt:lpstr>
      <vt:lpstr>思源黑体 CN Medium</vt:lpstr>
      <vt:lpstr>思源黑体 CN Normal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xuxiang</cp:lastModifiedBy>
  <cp:revision>1056</cp:revision>
  <dcterms:created xsi:type="dcterms:W3CDTF">2026-04-02T15:32:08Z</dcterms:created>
  <dcterms:modified xsi:type="dcterms:W3CDTF">2026-04-02T15:32:08Z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69DB4B6826B6494390E926BE37E6C64D</vt:lpwstr>
  </property>
</Properties>
</file>