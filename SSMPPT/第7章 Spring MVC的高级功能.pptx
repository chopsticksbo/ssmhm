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94"/>
  </p:handoutMasterIdLst>
  <p:sldIdLst>
    <p:sldId id="583" r:id="rId4"/>
    <p:sldId id="1124" r:id="rId6"/>
    <p:sldId id="586" r:id="rId7"/>
    <p:sldId id="587" r:id="rId8"/>
    <p:sldId id="309" r:id="rId9"/>
    <p:sldId id="899" r:id="rId10"/>
    <p:sldId id="1323" r:id="rId11"/>
    <p:sldId id="1480" r:id="rId12"/>
    <p:sldId id="1601" r:id="rId13"/>
    <p:sldId id="1602" r:id="rId14"/>
    <p:sldId id="1603" r:id="rId15"/>
    <p:sldId id="1604" r:id="rId16"/>
    <p:sldId id="1605" r:id="rId17"/>
    <p:sldId id="1606" r:id="rId18"/>
    <p:sldId id="1607" r:id="rId19"/>
    <p:sldId id="1719" r:id="rId20"/>
    <p:sldId id="1720" r:id="rId21"/>
    <p:sldId id="1721" r:id="rId22"/>
    <p:sldId id="1722" r:id="rId23"/>
    <p:sldId id="1723" r:id="rId24"/>
    <p:sldId id="1724" r:id="rId25"/>
    <p:sldId id="1725" r:id="rId26"/>
    <p:sldId id="1727" r:id="rId27"/>
    <p:sldId id="1728" r:id="rId28"/>
    <p:sldId id="1729" r:id="rId29"/>
    <p:sldId id="1730" r:id="rId30"/>
    <p:sldId id="1731" r:id="rId31"/>
    <p:sldId id="1732" r:id="rId32"/>
    <p:sldId id="1733" r:id="rId33"/>
    <p:sldId id="1734" r:id="rId34"/>
    <p:sldId id="1735" r:id="rId35"/>
    <p:sldId id="1736" r:id="rId36"/>
    <p:sldId id="1737" r:id="rId37"/>
    <p:sldId id="1738" r:id="rId38"/>
    <p:sldId id="1739" r:id="rId39"/>
    <p:sldId id="1426" r:id="rId40"/>
    <p:sldId id="1740" r:id="rId41"/>
    <p:sldId id="1741" r:id="rId42"/>
    <p:sldId id="1742" r:id="rId43"/>
    <p:sldId id="1482" r:id="rId44"/>
    <p:sldId id="1483" r:id="rId45"/>
    <p:sldId id="1743" r:id="rId46"/>
    <p:sldId id="1744" r:id="rId47"/>
    <p:sldId id="1745" r:id="rId48"/>
    <p:sldId id="1746" r:id="rId49"/>
    <p:sldId id="1747" r:id="rId50"/>
    <p:sldId id="1748" r:id="rId51"/>
    <p:sldId id="1750" r:id="rId52"/>
    <p:sldId id="1484" r:id="rId53"/>
    <p:sldId id="1485" r:id="rId54"/>
    <p:sldId id="1751" r:id="rId55"/>
    <p:sldId id="1752" r:id="rId56"/>
    <p:sldId id="1753" r:id="rId57"/>
    <p:sldId id="1754" r:id="rId58"/>
    <p:sldId id="1755" r:id="rId59"/>
    <p:sldId id="1756" r:id="rId60"/>
    <p:sldId id="1757" r:id="rId61"/>
    <p:sldId id="1758" r:id="rId62"/>
    <p:sldId id="1759" r:id="rId63"/>
    <p:sldId id="1760" r:id="rId64"/>
    <p:sldId id="1761" r:id="rId65"/>
    <p:sldId id="1762" r:id="rId66"/>
    <p:sldId id="1763" r:id="rId67"/>
    <p:sldId id="1486" r:id="rId68"/>
    <p:sldId id="1764" r:id="rId69"/>
    <p:sldId id="1765" r:id="rId70"/>
    <p:sldId id="1766" r:id="rId71"/>
    <p:sldId id="1767" r:id="rId72"/>
    <p:sldId id="1768" r:id="rId73"/>
    <p:sldId id="1769" r:id="rId74"/>
    <p:sldId id="1770" r:id="rId75"/>
    <p:sldId id="1771" r:id="rId76"/>
    <p:sldId id="1487" r:id="rId77"/>
    <p:sldId id="1488" r:id="rId78"/>
    <p:sldId id="1773" r:id="rId79"/>
    <p:sldId id="1774" r:id="rId80"/>
    <p:sldId id="1775" r:id="rId81"/>
    <p:sldId id="1776" r:id="rId82"/>
    <p:sldId id="1777" r:id="rId83"/>
    <p:sldId id="1778" r:id="rId84"/>
    <p:sldId id="1779" r:id="rId85"/>
    <p:sldId id="1780" r:id="rId86"/>
    <p:sldId id="1781" r:id="rId87"/>
    <p:sldId id="1782" r:id="rId88"/>
    <p:sldId id="1783" r:id="rId89"/>
    <p:sldId id="1784" r:id="rId90"/>
    <p:sldId id="1785" r:id="rId91"/>
    <p:sldId id="889" r:id="rId92"/>
    <p:sldId id="617" r:id="rId93"/>
  </p:sldIdLst>
  <p:sldSz cx="12190095" cy="6859270"/>
  <p:notesSz cx="6858000" cy="9144000"/>
  <p:custDataLst>
    <p:tags r:id="rId99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9" userDrawn="1">
          <p15:clr>
            <a:srgbClr val="A4A3A4"/>
          </p15:clr>
        </p15:guide>
        <p15:guide id="2" pos="626" userDrawn="1">
          <p15:clr>
            <a:srgbClr val="A4A3A4"/>
          </p15:clr>
        </p15:guide>
        <p15:guide id="3" pos="702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959"/>
        <p:guide pos="626"/>
        <p:guide pos="70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50"/>
        <p:guide pos="221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tags" Target="tags/tag406.xml"/><Relationship Id="rId98" Type="http://schemas.openxmlformats.org/officeDocument/2006/relationships/commentAuthors" Target="commentAuthors.xml"/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handoutMaster" Target="handoutMasters/handoutMaster1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image" Target="../media/image3.png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4.png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hyperlink" Target="http://stu.ityxb.com/ebookview/436977db4c73167a3570a0c029f20dd5" TargetMode="External"/><Relationship Id="rId6" Type="http://schemas.openxmlformats.org/officeDocument/2006/relationships/tags" Target="../tags/tag38.xml"/><Relationship Id="rId5" Type="http://schemas.openxmlformats.org/officeDocument/2006/relationships/image" Target="../media/image5.png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42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41.xml"/><Relationship Id="rId1" Type="http://schemas.openxmlformats.org/officeDocument/2006/relationships/tags" Target="../tags/tag3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hyperlink" Target="http://stu.ityxb.com/ebookview/bdbd872decefae0d2ef0d9755ff2bdcf" TargetMode="External"/><Relationship Id="rId6" Type="http://schemas.openxmlformats.org/officeDocument/2006/relationships/tags" Target="../tags/tag47.xml"/><Relationship Id="rId5" Type="http://schemas.openxmlformats.org/officeDocument/2006/relationships/image" Target="../media/image5.png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51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50.xml"/><Relationship Id="rId1" Type="http://schemas.openxmlformats.org/officeDocument/2006/relationships/tags" Target="../tags/tag4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3.png"/><Relationship Id="rId1" Type="http://schemas.openxmlformats.org/officeDocument/2006/relationships/tags" Target="../tags/tag6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hyperlink" Target="http://stu.ityxb.com/ebookview/5cd9638898e7c9c1fb899a339755f842" TargetMode="External"/><Relationship Id="rId6" Type="http://schemas.openxmlformats.org/officeDocument/2006/relationships/tags" Target="../tags/tag80.xml"/><Relationship Id="rId5" Type="http://schemas.openxmlformats.org/officeDocument/2006/relationships/image" Target="../media/image5.png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83.xml"/><Relationship Id="rId1" Type="http://schemas.openxmlformats.org/officeDocument/2006/relationships/tags" Target="../tags/tag7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hyperlink" Target="http://stu.ityxb.com/ebookview/7c9b83325b15f71c2a7a110b7261516d" TargetMode="External"/><Relationship Id="rId6" Type="http://schemas.openxmlformats.org/officeDocument/2006/relationships/tags" Target="../tags/tag90.xml"/><Relationship Id="rId5" Type="http://schemas.openxmlformats.org/officeDocument/2006/relationships/image" Target="../media/image5.png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94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93.xml"/><Relationship Id="rId1" Type="http://schemas.openxmlformats.org/officeDocument/2006/relationships/tags" Target="../tags/tag8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hyperlink" Target="http://stu.ityxb.com/ebookview/91c812515e5239764fbbdc6eec3f6df6" TargetMode="External"/><Relationship Id="rId6" Type="http://schemas.openxmlformats.org/officeDocument/2006/relationships/tags" Target="../tags/tag99.xml"/><Relationship Id="rId5" Type="http://schemas.openxmlformats.org/officeDocument/2006/relationships/image" Target="../media/image5.png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03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102.xml"/><Relationship Id="rId1" Type="http://schemas.openxmlformats.org/officeDocument/2006/relationships/tags" Target="../tags/tag9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tags" Target="../tags/tag1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0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hyperlink" Target="http://stu.ityxb.com/ebookview/8bfe8a641abefd37e1619f7101efc617" TargetMode="External"/><Relationship Id="rId6" Type="http://schemas.openxmlformats.org/officeDocument/2006/relationships/tags" Target="../tags/tag125.xml"/><Relationship Id="rId5" Type="http://schemas.openxmlformats.org/officeDocument/2006/relationships/image" Target="../media/image5.png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6" Type="http://schemas.openxmlformats.org/officeDocument/2006/relationships/notesSlide" Target="../notesSlides/notesSlide27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128.xml"/><Relationship Id="rId1" Type="http://schemas.openxmlformats.org/officeDocument/2006/relationships/tags" Target="../tags/tag12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image" Target="../media/image3.png"/><Relationship Id="rId1" Type="http://schemas.openxmlformats.org/officeDocument/2006/relationships/tags" Target="../tags/tag15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5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hyperlink" Target="http://stu.ityxb.com/ebookview/71bf3e5cebb559b05143c20cd724ca9d" TargetMode="External"/><Relationship Id="rId4" Type="http://schemas.openxmlformats.org/officeDocument/2006/relationships/tags" Target="../tags/tag158.xml"/><Relationship Id="rId3" Type="http://schemas.openxmlformats.org/officeDocument/2006/relationships/image" Target="../media/image5.png"/><Relationship Id="rId2" Type="http://schemas.openxmlformats.org/officeDocument/2006/relationships/tags" Target="../tags/tag157.xml"/><Relationship Id="rId12" Type="http://schemas.openxmlformats.org/officeDocument/2006/relationships/notesSlide" Target="../notesSlides/notesSlide35.xml"/><Relationship Id="rId11" Type="http://schemas.openxmlformats.org/officeDocument/2006/relationships/slideLayout" Target="../slideLayouts/slideLayout10.xml"/><Relationship Id="rId10" Type="http://schemas.openxmlformats.org/officeDocument/2006/relationships/image" Target="../media/image7.svg"/><Relationship Id="rId1" Type="http://schemas.openxmlformats.org/officeDocument/2006/relationships/tags" Target="../tags/tag156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5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image" Target="../media/image3.png"/><Relationship Id="rId1" Type="http://schemas.openxmlformats.org/officeDocument/2006/relationships/tags" Target="../tags/tag17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7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hyperlink" Target="http://stu.ityxb.com/ebookview/89668cee402c9bb586a19b4cb99dcccd" TargetMode="External"/><Relationship Id="rId5" Type="http://schemas.openxmlformats.org/officeDocument/2006/relationships/tags" Target="../tags/tag181.xml"/><Relationship Id="rId4" Type="http://schemas.openxmlformats.org/officeDocument/2006/relationships/image" Target="../media/image5.png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6" Type="http://schemas.openxmlformats.org/officeDocument/2006/relationships/notesSlide" Target="../notesSlides/notesSlide42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87.xml"/><Relationship Id="rId13" Type="http://schemas.openxmlformats.org/officeDocument/2006/relationships/tags" Target="../tags/tag186.xml"/><Relationship Id="rId12" Type="http://schemas.openxmlformats.org/officeDocument/2006/relationships/tags" Target="../tags/tag185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178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6.png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hyperlink" Target="http://stu.ityxb.com/ebookview/9281b0351ca57a364941bfab39c947c0" TargetMode="External"/><Relationship Id="rId3" Type="http://schemas.openxmlformats.org/officeDocument/2006/relationships/tags" Target="../tags/tag195.xml"/><Relationship Id="rId2" Type="http://schemas.openxmlformats.org/officeDocument/2006/relationships/image" Target="../media/image5.png"/><Relationship Id="rId12" Type="http://schemas.openxmlformats.org/officeDocument/2006/relationships/notesSlide" Target="../notesSlides/notesSlide45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199.xml"/><Relationship Id="rId1" Type="http://schemas.openxmlformats.org/officeDocument/2006/relationships/tags" Target="../tags/tag194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6.png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7.png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image" Target="../media/image3.png"/><Relationship Id="rId1" Type="http://schemas.openxmlformats.org/officeDocument/2006/relationships/tags" Target="../tags/tag205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hyperlink" Target="http://stu.ityxb.com/ebookview/a2b2ea1ae82a24cbbfc079ac0ecdbbc5" TargetMode="External"/><Relationship Id="rId5" Type="http://schemas.openxmlformats.org/officeDocument/2006/relationships/tags" Target="../tags/tag219.xml"/><Relationship Id="rId4" Type="http://schemas.openxmlformats.org/officeDocument/2006/relationships/image" Target="../media/image5.png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4" Type="http://schemas.openxmlformats.org/officeDocument/2006/relationships/notesSlide" Target="../notesSlides/notesSlide51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223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216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hyperlink" Target="http://stu.ityxb.com/ebookview/78da7942fe3fcf08917aaae0d22e8a1d" TargetMode="External"/><Relationship Id="rId5" Type="http://schemas.openxmlformats.org/officeDocument/2006/relationships/tags" Target="../tags/tag227.xml"/><Relationship Id="rId4" Type="http://schemas.openxmlformats.org/officeDocument/2006/relationships/image" Target="../media/image5.png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4" Type="http://schemas.openxmlformats.org/officeDocument/2006/relationships/notesSlide" Target="../notesSlides/notesSlide52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231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224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hyperlink" Target="http://stu.ityxb.com/ebookview/ea8d11c1b2bd0520af6f4a4bb4f88708" TargetMode="External"/><Relationship Id="rId5" Type="http://schemas.openxmlformats.org/officeDocument/2006/relationships/tags" Target="../tags/tag235.xml"/><Relationship Id="rId4" Type="http://schemas.openxmlformats.org/officeDocument/2006/relationships/image" Target="../media/image5.png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4" Type="http://schemas.openxmlformats.org/officeDocument/2006/relationships/notesSlide" Target="../notesSlides/notesSlide53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239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232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hyperlink" Target="http://stu.ityxb.com/ebookview/fed036b93a864a92b5f45965c5e75477" TargetMode="External"/><Relationship Id="rId5" Type="http://schemas.openxmlformats.org/officeDocument/2006/relationships/tags" Target="../tags/tag243.xml"/><Relationship Id="rId4" Type="http://schemas.openxmlformats.org/officeDocument/2006/relationships/image" Target="../media/image5.png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4" Type="http://schemas.openxmlformats.org/officeDocument/2006/relationships/notesSlide" Target="../notesSlides/notesSlide54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247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240.xml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5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6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7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8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5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9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6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0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" Type="http://schemas.openxmlformats.org/officeDocument/2006/relationships/tags" Target="../tags/tag26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2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image" Target="../media/image3.png"/><Relationship Id="rId1" Type="http://schemas.openxmlformats.org/officeDocument/2006/relationships/tags" Target="../tags/tag276.xml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4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tags" Target="../tags/tag281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" Type="http://schemas.openxmlformats.org/officeDocument/2006/relationships/tags" Target="../tags/tag290.xml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0" Type="http://schemas.openxmlformats.org/officeDocument/2006/relationships/notesSlide" Target="../notesSlides/notesSlide66.xml"/><Relationship Id="rId1" Type="http://schemas.openxmlformats.org/officeDocument/2006/relationships/tags" Target="../tags/tag287.xml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tags" Target="../tags/tag295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00.xml"/><Relationship Id="rId1" Type="http://schemas.openxmlformats.org/officeDocument/2006/relationships/tags" Target="../tags/tag299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image" Target="../media/image3.png"/><Relationship Id="rId1" Type="http://schemas.openxmlformats.org/officeDocument/2006/relationships/tags" Target="../tags/tag301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07.xml"/><Relationship Id="rId1" Type="http://schemas.openxmlformats.org/officeDocument/2006/relationships/tags" Target="../tags/tag306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hyperlink" Target="http://stu.ityxb.com/ebookview/a12241c819ef4488aa3a91a7555e48cd" TargetMode="External"/><Relationship Id="rId5" Type="http://schemas.openxmlformats.org/officeDocument/2006/relationships/tags" Target="../tags/tag311.xml"/><Relationship Id="rId4" Type="http://schemas.openxmlformats.org/officeDocument/2006/relationships/image" Target="../media/image5.png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3" Type="http://schemas.openxmlformats.org/officeDocument/2006/relationships/notesSlide" Target="../notesSlides/notesSlide71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308.xml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2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tags" Target="../tags/tag315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image" Target="../media/image3.png"/><Relationship Id="rId1" Type="http://schemas.openxmlformats.org/officeDocument/2006/relationships/tags" Target="../tags/tag31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4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hyperlink" Target="http://stu.ityxb.com/ebookview/db90f328c22180539a1e0656a504510e" TargetMode="External"/><Relationship Id="rId4" Type="http://schemas.openxmlformats.org/officeDocument/2006/relationships/tags" Target="../tags/tag327.xml"/><Relationship Id="rId3" Type="http://schemas.openxmlformats.org/officeDocument/2006/relationships/image" Target="../media/image5.png"/><Relationship Id="rId2" Type="http://schemas.openxmlformats.org/officeDocument/2006/relationships/tags" Target="../tags/tag326.xml"/><Relationship Id="rId15" Type="http://schemas.openxmlformats.org/officeDocument/2006/relationships/notesSlide" Target="../notesSlides/notesSlide75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image" Target="../media/image7.svg"/><Relationship Id="rId1" Type="http://schemas.openxmlformats.org/officeDocument/2006/relationships/tags" Target="../tags/tag325.xml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41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" Type="http://schemas.openxmlformats.org/officeDocument/2006/relationships/tags" Target="../tags/tag338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tags" Target="../tags/tag342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tags" Target="../tags/tag354.xml"/><Relationship Id="rId8" Type="http://schemas.openxmlformats.org/officeDocument/2006/relationships/hyperlink" Target="http://stu.ityxb.com/ebookview/321830c0a0c9574be512f6dae28f59f8" TargetMode="External"/><Relationship Id="rId7" Type="http://schemas.openxmlformats.org/officeDocument/2006/relationships/tags" Target="../tags/tag353.xml"/><Relationship Id="rId6" Type="http://schemas.openxmlformats.org/officeDocument/2006/relationships/image" Target="../media/image5.png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5" Type="http://schemas.openxmlformats.org/officeDocument/2006/relationships/notesSlide" Target="../notesSlides/notesSlide79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356.xml"/><Relationship Id="rId10" Type="http://schemas.openxmlformats.org/officeDocument/2006/relationships/tags" Target="../tags/tag355.xml"/><Relationship Id="rId1" Type="http://schemas.openxmlformats.org/officeDocument/2006/relationships/tags" Target="../tags/tag348.xml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hyperlink" Target="http://stu.ityxb.com/ebookview/4e160aa103a5fa50b23029082f609b17" TargetMode="External"/><Relationship Id="rId7" Type="http://schemas.openxmlformats.org/officeDocument/2006/relationships/tags" Target="../tags/tag362.xml"/><Relationship Id="rId6" Type="http://schemas.openxmlformats.org/officeDocument/2006/relationships/image" Target="../media/image5.png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5" Type="http://schemas.openxmlformats.org/officeDocument/2006/relationships/notesSlide" Target="../notesSlides/notesSlide80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tags" Target="../tags/tag357.xml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tags" Target="../tags/tag372.xml"/><Relationship Id="rId8" Type="http://schemas.openxmlformats.org/officeDocument/2006/relationships/hyperlink" Target="http://stu.ityxb.com/ebookview/7e84a04210548ea7451a35153a649081" TargetMode="External"/><Relationship Id="rId7" Type="http://schemas.openxmlformats.org/officeDocument/2006/relationships/tags" Target="../tags/tag371.xml"/><Relationship Id="rId6" Type="http://schemas.openxmlformats.org/officeDocument/2006/relationships/image" Target="../media/image5.png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3" Type="http://schemas.openxmlformats.org/officeDocument/2006/relationships/tags" Target="../tags/tag368.xml"/><Relationship Id="rId2" Type="http://schemas.openxmlformats.org/officeDocument/2006/relationships/tags" Target="../tags/tag367.xml"/><Relationship Id="rId15" Type="http://schemas.openxmlformats.org/officeDocument/2006/relationships/notesSlide" Target="../notesSlides/notesSlide81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374.xml"/><Relationship Id="rId10" Type="http://schemas.openxmlformats.org/officeDocument/2006/relationships/tags" Target="../tags/tag373.xml"/><Relationship Id="rId1" Type="http://schemas.openxmlformats.org/officeDocument/2006/relationships/tags" Target="../tags/tag366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tags" Target="../tags/tag381.xml"/><Relationship Id="rId8" Type="http://schemas.openxmlformats.org/officeDocument/2006/relationships/hyperlink" Target="http://stu.ityxb.com/ebookview/95af41541fdd50160800e30034bbb1a8" TargetMode="External"/><Relationship Id="rId7" Type="http://schemas.openxmlformats.org/officeDocument/2006/relationships/tags" Target="../tags/tag380.xml"/><Relationship Id="rId6" Type="http://schemas.openxmlformats.org/officeDocument/2006/relationships/image" Target="../media/image5.png"/><Relationship Id="rId5" Type="http://schemas.openxmlformats.org/officeDocument/2006/relationships/tags" Target="../tags/tag379.xml"/><Relationship Id="rId4" Type="http://schemas.openxmlformats.org/officeDocument/2006/relationships/tags" Target="../tags/tag378.xml"/><Relationship Id="rId3" Type="http://schemas.openxmlformats.org/officeDocument/2006/relationships/tags" Target="../tags/tag377.xml"/><Relationship Id="rId2" Type="http://schemas.openxmlformats.org/officeDocument/2006/relationships/tags" Target="../tags/tag376.xml"/><Relationship Id="rId15" Type="http://schemas.openxmlformats.org/officeDocument/2006/relationships/notesSlide" Target="../notesSlides/notesSlide82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383.xml"/><Relationship Id="rId10" Type="http://schemas.openxmlformats.org/officeDocument/2006/relationships/tags" Target="../tags/tag382.xml"/><Relationship Id="rId1" Type="http://schemas.openxmlformats.org/officeDocument/2006/relationships/tags" Target="../tags/tag375.xml"/></Relationships>
</file>

<file path=ppt/slides/_rels/slide8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87.xml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" Type="http://schemas.openxmlformats.org/officeDocument/2006/relationships/tags" Target="../tags/tag384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4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93.xml"/><Relationship Id="rId5" Type="http://schemas.openxmlformats.org/officeDocument/2006/relationships/tags" Target="../tags/tag392.xml"/><Relationship Id="rId4" Type="http://schemas.openxmlformats.org/officeDocument/2006/relationships/tags" Target="../tags/tag391.xml"/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" Type="http://schemas.openxmlformats.org/officeDocument/2006/relationships/tags" Target="../tags/tag388.xml"/></Relationships>
</file>

<file path=ppt/slides/_rels/slide8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5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tags" Target="../tags/tag397.xml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tags" Target="../tags/tag394.xml"/></Relationships>
</file>

<file path=ppt/slides/_rels/slide8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6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/Relationships>
</file>

<file path=ppt/slides/_rels/slide8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7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tags" Target="../tags/tag405.xml"/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" Type="http://schemas.openxmlformats.org/officeDocument/2006/relationships/tags" Target="../tags/tag40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251710" y="2606040"/>
            <a:ext cx="802894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第7章 Spring MVC的高级功能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644513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7655" y="3713480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拦截器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的概念，能够简述拦截器的作用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2749550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拦截器的配置和执行流程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，能够在程序中配置拦截器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1786890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掌握Spring MVC中的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异常处理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简单异常处理器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自定义异常处理器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异常处理注解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实现异常的统一处理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57655" y="4670425"/>
            <a:ext cx="9006205" cy="689610"/>
            <a:chOff x="978872" y="2570437"/>
            <a:chExt cx="5437064" cy="517208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登录验证案例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的实现，能够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基于拦截器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实现登录验证案例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68450" y="5658485"/>
            <a:ext cx="9006205" cy="689610"/>
            <a:chOff x="978872" y="2570437"/>
            <a:chExt cx="5437064" cy="517208"/>
          </a:xfrm>
        </p:grpSpPr>
        <p:sp>
          <p:nvSpPr>
            <p:cNvPr id="6" name="Pentagon 5"/>
            <p:cNvSpPr/>
            <p:nvPr>
              <p:custDataLst>
                <p:tags r:id="rId3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文件上传和文件下载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，能够在Spring MVC应用中实现文件上传和文件下载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7" name="MH_Others_1"/>
            <p:cNvSpPr/>
            <p:nvPr>
              <p:custDataLst>
                <p:tags r:id="rId4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在Web应用开发中，Spring MVC以其高效、灵活和可扩展等特性赢得了广大开发者的青睐。除了基本的请求映射和视图渲染功能，Spring MVC还提供了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自定义拦截器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以及文件上传和文件下载等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高级功能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，这些功能极大地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了Web应用开发的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。下面将对Spring MVC提供的这些高级功能进行讲解。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25190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430022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299230"/>
            <a:ext cx="1192190" cy="612775"/>
            <a:chOff x="2215144" y="982844"/>
            <a:chExt cx="1244730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93075" y="1005670"/>
              <a:ext cx="1066799" cy="802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496564"/>
            <a:ext cx="1192190" cy="612775"/>
            <a:chOff x="2215144" y="2026500"/>
            <a:chExt cx="1244730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290351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异常处理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47973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拦截器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699889"/>
            <a:ext cx="1192190" cy="612775"/>
            <a:chOff x="2215144" y="2026500"/>
            <a:chExt cx="1244730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683063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文件上传和</a:t>
              </a:r>
              <a:r>
                <a:rPr 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文件</a:t>
              </a:r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下载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7.1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在软件开发中，无论是与数据库交互的持久层操作，还是业务逻辑层或控制层的处理，都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难免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会遇到各种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编译期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运行时异常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。若每个异常都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单独处理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增加开发工作量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难以保持规范和统一性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，对后续代码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维护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不利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。对此可以将程序中所有的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异常进行统一抽取与处理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。Spring MVC提供了高效且灵活的方式来实现异常的统一处理，其中主要的方式有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使用简单异常处理器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使用自定义异常处理器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使用异常处理注解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，下面对这三种异常处理方式进行讲解。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简单异常处理器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，能够说出简单异常处理器如何使用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23925" y="1390015"/>
            <a:ext cx="10545445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SimpleMappingExceptionResolver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是Spring MVC框架提供的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异常处理器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，由于它提供了一种相对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简单和直接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的方式将特定异常映射到特定的视图，从而实现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异常的统一处理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，通常也称为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简单异常处理器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在使用SimpleMappingExceptionResolver时，需要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配置异常与视图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映射关系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，当程序发生异常时，SimpleMappingExceptionResolver将根据配置的异常与视图之间的映射关系，选择合适的视图进行展示，从而实现异常的统一处理。SimpleMappingExceptionResolver也可以为所有的异常指定一个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默认的异常处理页面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，当应用程序抛出的异常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没有对应的映射页面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使用默认页面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处理异常信息。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51865" y="1318260"/>
            <a:ext cx="10591165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SimpleMappingExceptionResolver类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中预定义了一些常用的属性用于指定处理异常时的设置，其中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常见的属性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exceptionMappings：用于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映射关系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，即将特定的异常映射到对应的视图上。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　defaultErrorView：用于定义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默认的异常处理视图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，当没有明确的异常映射时，将会使用该默认视图。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exceptionAttribute：用于指定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视图中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，这样在视图中就可以通过指定的属性名称获取异常信息。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751965"/>
            <a:ext cx="250126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（1）创建项目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313940"/>
            <a:ext cx="5492115" cy="2319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一个名称为chapter07的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Maven Web项目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，在项目的pom.xml中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引入Spring MVC、Servlet和Jackson对应的依赖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，以及在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web.xml中配置Spring MVC前端控制器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等信息，并将本书配套资源中提供的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页面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JavaScript文件引入到项目中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049020" y="107759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使用SimpleMappingExceptionResolver对异常进行统一处理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pic>
        <p:nvPicPr>
          <p:cNvPr id="7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463155" y="1989455"/>
            <a:ext cx="3613712" cy="4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（2）创建异常处理器类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ExceptionController.java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在项目的src\main\java目录下，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一个名称为com.itheima.controller的包，在包中创建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ExceptionController类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，在ExceptionController类中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抛出不同异常的方法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65252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（3）配置异常与视图的映射关系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文件7-2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spring-mvc.xml 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在Spring MVC的配置文件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spring-mvc.xml中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使用SimpleMappingExceptionResolver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指定异常和视图的映射关系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，具体如文件7-2所示。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116455" cy="546735"/>
            <a:chOff x="901662" y="1797999"/>
            <a:chExt cx="1613993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411710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启动项目，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测试空指针异常的异常处理效果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http://localhost:8080/chapter07/showNullPointer，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页面效果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58925" y="3069590"/>
            <a:ext cx="9521870" cy="24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116455" cy="546735"/>
            <a:chOff x="901662" y="1797999"/>
            <a:chExt cx="1613993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411710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接着测试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IO异常的异常处理效果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，在浏览器中访问http://localhost:8080/chapter07/showIOException，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页面效果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8880" y="3141980"/>
            <a:ext cx="9927816" cy="18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116455" cy="546735"/>
            <a:chOff x="901662" y="1797999"/>
            <a:chExt cx="1613993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411710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算术异常的异常处理效果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，在浏览器中访问http://localhost:8080/chapter07/showArithmetic，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页面效果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9197" y="3213418"/>
            <a:ext cx="9758410" cy="21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自定义异常处理器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自定义异常处理器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，能够使用自定义异常处理器处理异常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自定义异常处理器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23925" y="1390015"/>
            <a:ext cx="1054544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在Spring MVC中，开发者可以通过实现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HandlerExceptionResolver接口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自定义的异常处理器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处理应用程序中抛出的异常。HandlerExceptionResolver接口是Spring MVC中用于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全局异常处理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的接口，它定义了一种策略，用于解决在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处理请求过程中发生的异常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。HandlerExceptionResolver接口只有一个方法，该方法的声明如下。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967740" y="3625850"/>
            <a:ext cx="10337800" cy="1000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489710" y="3571240"/>
            <a:ext cx="9533890" cy="10477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ModelAndView resolveException(HttpServletRequest request,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HttpServletResponse response, Object handler, Exception ex);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自定义异常处理器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23925" y="1390015"/>
            <a:ext cx="10545445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resolveException()方法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可以根据处理器方法执行过程中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出现的异常类型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和其他相关参数来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解析异常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，并返回一个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ModelAndView对象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，其中包含了视图名称以及在该视图中所需的模型数据，resolveException()方法中的参数说明如下。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HttpServletRequest request：表示当前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请求的HTTP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，开发者可以通过该对象获取请求的相关信息，如请求的 URL、请求参数等。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　HttpServletResponse response：表示当前请求的HTTP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，开发者可以通过该对象进行对客户端的响应操作，如设置响应状态码、写入响应内容等。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　Object handler：表示处理当前请求的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处理器对象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，通常是一个处理器方法。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　Exception ex：表示当前请求过程中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抛出的异常对象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，开发者可以通过该异常对象获取异常的相关信息，如异常类型、异常消息等。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751965"/>
            <a:ext cx="250126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（1）自定义异常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文件7-3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MyException.java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231394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在项目中创建包com.itheima.exception，并在包中创建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自定义异常类MyException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，具体如文件7-3所示。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1049020" y="107759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自定义异常处理器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分类别处理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自定义异常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JDK内置的异常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50126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（2）定义处理器方法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7"/>
                  </a:rPr>
                  <a:t>addData()</a:t>
                </a:r>
                <a:r>
                  <a:rPr lang="zh-CN" sz="1800">
                    <a:sym typeface="+mn-ea"/>
                    <a:hlinkClick r:id="rId7"/>
                  </a:rPr>
                  <a:t>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在文件7-1的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ExceptionController类中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方法addData()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抛出自定义异常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6" y="1321435"/>
            <a:ext cx="3129280" cy="546735"/>
            <a:chOff x="862188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2188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（3）创建自定义异常处理器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0221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MyExceptionHandler.java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在项目中创建包com.itheima.handle，在该包下创建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自定义异常处理器MyExceptionHandler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@Component注解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标注该类。在MyExceptionHandler类中重写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resolveException()方法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，用于判断当前异常是自定义异常还是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JDK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内置的异常，根据异常的种类不同返回不同的异常信息。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73045" cy="546735"/>
            <a:chOff x="862188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2188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将文件7-2中注入 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SimpleMappingExceptionResolver的配置注释或删除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，以确保当前测试效果基于自定义异常处理器。启动项目，测试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IO异常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异常处理效果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，在浏览器中访问地址http://localhost:8080/chapter07/showIOException，页面效果如下图所示。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18882" y="3501073"/>
            <a:ext cx="10061402" cy="21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自定义异常处理器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73045" cy="546735"/>
            <a:chOff x="862188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2188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自定义异常的异常处理效果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，在浏览器中访问地址http://localhost:8080/chapter07/addData，程页面效果如下图所示。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43342" y="3069908"/>
            <a:ext cx="9535535" cy="21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异常处理注解的使用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，能够使用异常处理注解处理异常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23925" y="1390015"/>
            <a:ext cx="1054544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@ControllerAdvice注解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是Spring MVC用于定义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全局处理器通知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的注解，它可用于实现全局的异常处理、全局数据绑定、全局数据预处理等功能。通常情况下，@ControllerAdvice注解标注的类不需要使用@Controller或@RestController注解进行标注，因为它通常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不直接处理请求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，而是通过定义异常处理方法、数据绑定方法和数据预处理方法来间接影响请求处理的流程。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23925" y="1390015"/>
            <a:ext cx="10545445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@ExceptionHandler注解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是Spring MVC用于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标记特定异常处理方法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的注解，可以在该注解中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处理的异常类型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。当处理器方法抛出异常时，Spring MVC会查找并调用带有@ExceptionHandler注解的方法处理对应的异常。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@ExceptionHandler注解可以在处理器类（即带有@Controller或@RestController注解的类）中使用，也可以在带有 @ControllerAdvice 注解的类中使用。在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处理器类中使用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时，标注@ExceptionHandler注解的方法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仅处理当前处理器内部抛出的指定异常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。在带有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@ControllerAdvice注解的类中使用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，标注@ExceptionHandler注解的方法可以处理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整个应用程序中抛出的异常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，实现全局的异常处理逻辑。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异常处理注解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6" y="1751965"/>
            <a:ext cx="3178810" cy="546735"/>
            <a:chOff x="862803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2803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（1）创建全局异常处理器类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文件7-5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GlobalExceptionHandler.java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224218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在com.itheima.handle包下创建名称为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GlobalExceptionHandler的全局异常处理器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，在ExceptionAdvice类中定义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异常处理方法handleMyException()、handleMyException()、handleException()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三个处理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不同异常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的方法，具体如文件7-5所示。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1049020" y="107759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下面通过案例演示基于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@ControllerAdvice注解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@ExceptionHandler注解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全局异常的处理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异常处理注解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249680"/>
            <a:ext cx="2357120" cy="546735"/>
            <a:chOff x="862803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2803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73990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为了确保当前异常处理的效果是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基于@ControllerAdvice注解和@ExceptionHandler注解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实现，在此先将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文件7-4进行注释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。启动项目，测试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自定义异常的异常处理效果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，在浏览器中访问地址http://localhost:8080/chapter07/addData，页面显示效果如下图所示。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30325" y="3429318"/>
            <a:ext cx="9576774" cy="21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异常处理注解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249680"/>
            <a:ext cx="2357120" cy="546735"/>
            <a:chOff x="862803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2803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73990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测试IO异常的异常处理效果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，在浏览器中访问地址http://localhost:8080/chapter07/showIOException，页面效果如下图所示。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8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6490" y="3141345"/>
            <a:ext cx="10112910" cy="2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异常处理注解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249680"/>
            <a:ext cx="2357120" cy="546735"/>
            <a:chOff x="862803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62803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73990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测试空指针异常的异常处理效果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，在浏览器中访问地址http://localhost:8080/chapter07/showNullPointer，页面效果如下图所示。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2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6490" y="3069590"/>
            <a:ext cx="9194145" cy="19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7.2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2035810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在Web应用程序的开发过程中，经常需要对请求进行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前置处理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后置操作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，例如权限校验、日志记录、数据预处理等，这些操作若在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每个处理方法中重复编写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烦琐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难以维护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，对此可以使用Spring MVC提供的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拦截器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实现这些操作。拦截器允许开发者在请求到达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处理器之前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之后执行自定义的业务逻辑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，提高了代码的可重用性和可维护性。下面将对Spring MVC中拦截器进行详细讲解。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31394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444373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了解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拦截器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的概念，能够简述拦截器的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23925" y="1390015"/>
            <a:ext cx="1054544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拦截器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（Interceptor）是Spring MVC框架提供的一种功能强大的组件，它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基于动态拦截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的机制对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Web请求进行拦截和处理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，这种机制使得开发者能够在请求进入处理器之前、处理器处理完请求后以及渲染视图之后执行一些特定的操作。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拦截器的作用类似于Filter（过滤器），但是它们的技术归属和拦截内容不同。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过滤器是基于Servlet技术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的组件，可以拦截所有请求，并且过滤器可以跨越整个Web应用程序的请求流程。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拦截器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MVC技术栈中的组件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，只针对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MVC处理器的请求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拦截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，这使得拦截器在Spring MVC应用程序中具有更高的针对性和灵活性。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23925" y="1246505"/>
            <a:ext cx="1054544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自定义拦截器类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实现HandlerInterceptor 接口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实现，HandlerInterceptor接口是 Spring MVC 中定义拦截器的核心接口，它定义了在请求处理的不同阶段可以执行的方法。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HandlerInterceptor接口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的声明如下。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altLang="zh-CN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  <a:hlinkClick r:id="rId5"/>
                  </a:rPr>
                  <a:t>HandlerInterceptor接口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6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66775" y="1249680"/>
            <a:ext cx="2357120" cy="546735"/>
            <a:chOff x="862803" y="1797999"/>
            <a:chExt cx="1721506" cy="54673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862803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1.preHandle()方法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preHandle()方法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请求处理之前被调用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，即在处理器方法被调用之前执行，通常使用preHandle()方法执行一些前置操作，例如身份验证、日志记录、权限检查等。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preHandle()方法的返回值类型为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boolean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，如果返回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true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，表示请求会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继续向后传递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，即由后续的拦截器（如果有的话）和处理器方法处理；如果返回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false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，则表示拦截器已经处理了请求，请求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不会继续传递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，并且会立即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中断当前的请求处理流程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93775" y="1381125"/>
            <a:ext cx="1029589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preHandle()方法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参数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说明如下。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request：HTTP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请求对象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，它包含了客户端发送给服务器的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请求信息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，如请求头、请求参数等。通过这个对象，开发者可以获取请求的各种信息，并进行相应的处理。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response：HTTP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响应对象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，它用于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构建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服务器发送给客户端的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响应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。通过这个对象，开发者可以设置响应的状态码、响应头以及响应体等。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　handler：当前请求所对应的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处理器对象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，它包含了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处理请求所需的逻辑。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这个参数在preHandle()方法中主要用于获取当前请求所对应的具体处理器信息，以便根据需要进行相应的处理或决策。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66775" y="1249680"/>
            <a:ext cx="2357120" cy="546735"/>
            <a:chOff x="862803" y="1797999"/>
            <a:chExt cx="1721506" cy="54673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862803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2.postHandle()方法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postHandle()方法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请求处理之后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视图渲染之前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调用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。此时，处理器方法已经执行完毕，并可能返回了一个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ModelAndView对象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。开发者可以在这个方法中修改视图、添加模型数据、对请求或响应执行一些额外的操作。如果处理器方法没有返回ModelAndView对象，则postHandle()方法中modelAndView参数的值为null。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postHandle()方法的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参数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中，request、response和handler与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preHandle()方法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中对应的参数对象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一致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modelAndView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模型与视图的容器对象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66775" y="1249680"/>
            <a:ext cx="3032760" cy="546735"/>
            <a:chOff x="862803" y="1797999"/>
            <a:chExt cx="1721506" cy="546735"/>
          </a:xfrm>
        </p:grpSpPr>
        <p:sp>
          <p:nvSpPr>
            <p:cNvPr id="4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862803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3.afterCompletion()方法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afterCompletion()方法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会在整个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请求处理流程结束之后被调用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，即在视图渲染完毕之后执行。通常用于执行一些清理工作，如释放资源、记录性能统计信息等。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afterCompletion()方法的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参数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中，request、response和handler与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preHandle()方法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中对应的参数对象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一致。参数ex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表示在请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求处理过程中抛出的异常对象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。如果请求处理过程中没有发生异常，则此参数的值为null。通过参数ex，开发者可以在afterCompletion()方法中执行一些针对异常的清理或记录工作。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拦截器的配置和执行流程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拦截器的配置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执行流程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，能够在程序中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配置拦截器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，并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说出拦截器的执行流程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拦截器的配置和执行流程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要使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自定义的拦截器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在Spring MVC应用中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发挥作用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，在程序运行之前需要对其进行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，这需要先创建拦截器实例并将该实例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注册到Spring MVC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中。一旦拦截器配置完成，在程序运行时，它们会按照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特定的顺序执行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，这一顺序与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拦截器时的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顺序密切相关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。下面对拦截器的配置和执行流程进行讲解。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拦截器的配置和执行流程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232600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（1）XML 配置文件方式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405366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16253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6"/>
                  </a:rPr>
                  <a:t>XML 配置</a:t>
                </a:r>
                <a:r>
                  <a:rPr lang="zh-CN" sz="1800">
                    <a:sym typeface="+mn-ea"/>
                    <a:hlinkClick r:id="rId6"/>
                  </a:rPr>
                  <a:t>拦截器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993775" y="288798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在Spring MVC的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XML配置文件中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&lt;mvc:interceptors&gt;标签配置拦截器的信息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，包括指定拦截的路径模式和引用自定义的拦截器Bean。配置的示例代码如下。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1049020" y="165163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将自定义的拦截器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注册到Spring MVC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XML配置文件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Java配置类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两种主要方式实现。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>
            <p:custDataLst>
              <p:tags r:id="rId14"/>
            </p:custDataLst>
          </p:nvPr>
        </p:nvSpPr>
        <p:spPr>
          <a:xfrm>
            <a:off x="1127125" y="967740"/>
            <a:ext cx="248539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1.拦截器的配置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拦截器的配置和执行流程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249680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（2）Java配置类方式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11655"/>
            <a:ext cx="1029589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 MVC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提供了一套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默认的配置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，这些默认配置通常可以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满足大多数常见的Web开发需求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。然而，在实际开发中，开发者经常需要根据项目的特定需求来调整或扩展这些默认配置。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为了便于开发者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自定义Spring MVC的配置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，Spring MVC提供了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WebMvcConfigurer接口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。通过实现WebMvcConfigurer接口，开发者可以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扩展Spring MVC的默认配置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，从而自定义MVC的各种特性，例如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添加拦截器、资源处理器、消息转换器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等等。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拦截器的配置和执行流程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93775" y="1381125"/>
            <a:ext cx="1029589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WebMvcConfigurer接口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addInterceptors()方法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用于向 Spring MVC的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拦截器注册表中添加拦截器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。当开发者想要自定义拦截器时，可以实现WebMvcConfigurer接口，并重写这个方法，将自定义的拦截器添加到拦截器注册表中。addInterceptors()方法的签名如下。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967740" y="3410585"/>
            <a:ext cx="10337800" cy="680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489710" y="3442970"/>
            <a:ext cx="9533890" cy="64706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public void addInterceptors(InterceptorRegistry registry) 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拦截器的配置和执行流程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76664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7551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4"/>
                  </a:rPr>
                  <a:t>用Java配置类的方式配置拦截器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0"/>
            </p:custDataLst>
          </p:nvPr>
        </p:nvSpPr>
        <p:spPr>
          <a:xfrm>
            <a:off x="993775" y="138112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MVC提供了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@EnableWebMvc注解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启用Spring MVC的功能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，并且会自动注册一些默认的组件，如HandlerMapping，HandlerAdapter，ViewResolver等，基于@EnableWebMvc注解可以灵活地控制各个组件的注册和配置。使用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Java配置类的方式配置拦截器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拦截器的配置和执行流程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680210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(1)单个拦截器的执行流程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Title 1"/>
          <p:cNvSpPr txBox="1"/>
          <p:nvPr>
            <p:custDataLst>
              <p:tags r:id="rId3"/>
            </p:custDataLst>
          </p:nvPr>
        </p:nvSpPr>
        <p:spPr>
          <a:xfrm>
            <a:off x="1127125" y="967740"/>
            <a:ext cx="248539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2.拦截器的执行流程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2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430" y="2709545"/>
            <a:ext cx="8451850" cy="3474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拦截器的配置和执行流程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249680"/>
            <a:ext cx="2934970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(2)多个拦截器的执行流程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126490" y="1671320"/>
            <a:ext cx="1029779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假设项目中定义了拦截器1和拦截器2两个拦截器，并且按照拦截器1→拦截器2的顺序进行配置，此时多个拦截器的执行流程如下图所示。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3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715" y="2808605"/>
            <a:ext cx="6274435" cy="342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67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拦截器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登录验证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的案例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49020" y="1077595"/>
            <a:ext cx="1029589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本案例的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登录验证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指的是，通过验证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用户登录状态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限制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对系统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资源的访问权限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。只有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成功登录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的用户才能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系统内的各项功能或资源，具体实现要求如下。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为了避免用户通过直接请求访问页面，本案例将所有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页面存储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WEB-INF/pages目录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如果用户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未登录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系统而尝试直接访问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</a:t>
            </a:r>
            <a:r>
              <a:rPr lang="zh-CN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之外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的资源，则将用户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重定向至登录页面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　当用户尝试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系统时，如果提交的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用户名或密码错误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，系统会在登录页面显示相应的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错误提示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当已登录的用户在系统页面中单击“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退出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”超链接时，系统会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清除用户的登录状态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，并引导他们重新返回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登录页面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50126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（1）导入资源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在项目chapter07的src\main\webapp\WEB-INF目录下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创建文件夹pages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，将本书配套资源中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登录验证案例的页面导入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到pages文件夹下。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（2）创建用户类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31747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文件7-6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User.java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在src\main\java目录下创建包com.itheima.pojo的包，并在包中创建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用户类User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，在User类中，声明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username和password属性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，分别表示用户名和密码，并定义每个属性的getter/setter方法，具体如文件7-6所示。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（3）创建处理器类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文件7-7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UserController.java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在com.itheima.controller包中，创建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处理器类UserController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定义跳转到系统首页、跳转到登录页面、跳转到订单信息页面、用户登录和用户退出的五个方法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，本案例中将用户名和密码在程序中硬编码为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heima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123456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，具体如文件7-7所示。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（4）创建拦截器类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文件7-8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LoginInterceptor.java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在com.itheima.interceptor包中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创建拦截器类LoginInterceptor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实现HandlerInterceptor接口，在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重写的preHandle()方法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中对拦截的请求进行处理。首先判断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Session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中是否存储了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用户信息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。如果Session中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存储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了用户信息，则表明用户当前已经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成功登录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，对当前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请求放行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。否则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跳转到登录页面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，具体如文件7-8所示。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（5）创建配置类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文件7-9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WebConfig.java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在项目中创建com.itheima.config包，在该包中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创建配置类WebConfig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用于配置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添加拦截器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，在添加的拦截器中除了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登录请求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转跳到登录页面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的请求需要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放行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其他请求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都需要被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拦截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，具体如文件7-9所示。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（6）测试效果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启动项目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访问系统首页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，访问路径为http://localhost:8080/chapter07/main，效果如下图所示。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63115" y="2925128"/>
            <a:ext cx="8340649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（6）测试效果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访问订单信息页面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，访问路径为http://localhost:8080/chapter07/orderinfo，效果如下图所示。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74825" y="2997835"/>
            <a:ext cx="8763519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（6）测试效果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不填写任何用户信息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，直接单击左下角的“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”按钮，效果如下图所示。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03070" y="2637790"/>
            <a:ext cx="7996711" cy="26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（6）测试效果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在登录表单中，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用户名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输入框中填写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heima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密码输入框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中填写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123456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，然后单击左下角的“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登录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”按钮，效果如下图所示。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6625" y="3068638"/>
            <a:ext cx="8831166" cy="26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（6）测试效果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单击“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订单信息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”超链接，效果如下图所示。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95232" y="2565083"/>
            <a:ext cx="7642323" cy="36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案例：登录验证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2751455" cy="546735"/>
            <a:chOff x="856767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6767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（6）测试效果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击“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退出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”超链接，效果如下图所示。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03387" y="2709545"/>
            <a:ext cx="9081329" cy="27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文件上传和</a:t>
            </a:r>
            <a:r>
              <a:rPr lang="zh-CN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</a:t>
            </a:r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7.3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2035810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在现代的网络应用中，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文件上传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文件下载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是非常常见的功能，无论是为了共享资料、备份数据，还是实现远程协作，文件上传和文件下载都扮演着至关重要的角色。文件上传功能使得我们可以轻松地将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本地文件传输至服务器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，供他人查阅或使用；而文件下载功能则让用户能够方便地从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网络上获取所需的资料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，满足个人或团队的需求。下面对基于Spring MVC的文件的上传和下载进行讲解。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31394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444373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文件上传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文件上传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，能够在程序中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文件上传的功能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文件上传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2999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大多数文件上传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都是通过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表单形式提交给后台服务器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，因此，要实现文件上传功能，就需要提供一个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文件上传的表单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，并且该表单必须满足以下3个条件。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表单提交的HTTP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请求方法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表单的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enctype属性的值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multipart/form-data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，这是因为文件数据需要以二进制形式存在，不能直接作为文本嵌入到表单数据中。multipart/form-data编码类型允许在单个请求中发送文本和二进制数据。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　需要提供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文件上传输入框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4271645"/>
            <a:ext cx="10191750" cy="18370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489710" y="4304030"/>
            <a:ext cx="9897745" cy="184848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&lt;form action="uploadUrl" method="post" enctype="multipart/form-data"&gt;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&lt;input type="file" name="filename" multiple="multiple" /&gt;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&lt;input type="submit" value="文件上传" /&gt;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&lt;/form&gt;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文件上传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文件上传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浏览器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会采用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二进制流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的方式来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处理表单数据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。服务器端接收到包含文件数据的请求后，需要对这些数据进行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解析处理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，以便从中提取出上传的文件及其相关信息。Spring MVC为文件上传提供了直接的支持，通过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MultipartResolver接口的实现类对象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可以处理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multipart/form-data类型的请求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，将请求中包含的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和其他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表单字段数据提取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出来。	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MVC为MultipartResolver接口提供了实现类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StandardServletMultipartResolver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，当Spring MVC程序基于Servlet 3.0或更高版本的规范时，只需在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Servlet容器中配置multipart相关的参数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，Spring MVC会默认基于StandardServletMultipartResolver处理multipart/form-data类型请求，从而成功地处理文件上传。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文件上传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Servlet容器中配置multipart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参数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示例如下。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1831975"/>
            <a:ext cx="10191750" cy="3065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489710" y="1864360"/>
            <a:ext cx="9897745" cy="184848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&lt;servlet&gt;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&lt;multipart-config&gt;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&lt;max-file-size&gt;10485760&lt;/max-file-size&gt;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&lt;max-request-size&gt;20971520&lt;/max-request-size&gt;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&lt;file-size-threshold&gt;0&lt;/file-size-threshold&gt;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&lt;/multipart-config&gt;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&lt;/servlet&gt;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35095" y="2781300"/>
            <a:ext cx="2160270" cy="3600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3935095" y="3213735"/>
            <a:ext cx="2592705" cy="3600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3918585" y="3625850"/>
            <a:ext cx="2996565" cy="3600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>
            <a:stCxn id="2" idx="3"/>
          </p:cNvCxnSpPr>
          <p:nvPr/>
        </p:nvCxnSpPr>
        <p:spPr>
          <a:xfrm flipV="1">
            <a:off x="6095365" y="2205355"/>
            <a:ext cx="287655" cy="7562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3" idx="1"/>
          </p:cNvCxnSpPr>
          <p:nvPr/>
        </p:nvCxnSpPr>
        <p:spPr>
          <a:xfrm flipH="1">
            <a:off x="3088005" y="3394075"/>
            <a:ext cx="84709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4" idx="2"/>
          </p:cNvCxnSpPr>
          <p:nvPr/>
        </p:nvCxnSpPr>
        <p:spPr>
          <a:xfrm>
            <a:off x="5417185" y="3985895"/>
            <a:ext cx="0" cy="7277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3906520" y="1701165"/>
            <a:ext cx="5654675" cy="50673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用于指定单个上传文件的最大大小限制，单位为字节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3387725" y="4770120"/>
            <a:ext cx="4132580" cy="50673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用于指定上传文件存储在内存中的阈值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766445" y="2925445"/>
            <a:ext cx="2293620" cy="92202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用于指定整个请求的最大大小限制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文件上传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当完成文件上传表单和文件上传解析器的配置后，就可以在处理器方法中使用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MultipartFile类型的参数接收上传的文件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参数名称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必须和文件上传表单中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文件的名称一致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，示例代码如下。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2190750"/>
            <a:ext cx="10191750" cy="4032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059180" y="2223135"/>
            <a:ext cx="10231120" cy="332930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@Controller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public class FileUploadController {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@RequestMapping("/fileUpload ")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public String fileUpload(@RequestParam("file") MultipartFile file) {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if (!file.isEmpty()) {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    // 保存上传的文件，filename为要保存到的目标文件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	file.transferTo(new File("filename"))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	return "uploadSuccess";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}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return "uploadFailure";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}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}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文件上传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439285" y="1053465"/>
            <a:ext cx="344043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MultipartFile接口的常用方法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930275" y="1706245"/>
          <a:ext cx="10573385" cy="4318000"/>
        </p:xfrm>
        <a:graphic>
          <a:graphicData uri="http://schemas.openxmlformats.org/drawingml/2006/table">
            <a:tbl>
              <a:tblPr/>
              <a:tblGrid>
                <a:gridCol w="4023995"/>
                <a:gridCol w="6549390"/>
              </a:tblGrid>
              <a:tr h="5149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方法声明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byte[] getBytes()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将文件内容转换为字节数组形式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 getContentType()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获取文件的内容类型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InputStream getInputStream()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读取文件内容，返回一个InputStream对象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 getName()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获取表单中文件上传输入框的参数名称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 getOriginalFilename()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获取上传文件的原始文件名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long getSize()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获取上传文件的大小，单位是字节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isEmpty()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判断上传的文件是否为空，即上传的文件大小是否为0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transferTo(File file)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将上传的文件内容保存到指定的目标文件中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文件下载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，能够在程序中</a:t>
            </a:r>
            <a:r>
              <a:rPr lang="zh-CN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文件下载的功能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文件下载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文件下载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指将服务器上的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文件传输到客户端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，这可以通过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HTTP协议实现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，通常是将所下载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和指定的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下载方式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等内容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设置在HTTP响应中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，客户端接收到这些内容后，根据响应的内容进行相应的处理，例如保存文件到本地硬盘。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HTTP响应中响应头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Content-Disposition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用于指示客户端应该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如何处理响应体的内容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，其中，值为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attachment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时表示浏览器应该将文件作为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附件下载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，并且可以通过设置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filename参数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指定客户端保存文件时的默认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文件名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。响应头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Content-Type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用于指定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被传输数据的类型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，当该响应头设置为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MediaType.APPLICATION_OCTET_STREAM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时，浏览器或其他客户端不知道如何处理这些数据，进而会提示用户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下载文件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，而不是在浏览器中直接打开。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文件下载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MVC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程序中，可以通过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操作HttpServletResponse的输出流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实现文件下载，也可以基于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ResponseEntity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类实现文件下载。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ResponseEntity类是用于表示HTTP响应的一个类，它可以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封装响应的状态码、头部信息和主体内容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，相对来说比直接操作HttpServletResponse的输出流简洁一些。基于ResponseEntity进行文件下载的示例如下。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6"/>
                  </a:rPr>
                  <a:t>基于ResponseEntity</a:t>
                </a:r>
                <a:endParaRPr sz="1800">
                  <a:sym typeface="+mn-ea"/>
                  <a:hlinkClick r:id="rId6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进行文件下载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文件下载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浏览器在处理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Content-Disposition头部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时，如果文件名包含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非ASCII字符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（如中文），则必须进行适当的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编码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，以确保在HTTP头部中正确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传递和解析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。当前主流的浏览器通常使用 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UTF-8 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字符编码来处理文件名中的特殊字符或非ASCII字符，如下是将中文文件名进行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UTF</a:t>
            </a:r>
            <a:r>
              <a:rPr lang="en-US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-8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编码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的示例。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3195320"/>
            <a:ext cx="10191750" cy="1005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489710" y="3227705"/>
            <a:ext cx="9897745" cy="100774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String filename="文件名";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URLEncoder.encode(filename,"UTF-8").replaceAll("\\+","%20");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掌握文件上传和文件下载，能够在Spring MVC程序中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实现文件上传和文件下载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390015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文件上传和文件下载案例要求如下。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基于项目页面的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上传表单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地文件上传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到项目中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指定目录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　文件上传成功后将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名称记录到一个特定的文件中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　项目的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下载列表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，该列表需要展示所有已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上传文件的名称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下载对应的文件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altLang="en-US" sz="180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文件7-10</a:t>
                </a: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algn="ctr"/>
                <a:r>
                  <a:rPr lang="zh-CN" altLang="en-US" sz="180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  <a:hlinkClick r:id="rId5"/>
                  </a:rPr>
                  <a:t>web.xml</a:t>
                </a: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6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11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12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1.配置multipart相关的参数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Web应用中需要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接收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用户上传的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时，需要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配置multipart相关的参数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web.xml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中配置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multipart相关的参数，具体如文件7-10所示。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2.实现文件上传功能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在项目的webapp/WEB-INF目录下创建一个名称为files的文件夹，用于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存放上传成功</a:t>
            </a:r>
            <a:r>
              <a:rPr lang="zh-CN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文件和记录文件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记录文件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中只记录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上传成功的文件的名称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为了便于将记录文件的文件名称在页面中展示，在此选择使用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JSON文件存储文件的名称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，在files文件夹下创建记录文件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files.json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，后续在files.json中存储的数据格式为{"names":["文件名1","文件名2",…"文件名n"]}。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2.实现文件上传功能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操作JSON数据时，需要在 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Java 对象和 JSON 数据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之间进行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序列化和反序列化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。Jackson中的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ObjectMapper类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可以轻松地实现这些操作，其中ObjectMapper类常用的方法如下。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（1）readValue()方法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readValue()方法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JSON数据反序列化为Java对象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（2）writeValueAsString() 方法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writeValueAsString()方法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Java对象序列化为JSON字符串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2.实现文件上传功能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在pom.xml中引入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Commons IO的依赖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967740" y="2693035"/>
            <a:ext cx="10337800" cy="2320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489710" y="2725420"/>
            <a:ext cx="9533890" cy="22923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&lt;dependency&gt;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&lt;groupId&gt;commons-io&lt;/groupId&gt;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&lt;artifactId&gt;commons-io&lt;/artifactId&gt;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&lt;version&gt;2.11.0&lt;/version&gt;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&lt;/dependency&gt;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2.实现文件上传功能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在项目中创建包com.itheima.utils，在包下创建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工具类JSONFileUtils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定义读取文件内容和写入内容到文件中的方法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，具体如文件7-11所示。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altLang="en-US" sz="180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文件7-11</a:t>
                </a: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algn="ctr"/>
                <a:r>
                  <a:rPr lang="zh-CN" altLang="en-US" sz="180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  <a:hlinkClick r:id="rId8"/>
                  </a:rPr>
                  <a:t>JSONFileUtils.xml</a:t>
                </a: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2.实现文件上传功能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在com.itheima.controller包下创建名称为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FileController的控制器类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，在FileController类中定义方法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fileUpLoad()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保存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客户端上传的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记录上传文件的名称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。保存上传的文件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之前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，先将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上传文件的名称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files.json文件中的文件名称进行比较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，如果files.json文件中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已经有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同名文件，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停止上传文件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并进行相应提示，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否则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保存上传的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上传文件的名称存入到files.json中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，具体实现如文件7-12所示。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altLang="en-US" sz="180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文件7-12</a:t>
                </a: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algn="ctr"/>
                <a:r>
                  <a:rPr lang="zh-CN" altLang="en-US" sz="180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  <a:hlinkClick r:id="rId8"/>
                  </a:rPr>
                  <a:t>FileController.java</a:t>
                </a: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3.实现获取文件列表功能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在文件7-12中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定义方法getFilesName()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获取files.json文件中的内容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JSON格式返回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altLang="en-US" sz="180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  <a:hlinkClick r:id="rId8"/>
                  </a:rPr>
                  <a:t>getFilesName()方法</a:t>
                </a: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4.实现文件下载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在文件7-12中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定义方法fileDownload()用于下载文件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。从fileDownload()方法的形参中获取下载文件的名称，根据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下载文件的名称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下载files文件夹中对应名称的文件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。fileDownload()方法的具体代码如下所示。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altLang="en-US" sz="180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  <a:hlinkClick r:id="rId8"/>
                  </a:rPr>
                  <a:t>fileDownload()方法</a:t>
                </a:r>
                <a:endPara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5.导入页面并配置静态资源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1029589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在项目webapp\pages目录下导入案例的页面文件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file.jsp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，该页面中提供了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文件上传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下载列表展示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文件下载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的功能，其中文件下载的部分需要使用到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JavaScript文件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，对此页面中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引入了</a:t>
            </a:r>
            <a:r>
              <a:rPr lang="en-US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j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Query文件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在项目的web.xml文件中配置的DispatcherServlet会</a:t>
            </a:r>
            <a:r>
              <a:rPr lang="en-US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拦截所有URL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，导致项目中的静态资源会被DispatcherServlet拦截。如果想</a:t>
            </a:r>
            <a:r>
              <a:rPr lang="en-US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放行静态资源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</a:t>
            </a:r>
            <a:r>
              <a:rPr lang="en-US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XML文件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配置类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en-US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配置静态资源的访问映射,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上述两种配置方式效果都一样，本案例选择在配置类中配置静态资源的放行。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5.导入页面并配置静态资源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在文件7-9中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重写addResourceHandlers()方法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，在重写的方法中指定方法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对JavaScript文件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放行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967740" y="3123565"/>
            <a:ext cx="10337800" cy="2320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489710" y="3155950"/>
            <a:ext cx="9533890" cy="22923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@Override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public void addResourceHandlers(ResourceHandlerRegistry registry) {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registry.addResourceHandler("/js/**")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	.addResourceLocations("/js/");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}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6.测试效果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启动项目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访问file.jsp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，访问地址为http://localhost:8080/chapter07/pages/file.jsp，效果如下图所示。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3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390" y="3213735"/>
            <a:ext cx="8171815" cy="30772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6.测试效果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102958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在文件上传中单击“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选择文件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”后，可以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选择本地文件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上传，选择好需要上传的文件后单击“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提交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”按钮，即可完成文件的上传。例如上传一张名称为“三星堆”的图片，效果如下图所示。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3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90" y="3645535"/>
            <a:ext cx="8091170" cy="26231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案例：文件上传和文件下载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33172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6.测试效果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10295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单击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下载列表中“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三星堆.png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”的超链接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下载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该图片，效果如下图所示。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30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390" y="2997835"/>
            <a:ext cx="9048750" cy="293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本章主要对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 MVC的高级功能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进行了讲解。首先讲解了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 MVC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异常处理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；接着讲解了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拦截器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；最后讲解了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文件上传和文件下载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，并通过案例演示了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文件上传和文件下载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的应用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。通过本章的学习，读者能够熟练地掌握Spring MVC中常见的高级功能，为后续的学习打下坚实的基础。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UNIT_TABLE_BEAUTIFY" val="smartTable{f547426a-c2ce-4dc2-9ada-18099da12cdc}"/>
  <p:tag name="TABLE_ENDDRAG_ORIGIN_RECT" val="832*324"/>
  <p:tag name="TABLE_ENDDRAG_RECT" val="73*121*832*324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15249</Words>
  <Application>WPS 演示</Application>
  <PresentationFormat>自定义</PresentationFormat>
  <Paragraphs>746</Paragraphs>
  <Slides>89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89</vt:i4>
      </vt:variant>
    </vt:vector>
  </HeadingPairs>
  <TitlesOfParts>
    <vt:vector size="109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思源黑体 CN Normal</vt:lpstr>
      <vt:lpstr>Courier New</vt:lpstr>
      <vt:lpstr>Arial Unicode MS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tk</cp:lastModifiedBy>
  <cp:revision>1558</cp:revision>
  <dcterms:created xsi:type="dcterms:W3CDTF">2020-11-11T09:29:00Z</dcterms:created>
  <dcterms:modified xsi:type="dcterms:W3CDTF">2025-08-18T08:37:54Z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69DB4B6826B6494390E926BE37E6C64D</vt:lpwstr>
  </property>
</Properties>
</file>